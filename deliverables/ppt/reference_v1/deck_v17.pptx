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_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_1.png"/><Relationship Id="rId3" Type="http://schemas.openxmlformats.org/officeDocument/2006/relationships/image" Target="../media/image9_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bar"/>
          <p:cNvSpPr/>
          <p:nvPr/>
        </p:nvSpPr>
        <p:spPr>
          <a:xfrm>
            <a:off x="812800" y="1066800"/>
            <a:ext cx="711200" cy="508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812800" y="13462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0E7C4A"/>
                </a:solidFill>
                <a:latin typeface="Consolas"/>
                <a:ea typeface="Microsoft YaHei"/>
              </a:rPr>
              <a:t>GOAI · BOUNDLESS AGENTS · AI+金融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812800" y="1778000"/>
            <a:ext cx="105664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4000" noProof="1" b="1">
                <a:solidFill>
                  <a:srgbClr val="1F2A2A"/>
                </a:solidFill>
                <a:latin typeface="Georgia"/>
                <a:ea typeface="SimSun"/>
              </a:rPr>
              <a:t>GOAI · DeepSeek Harness 金融期权终端</a:t>
            </a:r>
            <a:endParaRPr lang="en-US" sz="4000" noProof="1"/>
          </a:p>
        </p:txBody>
      </p:sp>
      <p:sp>
        <p:nvSpPr>
          <p:cNvPr id="5" name="subtitle"/>
          <p:cNvSpPr txBox="1"/>
          <p:nvPr/>
        </p:nvSpPr>
        <p:spPr>
          <a:xfrm>
            <a:off x="812800" y="2743200"/>
            <a:ext cx="990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6B726C"/>
                </a:solidFill>
                <a:latin typeface="Arial"/>
                <a:ea typeface="Microsoft YaHei"/>
              </a:rPr>
              <a:t>一个敢对用户说「别买」的港美股期权决策 Agent</a:t>
            </a:r>
            <a:endParaRPr lang="en-US" sz="1600" noProof="1"/>
          </a:p>
        </p:txBody>
      </p:sp>
      <p:sp>
        <p:nvSpPr>
          <p:cNvPr id="6" name="chip"/>
          <p:cNvSpPr/>
          <p:nvPr/>
        </p:nvSpPr>
        <p:spPr>
          <a:xfrm>
            <a:off x="812800" y="3657600"/>
            <a:ext cx="3048000" cy="431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7" name="chip-label"/>
          <p:cNvSpPr txBox="1"/>
          <p:nvPr/>
        </p:nvSpPr>
        <p:spPr>
          <a:xfrm>
            <a:off x="990600" y="3733800"/>
            <a:ext cx="2692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0E7C4A"/>
                </a:solidFill>
                <a:latin typeface="Consolas"/>
                <a:ea typeface="Microsoft YaHei"/>
              </a:rPr>
              <a:t>初赛评审 · 参考版 16 页</a:t>
            </a:r>
            <a:endParaRPr lang="en-US" sz="1200" noProof="1"/>
          </a:p>
        </p:txBody>
      </p:sp>
      <p:sp>
        <p:nvSpPr>
          <p:cNvPr id="8" name="meta"/>
          <p:cNvSpPr txBox="1"/>
          <p:nvPr/>
        </p:nvSpPr>
        <p:spPr>
          <a:xfrm>
            <a:off x="812800" y="4470400"/>
            <a:ext cx="105664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100" noProof="1">
                <a:solidFill>
                  <a:srgbClr val="6B726C"/>
                </a:solidFill>
                <a:latin typeface="Arial"/>
                <a:ea typeface="Microsoft YaHei"/>
              </a:rPr>
              <a:t>GOAI 世界人工智能开源大赛 · Boundless Agents · 金融服务赛道</a:t>
            </a:r>
            <a:endParaRPr lang="en-US" sz="1100" noProof="1"/>
          </a:p>
          <a:p>
            <a:pPr algn="l">
              <a:lnSpc>
                <a:spcPct val="160000"/>
              </a:lnSpc>
            </a:pPr>
            <a:r>
              <a:rPr lang="en-US" sz="1100" noProof="1">
                <a:solidFill>
                  <a:srgbClr val="6B726C"/>
                </a:solidFill>
                <a:latin typeface="Arial"/>
                <a:ea typeface="Microsoft YaHei"/>
              </a:rPr>
              <a:t>初赛提交 </a:t>
            </a:r>
            <a:r>
              <a:rPr lang="en-US" sz="1100" noProof="1">
                <a:solidFill>
                  <a:srgbClr val="6B726C"/>
                </a:solidFill>
                <a:latin typeface="Consolas"/>
                <a:ea typeface="Consolas"/>
              </a:rPr>
              <a:t>2026-08-16</a:t>
            </a:r>
            <a:r>
              <a:rPr lang="en-US" sz="1100" noProof="1">
                <a:solidFill>
                  <a:srgbClr val="6B726C"/>
                </a:solidFill>
                <a:latin typeface="Arial"/>
                <a:ea typeface="Microsoft YaHei"/>
              </a:rPr>
              <a:t> · 队伍 </a:t>
            </a:r>
            <a:r>
              <a:rPr lang="en-US" sz="1100" noProof="1" b="1">
                <a:solidFill>
                  <a:srgbClr val="1F2A2A"/>
                </a:solidFill>
                <a:latin typeface="Arial"/>
                <a:ea typeface="Microsoft YaHei"/>
              </a:rPr>
              <a:t>Mogen Xdengly</a:t>
            </a:r>
            <a:r>
              <a:rPr lang="en-US" sz="1100" noProof="1">
                <a:solidFill>
                  <a:srgbClr val="6B726C"/>
                </a:solidFill>
                <a:latin typeface="Arial"/>
                <a:ea typeface="Microsoft YaHei"/>
              </a:rPr>
              <a:t>（3 人）</a:t>
            </a:r>
            <a:endParaRPr lang="en-US" sz="1100" noProof="1"/>
          </a:p>
        </p:txBody>
      </p:sp>
      <p:sp>
        <p:nvSpPr>
          <p:cNvPr id="9" name="footer"/>
          <p:cNvSpPr txBox="1"/>
          <p:nvPr/>
        </p:nvSpPr>
        <p:spPr>
          <a:xfrm>
            <a:off x="812800" y="5867400"/>
            <a:ext cx="1056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6B726C"/>
                </a:solidFill>
                <a:latin typeface="Arial"/>
                <a:ea typeface="Microsoft YaHei"/>
              </a:rPr>
              <a:t>决策支持与研究工具 · 非投资建议 · 比赛版本仅 Futu 模拟盘 · 公开仓库 github.com/Alyosha28/GOAi_competition</a:t>
            </a:r>
            <a:endParaRPr lang="en-US" sz="1000" noProof="1"/>
          </a:p>
        </p:txBody>
      </p:sp>
      <p:sp>
        <p:nvSpPr>
          <p:cNvPr id="10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B726C"/>
                </a:solidFill>
                <a:latin typeface="Consolas"/>
                <a:ea typeface="Microsoft YaHei"/>
              </a:rPr>
              <a:t>01 / 17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0E7C4A"/>
                </a:solidFill>
                <a:latin typeface="Consolas"/>
                <a:ea typeface="Microsoft YaHei"/>
              </a:rPr>
              <a:t>结论先行 · 02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A2A"/>
                </a:solidFill>
                <a:latin typeface="Georgia"/>
                <a:ea typeface="SimSun"/>
              </a:rPr>
              <a:t>同一份数据，别的产品想卖给你，我们劝你别买</a:t>
            </a:r>
            <a:endParaRPr lang="en-US" sz="2400" noProof="1"/>
          </a:p>
        </p:txBody>
      </p:sp>
      <p:sp>
        <p:nvSpPr>
          <p:cNvPr id="4" name="hairline"/>
          <p:cNvSpPr/>
          <p:nvPr/>
        </p:nvSpPr>
        <p:spPr>
          <a:xfrm>
            <a:off x="812800" y="1524000"/>
            <a:ext cx="711200" cy="381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5" name="row1-panel"/>
          <p:cNvSpPr/>
          <p:nvPr/>
        </p:nvSpPr>
        <p:spPr>
          <a:xfrm>
            <a:off x="812800" y="1778000"/>
            <a:ext cx="54610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6" name="row1-tag"/>
          <p:cNvSpPr txBox="1"/>
          <p:nvPr/>
        </p:nvSpPr>
        <p:spPr>
          <a:xfrm>
            <a:off x="1066800" y="19939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01</a:t>
            </a:r>
            <a:endParaRPr lang="en-US" sz="2200" noProof="1"/>
          </a:p>
        </p:txBody>
      </p:sp>
      <p:sp>
        <p:nvSpPr>
          <p:cNvPr id="7" name="row1-body"/>
          <p:cNvSpPr txBox="1"/>
          <p:nvPr/>
        </p:nvSpPr>
        <p:spPr>
          <a:xfrm>
            <a:off x="1854200" y="1892300"/>
            <a:ext cx="4191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预期波动 3.92% ＜ 回本 4.41%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Edge 门 FAIL（右图）</a:t>
            </a:r>
            <a:endParaRPr lang="en-US" sz="1250" noProof="1"/>
          </a:p>
        </p:txBody>
      </p:sp>
      <p:sp>
        <p:nvSpPr>
          <p:cNvPr id="8" name="row2-panel"/>
          <p:cNvSpPr/>
          <p:nvPr/>
        </p:nvSpPr>
        <p:spPr>
          <a:xfrm>
            <a:off x="812800" y="2743200"/>
            <a:ext cx="54610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9" name="row2-tag"/>
          <p:cNvSpPr txBox="1"/>
          <p:nvPr/>
        </p:nvSpPr>
        <p:spPr>
          <a:xfrm>
            <a:off x="1066800" y="29591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02</a:t>
            </a:r>
            <a:endParaRPr lang="en-US" sz="2200" noProof="1"/>
          </a:p>
        </p:txBody>
      </p:sp>
      <p:sp>
        <p:nvSpPr>
          <p:cNvPr id="10" name="row2-body"/>
          <p:cNvSpPr txBox="1"/>
          <p:nvPr/>
        </p:nvSpPr>
        <p:spPr>
          <a:xfrm>
            <a:off x="1854200" y="2857500"/>
            <a:ext cx="4191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历史 11 期财报跨式 d+2 平均 -7.8%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胜率 36.4%，负期望</a:t>
            </a:r>
            <a:endParaRPr lang="en-US" sz="1250" noProof="1"/>
          </a:p>
        </p:txBody>
      </p:sp>
      <p:sp>
        <p:nvSpPr>
          <p:cNvPr id="11" name="row3-panel"/>
          <p:cNvSpPr/>
          <p:nvPr/>
        </p:nvSpPr>
        <p:spPr>
          <a:xfrm>
            <a:off x="812800" y="3708400"/>
            <a:ext cx="54610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2" name="row3-tag"/>
          <p:cNvSpPr txBox="1"/>
          <p:nvPr/>
        </p:nvSpPr>
        <p:spPr>
          <a:xfrm>
            <a:off x="1066800" y="39243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03</a:t>
            </a:r>
            <a:endParaRPr lang="en-US" sz="2200" noProof="1"/>
          </a:p>
        </p:txBody>
      </p:sp>
      <p:sp>
        <p:nvSpPr>
          <p:cNvPr id="13" name="row3-body"/>
          <p:cNvSpPr txBox="1"/>
          <p:nvPr/>
        </p:nvSpPr>
        <p:spPr>
          <a:xfrm>
            <a:off x="1854200" y="3822700"/>
            <a:ext cx="4191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IV crush -20% 最差仍亏 -711 港币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方向对了也亏（见 09 页）</a:t>
            </a:r>
            <a:endParaRPr lang="en-US" sz="1250" noProof="1"/>
          </a:p>
        </p:txBody>
      </p:sp>
      <p:pic>
        <p:nvPicPr>
          <p:cNvPr id="14" name="breakeven-chart"/>
          <p:cNvPicPr/>
          <p:nvPr/>
        </p:nvPicPr>
        <p:blipFill>
          <a:blip r:embed="rId2"/>
          <a:srcRect t="-10227" b="-10227"/>
          <a:stretch>
            <a:fillRect/>
          </a:stretch>
        </p:blipFill>
        <p:spPr>
          <a:xfrm>
            <a:off x="6629400" y="1778000"/>
            <a:ext cx="4749800" cy="2743200"/>
          </a:xfrm>
          <a:prstGeom prst="rect">
            <a:avLst/>
          </a:prstGeom>
          <a:ln>
            <a:noFill/>
          </a:ln>
        </p:spPr>
      </p:pic>
      <p:sp>
        <p:nvSpPr>
          <p:cNvPr id="15" name="breakeven-chart-border"/>
          <p:cNvSpPr/>
          <p:nvPr/>
        </p:nvSpPr>
        <p:spPr>
          <a:xfrm>
            <a:off x="6629400" y="1778000"/>
            <a:ext cx="4749800" cy="2743200"/>
          </a:xfrm>
          <a:prstGeom prst="rect">
            <a:avLst/>
          </a:prstGeom>
          <a:noFill/>
          <a:ln w="12700">
            <a:solidFill>
              <a:srgbClr val="DDD8CD"/>
            </a:solidFill>
          </a:ln>
        </p:spPr>
      </p:sp>
      <p:sp>
        <p:nvSpPr>
          <p:cNvPr id="16" name="row4-panel"/>
          <p:cNvSpPr/>
          <p:nvPr/>
        </p:nvSpPr>
        <p:spPr>
          <a:xfrm>
            <a:off x="812800" y="46736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7" name="row4-tag"/>
          <p:cNvSpPr txBox="1"/>
          <p:nvPr/>
        </p:nvSpPr>
        <p:spPr>
          <a:xfrm>
            <a:off x="1066800" y="48895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04</a:t>
            </a:r>
            <a:endParaRPr lang="en-US" sz="2200" noProof="1"/>
          </a:p>
        </p:txBody>
      </p:sp>
      <p:sp>
        <p:nvSpPr>
          <p:cNvPr id="18" name="row4-body"/>
          <p:cNvSpPr txBox="1"/>
          <p:nvPr/>
        </p:nvSpPr>
        <p:spPr>
          <a:xfrm>
            <a:off x="1854200" y="47879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结论 NO_TRADE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不给下单入口，只给解释与调整建议</a:t>
            </a:r>
            <a:endParaRPr lang="en-US" sz="1250" noProof="1"/>
          </a:p>
        </p:txBody>
      </p:sp>
      <p:sp>
        <p:nvSpPr>
          <p:cNvPr id="19" name="quote-bar"/>
          <p:cNvSpPr/>
          <p:nvPr/>
        </p:nvSpPr>
        <p:spPr>
          <a:xfrm>
            <a:off x="812800" y="5791200"/>
            <a:ext cx="50800" cy="4572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20" name="quote"/>
          <p:cNvSpPr txBox="1"/>
          <p:nvPr/>
        </p:nvSpPr>
        <p:spPr>
          <a:xfrm>
            <a:off x="1016000" y="58166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在金融产品里，敢于「不买」比敢于「买」难得多——我们把难的那件事做成了产品。</a:t>
            </a:r>
            <a:endParaRPr lang="en-US" sz="1250" noProof="1"/>
          </a:p>
        </p:txBody>
      </p:sp>
      <p:sp>
        <p:nvSpPr>
          <p:cNvPr id="21" name="source"/>
          <p:cNvSpPr txBox="1"/>
          <p:nvPr/>
        </p:nvSpPr>
        <p:spPr>
          <a:xfrm>
            <a:off x="812800" y="63500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6B726C"/>
                </a:solidFill>
                <a:latin typeface="Consolas"/>
                <a:ea typeface="Microsoft YaHei"/>
              </a:rPr>
              <a:t>data/decision_card_2026-08-13.json · 快照 2026-08-08T11:56:30+08:00 · verdict NO_TRADE</a:t>
            </a:r>
            <a:endParaRPr lang="en-US" sz="950" noProof="1"/>
          </a:p>
        </p:txBody>
      </p:sp>
      <p:sp>
        <p:nvSpPr>
          <p:cNvPr id="22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B726C"/>
                </a:solidFill>
                <a:latin typeface="Consolas"/>
                <a:ea typeface="Microsoft YaHei"/>
              </a:rPr>
              <a:t>02 / 17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0E7C4A"/>
                </a:solidFill>
                <a:latin typeface="Consolas"/>
                <a:ea typeface="Microsoft YaHei"/>
              </a:rPr>
              <a:t>问题 · 03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A2A"/>
                </a:solidFill>
                <a:latin typeface="Georgia"/>
                <a:ea typeface="SimSun"/>
              </a:rPr>
              <a:t>会看 Call/Put 的散户，卡在四件事上</a:t>
            </a:r>
            <a:endParaRPr lang="en-US" sz="2400" noProof="1"/>
          </a:p>
        </p:txBody>
      </p:sp>
      <p:sp>
        <p:nvSpPr>
          <p:cNvPr id="4" name="hairline"/>
          <p:cNvSpPr/>
          <p:nvPr/>
        </p:nvSpPr>
        <p:spPr>
          <a:xfrm>
            <a:off x="812800" y="1524000"/>
            <a:ext cx="711200" cy="381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5" name="row1-panel"/>
          <p:cNvSpPr/>
          <p:nvPr/>
        </p:nvSpPr>
        <p:spPr>
          <a:xfrm>
            <a:off x="812800" y="17780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6" name="row1-tag"/>
          <p:cNvSpPr txBox="1"/>
          <p:nvPr/>
        </p:nvSpPr>
        <p:spPr>
          <a:xfrm>
            <a:off x="1066800" y="19939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01</a:t>
            </a:r>
            <a:endParaRPr lang="en-US" sz="2200" noProof="1"/>
          </a:p>
        </p:txBody>
      </p:sp>
      <p:sp>
        <p:nvSpPr>
          <p:cNvPr id="7" name="row1-body"/>
          <p:cNvSpPr txBox="1"/>
          <p:nvPr/>
        </p:nvSpPr>
        <p:spPr>
          <a:xfrm>
            <a:off x="1854200" y="18923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信息散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行情、合约规则、定价、风险、账户分散在五个页面</a:t>
            </a:r>
            <a:endParaRPr lang="en-US" sz="1250" noProof="1"/>
          </a:p>
        </p:txBody>
      </p:sp>
      <p:sp>
        <p:nvSpPr>
          <p:cNvPr id="8" name="row2-panel"/>
          <p:cNvSpPr/>
          <p:nvPr/>
        </p:nvSpPr>
        <p:spPr>
          <a:xfrm>
            <a:off x="812800" y="27432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9" name="row2-tag"/>
          <p:cNvSpPr txBox="1"/>
          <p:nvPr/>
        </p:nvSpPr>
        <p:spPr>
          <a:xfrm>
            <a:off x="1066800" y="29591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02</a:t>
            </a:r>
            <a:endParaRPr lang="en-US" sz="2200" noProof="1"/>
          </a:p>
        </p:txBody>
      </p:sp>
      <p:sp>
        <p:nvSpPr>
          <p:cNvPr id="10" name="row2-body"/>
          <p:cNvSpPr txBox="1"/>
          <p:nvPr/>
        </p:nvSpPr>
        <p:spPr>
          <a:xfrm>
            <a:off x="1854200" y="28575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数字虚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界面价格 ≠ 可成交价格（价差 + 手续费 + 滑点）</a:t>
            </a:r>
            <a:endParaRPr lang="en-US" sz="1250" noProof="1"/>
          </a:p>
        </p:txBody>
      </p:sp>
      <p:sp>
        <p:nvSpPr>
          <p:cNvPr id="11" name="row3-panel"/>
          <p:cNvSpPr/>
          <p:nvPr/>
        </p:nvSpPr>
        <p:spPr>
          <a:xfrm>
            <a:off x="812800" y="37084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2" name="row3-tag"/>
          <p:cNvSpPr txBox="1"/>
          <p:nvPr/>
        </p:nvSpPr>
        <p:spPr>
          <a:xfrm>
            <a:off x="1066800" y="39243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03</a:t>
            </a:r>
            <a:endParaRPr lang="en-US" sz="2200" noProof="1"/>
          </a:p>
        </p:txBody>
      </p:sp>
      <p:sp>
        <p:nvSpPr>
          <p:cNvPr id="13" name="row3-body"/>
          <p:cNvSpPr txBox="1"/>
          <p:nvPr/>
        </p:nvSpPr>
        <p:spPr>
          <a:xfrm>
            <a:off x="1854200" y="38227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规则乱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港股美式行权 / 实物交割 / 持仓限额，照搬美股经验会踩坑</a:t>
            </a:r>
            <a:endParaRPr lang="en-US" sz="1250" noProof="1"/>
          </a:p>
        </p:txBody>
      </p:sp>
      <p:sp>
        <p:nvSpPr>
          <p:cNvPr id="14" name="row4-panel"/>
          <p:cNvSpPr/>
          <p:nvPr/>
        </p:nvSpPr>
        <p:spPr>
          <a:xfrm>
            <a:off x="812800" y="46736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5" name="row4-tag"/>
          <p:cNvSpPr txBox="1"/>
          <p:nvPr/>
        </p:nvSpPr>
        <p:spPr>
          <a:xfrm>
            <a:off x="1066800" y="48895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04</a:t>
            </a:r>
            <a:endParaRPr lang="en-US" sz="2200" noProof="1"/>
          </a:p>
        </p:txBody>
      </p:sp>
      <p:sp>
        <p:nvSpPr>
          <p:cNvPr id="16" name="row4-body"/>
          <p:cNvSpPr txBox="1"/>
          <p:nvPr/>
        </p:nvSpPr>
        <p:spPr>
          <a:xfrm>
            <a:off x="1854200" y="47879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大模型编数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ChatGPT 能「算」出看起来很专业的假数字——金融里是致命的</a:t>
            </a:r>
            <a:endParaRPr lang="en-US" sz="1250" noProof="1"/>
          </a:p>
        </p:txBody>
      </p:sp>
      <p:sp>
        <p:nvSpPr>
          <p:cNvPr id="17" name="quote-bar"/>
          <p:cNvSpPr/>
          <p:nvPr/>
        </p:nvSpPr>
        <p:spPr>
          <a:xfrm>
            <a:off x="812800" y="5791200"/>
            <a:ext cx="50800" cy="4572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18" name="quote"/>
          <p:cNvSpPr txBox="1"/>
          <p:nvPr/>
        </p:nvSpPr>
        <p:spPr>
          <a:xfrm>
            <a:off x="1016000" y="58166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通用大模型的问题不是不会说话，是它不知道自己不知道。</a:t>
            </a:r>
            <a:endParaRPr lang="en-US" sz="1250" noProof="1"/>
          </a:p>
        </p:txBody>
      </p:sp>
      <p:sp>
        <p:nvSpPr>
          <p:cNvPr id="19" name="source"/>
          <p:cNvSpPr txBox="1"/>
          <p:nvPr/>
        </p:nvSpPr>
        <p:spPr>
          <a:xfrm>
            <a:off x="812800" y="63500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6B726C"/>
                </a:solidFill>
                <a:latin typeface="Consolas"/>
                <a:ea typeface="Microsoft YaHei"/>
              </a:rPr>
              <a:t>docs/PRD.md §1.2</a:t>
            </a:r>
            <a:endParaRPr lang="en-US" sz="950" noProof="1"/>
          </a:p>
        </p:txBody>
      </p:sp>
      <p:sp>
        <p:nvSpPr>
          <p:cNvPr id="20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B726C"/>
                </a:solidFill>
                <a:latin typeface="Consolas"/>
                <a:ea typeface="Microsoft YaHei"/>
              </a:rPr>
              <a:t>03 / 17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0E7C4A"/>
                </a:solidFill>
                <a:latin typeface="Consolas"/>
                <a:ea typeface="Microsoft YaHei"/>
              </a:rPr>
              <a:t>目标用户 · 04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A2A"/>
                </a:solidFill>
                <a:latin typeface="Georgia"/>
                <a:ea typeface="SimSun"/>
              </a:rPr>
              <a:t>给「会用富途、懂期权，但没有研究团队」的人</a:t>
            </a:r>
            <a:endParaRPr lang="en-US" sz="2400" noProof="1"/>
          </a:p>
        </p:txBody>
      </p:sp>
      <p:sp>
        <p:nvSpPr>
          <p:cNvPr id="4" name="hairline"/>
          <p:cNvSpPr/>
          <p:nvPr/>
        </p:nvSpPr>
        <p:spPr>
          <a:xfrm>
            <a:off x="812800" y="1524000"/>
            <a:ext cx="711200" cy="381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5" name="row1-panel"/>
          <p:cNvSpPr/>
          <p:nvPr/>
        </p:nvSpPr>
        <p:spPr>
          <a:xfrm>
            <a:off x="812800" y="17780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6" name="row1-tag"/>
          <p:cNvSpPr txBox="1"/>
          <p:nvPr/>
        </p:nvSpPr>
        <p:spPr>
          <a:xfrm>
            <a:off x="1066800" y="19939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01</a:t>
            </a:r>
            <a:endParaRPr lang="en-US" sz="2200" noProof="1"/>
          </a:p>
        </p:txBody>
      </p:sp>
      <p:sp>
        <p:nvSpPr>
          <p:cNvPr id="7" name="row1-body"/>
          <p:cNvSpPr txBox="1"/>
          <p:nvPr/>
        </p:nvSpPr>
        <p:spPr>
          <a:xfrm>
            <a:off x="1854200" y="18923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用户画像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港美股期权个人投资者：能看懂行情，缺完整研究功课</a:t>
            </a:r>
            <a:endParaRPr lang="en-US" sz="1250" noProof="1"/>
          </a:p>
        </p:txBody>
      </p:sp>
      <p:sp>
        <p:nvSpPr>
          <p:cNvPr id="8" name="row2-panel"/>
          <p:cNvSpPr/>
          <p:nvPr/>
        </p:nvSpPr>
        <p:spPr>
          <a:xfrm>
            <a:off x="812800" y="27432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9" name="row2-tag"/>
          <p:cNvSpPr txBox="1"/>
          <p:nvPr/>
        </p:nvSpPr>
        <p:spPr>
          <a:xfrm>
            <a:off x="1066800" y="29591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02</a:t>
            </a:r>
            <a:endParaRPr lang="en-US" sz="2200" noProof="1"/>
          </a:p>
        </p:txBody>
      </p:sp>
      <p:sp>
        <p:nvSpPr>
          <p:cNvPr id="10" name="row2-body"/>
          <p:cNvSpPr txBox="1"/>
          <p:nvPr/>
        </p:nvSpPr>
        <p:spPr>
          <a:xfrm>
            <a:off x="1854200" y="28575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核心任务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一句话观点 → 可核验决策卡（成本 / 边界 / 风险 / 来源 / 下一步）</a:t>
            </a:r>
            <a:endParaRPr lang="en-US" sz="1250" noProof="1"/>
          </a:p>
        </p:txBody>
      </p:sp>
      <p:sp>
        <p:nvSpPr>
          <p:cNvPr id="11" name="row3-panel"/>
          <p:cNvSpPr/>
          <p:nvPr/>
        </p:nvSpPr>
        <p:spPr>
          <a:xfrm>
            <a:off x="812800" y="37084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2" name="row3-tag"/>
          <p:cNvSpPr txBox="1"/>
          <p:nvPr/>
        </p:nvSpPr>
        <p:spPr>
          <a:xfrm>
            <a:off x="1066800" y="39243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03</a:t>
            </a:r>
            <a:endParaRPr lang="en-US" sz="2200" noProof="1"/>
          </a:p>
        </p:txBody>
      </p:sp>
      <p:sp>
        <p:nvSpPr>
          <p:cNvPr id="13" name="row3-body"/>
          <p:cNvSpPr txBox="1"/>
          <p:nvPr/>
        </p:nvSpPr>
        <p:spPr>
          <a:xfrm>
            <a:off x="1854200" y="38227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定位边界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研究工具——不替代券商、理财顾问与金融机构的专业判断</a:t>
            </a:r>
            <a:endParaRPr lang="en-US" sz="1250" noProof="1"/>
          </a:p>
        </p:txBody>
      </p:sp>
      <p:sp>
        <p:nvSpPr>
          <p:cNvPr id="14" name="row4-panel"/>
          <p:cNvSpPr/>
          <p:nvPr/>
        </p:nvSpPr>
        <p:spPr>
          <a:xfrm>
            <a:off x="812800" y="46736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5" name="row4-tag"/>
          <p:cNvSpPr txBox="1"/>
          <p:nvPr/>
        </p:nvSpPr>
        <p:spPr>
          <a:xfrm>
            <a:off x="1066800" y="48895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04</a:t>
            </a:r>
            <a:endParaRPr lang="en-US" sz="2200" noProof="1"/>
          </a:p>
        </p:txBody>
      </p:sp>
      <p:sp>
        <p:nvSpPr>
          <p:cNvPr id="16" name="row4-body"/>
          <p:cNvSpPr txBox="1"/>
          <p:nvPr/>
        </p:nvSpPr>
        <p:spPr>
          <a:xfrm>
            <a:off x="1854200" y="47879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目标体验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首次用户 90 秒内拿到可核验的 Replay 决策价值</a:t>
            </a:r>
            <a:endParaRPr lang="en-US" sz="1250" noProof="1"/>
          </a:p>
        </p:txBody>
      </p:sp>
      <p:sp>
        <p:nvSpPr>
          <p:cNvPr id="17" name="quote-bar"/>
          <p:cNvSpPr/>
          <p:nvPr/>
        </p:nvSpPr>
        <p:spPr>
          <a:xfrm>
            <a:off x="812800" y="5791200"/>
            <a:ext cx="50800" cy="4572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18" name="quote"/>
          <p:cNvSpPr txBox="1"/>
          <p:nvPr/>
        </p:nvSpPr>
        <p:spPr>
          <a:xfrm>
            <a:off x="1016000" y="58166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我们卖的从来不是预测，是把研究功课压缩进 90 秒。</a:t>
            </a:r>
            <a:endParaRPr lang="en-US" sz="1250" noProof="1"/>
          </a:p>
        </p:txBody>
      </p:sp>
      <p:sp>
        <p:nvSpPr>
          <p:cNvPr id="19" name="source"/>
          <p:cNvSpPr txBox="1"/>
          <p:nvPr/>
        </p:nvSpPr>
        <p:spPr>
          <a:xfrm>
            <a:off x="812800" y="63500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6B726C"/>
                </a:solidFill>
                <a:latin typeface="Consolas"/>
                <a:ea typeface="Microsoft YaHei"/>
              </a:rPr>
              <a:t>docs/PRD.md §0 · §1.1</a:t>
            </a:r>
            <a:endParaRPr lang="en-US" sz="950" noProof="1"/>
          </a:p>
        </p:txBody>
      </p:sp>
      <p:sp>
        <p:nvSpPr>
          <p:cNvPr id="20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B726C"/>
                </a:solidFill>
                <a:latin typeface="Consolas"/>
                <a:ea typeface="Microsoft YaHei"/>
              </a:rPr>
              <a:t>04 / 17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0E7C4A"/>
                </a:solidFill>
                <a:latin typeface="Consolas"/>
                <a:ea typeface="Microsoft YaHei"/>
              </a:rPr>
              <a:t>产品形态 · 05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A2A"/>
                </a:solidFill>
                <a:latin typeface="Georgia"/>
                <a:ea typeface="SimSun"/>
              </a:rPr>
              <a:t>Bloomberg 的流程能力，零售的价格</a:t>
            </a:r>
            <a:endParaRPr lang="en-US" sz="2400" noProof="1"/>
          </a:p>
        </p:txBody>
      </p:sp>
      <p:sp>
        <p:nvSpPr>
          <p:cNvPr id="4" name="hairline"/>
          <p:cNvSpPr/>
          <p:nvPr/>
        </p:nvSpPr>
        <p:spPr>
          <a:xfrm>
            <a:off x="812800" y="1524000"/>
            <a:ext cx="711200" cy="381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5" name="row1-panel"/>
          <p:cNvSpPr/>
          <p:nvPr/>
        </p:nvSpPr>
        <p:spPr>
          <a:xfrm>
            <a:off x="812800" y="1778000"/>
            <a:ext cx="54610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6" name="row1-tag"/>
          <p:cNvSpPr txBox="1"/>
          <p:nvPr/>
        </p:nvSpPr>
        <p:spPr>
          <a:xfrm>
            <a:off x="1066800" y="19939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01</a:t>
            </a:r>
            <a:endParaRPr lang="en-US" sz="2200" noProof="1"/>
          </a:p>
        </p:txBody>
      </p:sp>
      <p:sp>
        <p:nvSpPr>
          <p:cNvPr id="7" name="row1-body"/>
          <p:cNvSpPr txBox="1"/>
          <p:nvPr/>
        </p:nvSpPr>
        <p:spPr>
          <a:xfrm>
            <a:off x="1854200" y="1892300"/>
            <a:ext cx="4191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四面板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对话与任务 / 期权链与流动性 / 策略与账户 / 事件与审计</a:t>
            </a:r>
            <a:endParaRPr lang="en-US" sz="1250" noProof="1"/>
          </a:p>
        </p:txBody>
      </p:sp>
      <p:sp>
        <p:nvSpPr>
          <p:cNvPr id="8" name="row2-panel"/>
          <p:cNvSpPr/>
          <p:nvPr/>
        </p:nvSpPr>
        <p:spPr>
          <a:xfrm>
            <a:off x="812800" y="2743200"/>
            <a:ext cx="54610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9" name="row2-tag"/>
          <p:cNvSpPr txBox="1"/>
          <p:nvPr/>
        </p:nvSpPr>
        <p:spPr>
          <a:xfrm>
            <a:off x="1066800" y="29591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02</a:t>
            </a:r>
            <a:endParaRPr lang="en-US" sz="2200" noProof="1"/>
          </a:p>
        </p:txBody>
      </p:sp>
      <p:sp>
        <p:nvSpPr>
          <p:cNvPr id="10" name="row2-body"/>
          <p:cNvSpPr txBox="1"/>
          <p:nvPr/>
        </p:nvSpPr>
        <p:spPr>
          <a:xfrm>
            <a:off x="1854200" y="2857500"/>
            <a:ext cx="4191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对话入口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自然语言直接驱动管线；底部 dock 展示十角色辩论</a:t>
            </a:r>
            <a:endParaRPr lang="en-US" sz="1250" noProof="1"/>
          </a:p>
        </p:txBody>
      </p:sp>
      <p:sp>
        <p:nvSpPr>
          <p:cNvPr id="11" name="row3-panel"/>
          <p:cNvSpPr/>
          <p:nvPr/>
        </p:nvSpPr>
        <p:spPr>
          <a:xfrm>
            <a:off x="812800" y="3708400"/>
            <a:ext cx="54610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2" name="row3-tag"/>
          <p:cNvSpPr txBox="1"/>
          <p:nvPr/>
        </p:nvSpPr>
        <p:spPr>
          <a:xfrm>
            <a:off x="1066800" y="39243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03</a:t>
            </a:r>
            <a:endParaRPr lang="en-US" sz="2200" noProof="1"/>
          </a:p>
        </p:txBody>
      </p:sp>
      <p:sp>
        <p:nvSpPr>
          <p:cNvPr id="13" name="row3-body"/>
          <p:cNvSpPr txBox="1"/>
          <p:nvPr/>
        </p:nvSpPr>
        <p:spPr>
          <a:xfrm>
            <a:off x="1854200" y="3822700"/>
            <a:ext cx="4191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前端零计算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所有数字来自后端引擎，页面只做渲染</a:t>
            </a:r>
            <a:endParaRPr lang="en-US" sz="1250" noProof="1"/>
          </a:p>
        </p:txBody>
      </p:sp>
      <p:sp>
        <p:nvSpPr>
          <p:cNvPr id="14" name="row4-panel"/>
          <p:cNvSpPr/>
          <p:nvPr/>
        </p:nvSpPr>
        <p:spPr>
          <a:xfrm>
            <a:off x="812800" y="4673600"/>
            <a:ext cx="54610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5" name="row4-tag"/>
          <p:cNvSpPr txBox="1"/>
          <p:nvPr/>
        </p:nvSpPr>
        <p:spPr>
          <a:xfrm>
            <a:off x="1066800" y="48895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04</a:t>
            </a:r>
            <a:endParaRPr lang="en-US" sz="2200" noProof="1"/>
          </a:p>
        </p:txBody>
      </p:sp>
      <p:sp>
        <p:nvSpPr>
          <p:cNvPr id="16" name="row4-body"/>
          <p:cNvSpPr txBox="1"/>
          <p:nvPr/>
        </p:nvSpPr>
        <p:spPr>
          <a:xfrm>
            <a:off x="1854200" y="4787900"/>
            <a:ext cx="4191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双入口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独立浏览器终端 + DeepSeek Harness 对话</a:t>
            </a:r>
            <a:endParaRPr lang="en-US" sz="1250" noProof="1"/>
          </a:p>
        </p:txBody>
      </p:sp>
      <p:pic>
        <p:nvPicPr>
          <p:cNvPr id="17" name="terminal-img"/>
          <p:cNvPicPr/>
          <p:nvPr/>
        </p:nvPicPr>
        <p:blipFill>
          <a:blip r:embed="rId2"/>
          <a:srcRect l="-4785" r="-4785"/>
          <a:stretch>
            <a:fillRect/>
          </a:stretch>
        </p:blipFill>
        <p:spPr>
          <a:xfrm>
            <a:off x="6629400" y="1778000"/>
            <a:ext cx="4749800" cy="2844800"/>
          </a:xfrm>
          <a:prstGeom prst="rect">
            <a:avLst/>
          </a:prstGeom>
          <a:ln>
            <a:noFill/>
          </a:ln>
        </p:spPr>
      </p:pic>
      <p:sp>
        <p:nvSpPr>
          <p:cNvPr id="18" name="terminal-img-border"/>
          <p:cNvSpPr/>
          <p:nvPr/>
        </p:nvSpPr>
        <p:spPr>
          <a:xfrm>
            <a:off x="6629400" y="1778000"/>
            <a:ext cx="4749800" cy="2844800"/>
          </a:xfrm>
          <a:prstGeom prst="rect">
            <a:avLst/>
          </a:prstGeom>
          <a:noFill/>
          <a:ln w="12700">
            <a:solidFill>
              <a:srgbClr val="DDD8CD"/>
            </a:solidFill>
          </a:ln>
        </p:spPr>
      </p:sp>
      <p:sp>
        <p:nvSpPr>
          <p:cNvPr id="19" name="terminal-caption"/>
          <p:cNvSpPr txBox="1"/>
          <p:nvPr/>
        </p:nvSpPr>
        <p:spPr>
          <a:xfrm>
            <a:off x="6629400" y="4724400"/>
            <a:ext cx="4749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000" noProof="1">
                <a:solidFill>
                  <a:srgbClr val="6B726C"/>
                </a:solidFill>
                <a:latin typeface="Arial"/>
                <a:ea typeface="Microsoft YaHei"/>
              </a:rPr>
              <a:t>ui/preview.png · 四面板终端（冻结快照演示）</a:t>
            </a:r>
            <a:endParaRPr lang="en-US" sz="1000" noProof="1"/>
          </a:p>
          <a:p>
            <a:pPr algn="l">
              <a:lnSpc>
                <a:spcPct val="150000"/>
              </a:lnSpc>
            </a:pPr>
            <a:r>
              <a:rPr lang="en-US" sz="1000" noProof="1">
                <a:solidFill>
                  <a:srgbClr val="6B726C"/>
                </a:solidFill>
                <a:latin typeface="Arial"/>
                <a:ea typeface="Microsoft YaHei"/>
              </a:rPr>
              <a:t>移动端见 ui/preview_mobile.png；数字全部来自 /api/state</a:t>
            </a:r>
            <a:endParaRPr lang="en-US" sz="1000" noProof="1"/>
          </a:p>
        </p:txBody>
      </p:sp>
      <p:sp>
        <p:nvSpPr>
          <p:cNvPr id="20" name="quote-bar"/>
          <p:cNvSpPr/>
          <p:nvPr/>
        </p:nvSpPr>
        <p:spPr>
          <a:xfrm>
            <a:off x="812800" y="5791200"/>
            <a:ext cx="50800" cy="4572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21" name="quote"/>
          <p:cNvSpPr txBox="1"/>
          <p:nvPr/>
        </p:nvSpPr>
        <p:spPr>
          <a:xfrm>
            <a:off x="1016000" y="58166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终端负责把数字摆清楚，Agent 负责把决策讲明白。</a:t>
            </a:r>
            <a:endParaRPr lang="en-US" sz="1250" noProof="1"/>
          </a:p>
        </p:txBody>
      </p:sp>
      <p:sp>
        <p:nvSpPr>
          <p:cNvPr id="22" name="source"/>
          <p:cNvSpPr txBox="1"/>
          <p:nvPr/>
        </p:nvSpPr>
        <p:spPr>
          <a:xfrm>
            <a:off x="812800" y="63500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6B726C"/>
                </a:solidFill>
                <a:latin typeface="Consolas"/>
                <a:ea typeface="Microsoft YaHei"/>
              </a:rPr>
              <a:t>ui/ + src/ui_server.py（127.0.0.1:8000，仅本机）</a:t>
            </a:r>
            <a:endParaRPr lang="en-US" sz="950" noProof="1"/>
          </a:p>
        </p:txBody>
      </p:sp>
      <p:sp>
        <p:nvSpPr>
          <p:cNvPr id="23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B726C"/>
                </a:solidFill>
                <a:latin typeface="Consolas"/>
                <a:ea typeface="Microsoft YaHei"/>
              </a:rPr>
              <a:t>05 / 17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0E7C4A"/>
                </a:solidFill>
                <a:latin typeface="Consolas"/>
                <a:ea typeface="Microsoft YaHei"/>
              </a:rPr>
              <a:t>任务闭环 · 06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A2A"/>
                </a:solidFill>
                <a:latin typeface="Georgia"/>
                <a:ea typeface="SimSun"/>
              </a:rPr>
              <a:t>一句话进去，一张可核验的决策卡出来</a:t>
            </a:r>
            <a:endParaRPr lang="en-US" sz="2400" noProof="1"/>
          </a:p>
        </p:txBody>
      </p:sp>
      <p:sp>
        <p:nvSpPr>
          <p:cNvPr id="4" name="hairline"/>
          <p:cNvSpPr/>
          <p:nvPr/>
        </p:nvSpPr>
        <p:spPr>
          <a:xfrm>
            <a:off x="812800" y="1524000"/>
            <a:ext cx="711200" cy="381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5" name="r1-panel"/>
          <p:cNvSpPr/>
          <p:nvPr/>
        </p:nvSpPr>
        <p:spPr>
          <a:xfrm>
            <a:off x="812800" y="1778000"/>
            <a:ext cx="10566400" cy="558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6" name="r1-tag"/>
          <p:cNvSpPr txBox="1"/>
          <p:nvPr/>
        </p:nvSpPr>
        <p:spPr>
          <a:xfrm>
            <a:off x="1066800" y="18669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0E7C4A"/>
                </a:solidFill>
                <a:latin typeface="Consolas"/>
                <a:ea typeface="Microsoft YaHei"/>
              </a:rPr>
              <a:t>01</a:t>
            </a:r>
            <a:endParaRPr lang="en-US" sz="2000" noProof="1"/>
          </a:p>
        </p:txBody>
      </p:sp>
      <p:sp>
        <p:nvSpPr>
          <p:cNvPr id="7" name="r1-body"/>
          <p:cNvSpPr txBox="1"/>
          <p:nvPr/>
        </p:nvSpPr>
        <p:spPr>
          <a:xfrm>
            <a:off x="1854200" y="1841500"/>
            <a:ext cx="932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1F2A2A"/>
                </a:solidFill>
                <a:latin typeface="Arial"/>
                <a:ea typeface="Microsoft YaHei"/>
              </a:rPr>
              <a:t>听懂人话</a:t>
            </a:r>
            <a:r>
              <a:rPr lang="en-US" sz="1200" noProof="1">
                <a:solidFill>
                  <a:srgbClr val="1F2A2A"/>
                </a:solidFill>
                <a:latin typeface="Arial"/>
                <a:ea typeface="Microsoft YaHei"/>
              </a:rPr>
              <a:t> · 场景解析：标的 / 观点 / 期限 / 现金 / 风险预算；缺字段显式标注，不瞎猜</a:t>
            </a:r>
            <a:endParaRPr lang="en-US" sz="1200" noProof="1"/>
          </a:p>
        </p:txBody>
      </p:sp>
      <p:sp>
        <p:nvSpPr>
          <p:cNvPr id="8" name="r2-panel"/>
          <p:cNvSpPr/>
          <p:nvPr/>
        </p:nvSpPr>
        <p:spPr>
          <a:xfrm>
            <a:off x="812800" y="2438400"/>
            <a:ext cx="10566400" cy="558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9" name="r2-tag"/>
          <p:cNvSpPr txBox="1"/>
          <p:nvPr/>
        </p:nvSpPr>
        <p:spPr>
          <a:xfrm>
            <a:off x="1066800" y="25273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0E7C4A"/>
                </a:solidFill>
                <a:latin typeface="Consolas"/>
                <a:ea typeface="Microsoft YaHei"/>
              </a:rPr>
              <a:t>02</a:t>
            </a:r>
            <a:endParaRPr lang="en-US" sz="2000" noProof="1"/>
          </a:p>
        </p:txBody>
      </p:sp>
      <p:sp>
        <p:nvSpPr>
          <p:cNvPr id="10" name="r2-body"/>
          <p:cNvSpPr txBox="1"/>
          <p:nvPr/>
        </p:nvSpPr>
        <p:spPr>
          <a:xfrm>
            <a:off x="1854200" y="2501900"/>
            <a:ext cx="932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1F2A2A"/>
                </a:solidFill>
                <a:latin typeface="Arial"/>
                <a:ea typeface="Microsoft YaHei"/>
              </a:rPr>
              <a:t>取数</a:t>
            </a:r>
            <a:r>
              <a:rPr lang="en-US" sz="1200" noProof="1">
                <a:solidFill>
                  <a:srgbClr val="1F2A2A"/>
                </a:solidFill>
                <a:latin typeface="Arial"/>
                <a:ea typeface="Microsoft YaHei"/>
              </a:rPr>
              <a:t> · Futu OpenAPI 优先，冻结快照回放兜底——演示永远不崩</a:t>
            </a:r>
            <a:endParaRPr lang="en-US" sz="1200" noProof="1"/>
          </a:p>
        </p:txBody>
      </p:sp>
      <p:sp>
        <p:nvSpPr>
          <p:cNvPr id="11" name="r3-panel"/>
          <p:cNvSpPr/>
          <p:nvPr/>
        </p:nvSpPr>
        <p:spPr>
          <a:xfrm>
            <a:off x="812800" y="3098800"/>
            <a:ext cx="10566400" cy="558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2" name="r3-tag"/>
          <p:cNvSpPr txBox="1"/>
          <p:nvPr/>
        </p:nvSpPr>
        <p:spPr>
          <a:xfrm>
            <a:off x="1066800" y="31877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0E7C4A"/>
                </a:solidFill>
                <a:latin typeface="Consolas"/>
                <a:ea typeface="Microsoft YaHei"/>
              </a:rPr>
              <a:t>03</a:t>
            </a:r>
            <a:endParaRPr lang="en-US" sz="2000" noProof="1"/>
          </a:p>
        </p:txBody>
      </p:sp>
      <p:sp>
        <p:nvSpPr>
          <p:cNvPr id="13" name="r3-body"/>
          <p:cNvSpPr txBox="1"/>
          <p:nvPr/>
        </p:nvSpPr>
        <p:spPr>
          <a:xfrm>
            <a:off x="1854200" y="3162300"/>
            <a:ext cx="932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1F2A2A"/>
                </a:solidFill>
                <a:latin typeface="Arial"/>
                <a:ea typeface="Microsoft YaHei"/>
              </a:rPr>
              <a:t>自己算</a:t>
            </a:r>
            <a:r>
              <a:rPr lang="en-US" sz="1200" noProof="1">
                <a:solidFill>
                  <a:srgbClr val="1F2A2A"/>
                </a:solidFill>
                <a:latin typeface="Arial"/>
                <a:ea typeface="Microsoft YaHei"/>
              </a:rPr>
              <a:t> · BS / 美式二叉树 / Greeks / 可成交成本，每个数字带来源与时间戳</a:t>
            </a:r>
            <a:endParaRPr lang="en-US" sz="1200" noProof="1"/>
          </a:p>
        </p:txBody>
      </p:sp>
      <p:sp>
        <p:nvSpPr>
          <p:cNvPr id="14" name="r4-panel"/>
          <p:cNvSpPr/>
          <p:nvPr/>
        </p:nvSpPr>
        <p:spPr>
          <a:xfrm>
            <a:off x="812800" y="3759200"/>
            <a:ext cx="10566400" cy="558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5" name="r4-tag"/>
          <p:cNvSpPr txBox="1"/>
          <p:nvPr/>
        </p:nvSpPr>
        <p:spPr>
          <a:xfrm>
            <a:off x="1066800" y="38481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0E7C4A"/>
                </a:solidFill>
                <a:latin typeface="Consolas"/>
                <a:ea typeface="Microsoft YaHei"/>
              </a:rPr>
              <a:t>04</a:t>
            </a:r>
            <a:endParaRPr lang="en-US" sz="2000" noProof="1"/>
          </a:p>
        </p:txBody>
      </p:sp>
      <p:sp>
        <p:nvSpPr>
          <p:cNvPr id="16" name="r4-body"/>
          <p:cNvSpPr txBox="1"/>
          <p:nvPr/>
        </p:nvSpPr>
        <p:spPr>
          <a:xfrm>
            <a:off x="1854200" y="3822700"/>
            <a:ext cx="932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1F2A2A"/>
                </a:solidFill>
                <a:latin typeface="Arial"/>
                <a:ea typeface="Microsoft YaHei"/>
              </a:rPr>
              <a:t>过三扇门</a:t>
            </a:r>
            <a:r>
              <a:rPr lang="en-US" sz="1200" noProof="1">
                <a:solidFill>
                  <a:srgbClr val="1F2A2A"/>
                </a:solidFill>
                <a:latin typeface="Arial"/>
                <a:ea typeface="Microsoft YaHei"/>
              </a:rPr>
              <a:t> · Edge（值不值）→ Risk（危不危险）→ Action（能不能下单）</a:t>
            </a:r>
            <a:endParaRPr lang="en-US" sz="1200" noProof="1"/>
          </a:p>
        </p:txBody>
      </p:sp>
      <p:sp>
        <p:nvSpPr>
          <p:cNvPr id="17" name="r5-panel"/>
          <p:cNvSpPr/>
          <p:nvPr/>
        </p:nvSpPr>
        <p:spPr>
          <a:xfrm>
            <a:off x="812800" y="4419600"/>
            <a:ext cx="10566400" cy="558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8" name="r5-tag"/>
          <p:cNvSpPr txBox="1"/>
          <p:nvPr/>
        </p:nvSpPr>
        <p:spPr>
          <a:xfrm>
            <a:off x="1066800" y="45085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0E7C4A"/>
                </a:solidFill>
                <a:latin typeface="Consolas"/>
                <a:ea typeface="Microsoft YaHei"/>
              </a:rPr>
              <a:t>05</a:t>
            </a:r>
            <a:endParaRPr lang="en-US" sz="2000" noProof="1"/>
          </a:p>
        </p:txBody>
      </p:sp>
      <p:sp>
        <p:nvSpPr>
          <p:cNvPr id="19" name="r5-body"/>
          <p:cNvSpPr txBox="1"/>
          <p:nvPr/>
        </p:nvSpPr>
        <p:spPr>
          <a:xfrm>
            <a:off x="1854200" y="4483100"/>
            <a:ext cx="932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1F2A2A"/>
                </a:solidFill>
                <a:latin typeface="Arial"/>
                <a:ea typeface="Microsoft YaHei"/>
              </a:rPr>
              <a:t>盖审计章</a:t>
            </a:r>
            <a:r>
              <a:rPr lang="en-US" sz="1200" noProof="1">
                <a:solidFill>
                  <a:srgbClr val="1F2A2A"/>
                </a:solidFill>
                <a:latin typeface="Arial"/>
                <a:ea typeface="Microsoft YaHei"/>
              </a:rPr>
              <a:t> · JSONL + SHA-256 哈希链：改一行，后面的章全对不上</a:t>
            </a:r>
            <a:endParaRPr lang="en-US" sz="1200" noProof="1"/>
          </a:p>
        </p:txBody>
      </p:sp>
      <p:sp>
        <p:nvSpPr>
          <p:cNvPr id="20" name="r6-panel"/>
          <p:cNvSpPr/>
          <p:nvPr/>
        </p:nvSpPr>
        <p:spPr>
          <a:xfrm>
            <a:off x="812800" y="5080000"/>
            <a:ext cx="10566400" cy="558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21" name="r6-tag"/>
          <p:cNvSpPr txBox="1"/>
          <p:nvPr/>
        </p:nvSpPr>
        <p:spPr>
          <a:xfrm>
            <a:off x="1066800" y="51689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0E7C4A"/>
                </a:solidFill>
                <a:latin typeface="Consolas"/>
                <a:ea typeface="Microsoft YaHei"/>
              </a:rPr>
              <a:t>06</a:t>
            </a:r>
            <a:endParaRPr lang="en-US" sz="2000" noProof="1"/>
          </a:p>
        </p:txBody>
      </p:sp>
      <p:sp>
        <p:nvSpPr>
          <p:cNvPr id="22" name="r6-body"/>
          <p:cNvSpPr txBox="1"/>
          <p:nvPr/>
        </p:nvSpPr>
        <p:spPr>
          <a:xfrm>
            <a:off x="1854200" y="5143500"/>
            <a:ext cx="932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1F2A2A"/>
                </a:solidFill>
                <a:latin typeface="Arial"/>
                <a:ea typeface="Microsoft YaHei"/>
              </a:rPr>
              <a:t>十个人吵一架</a:t>
            </a:r>
            <a:r>
              <a:rPr lang="en-US" sz="1200" noProof="1">
                <a:solidFill>
                  <a:srgbClr val="1F2A2A"/>
                </a:solidFill>
                <a:latin typeface="Arial"/>
                <a:ea typeface="Microsoft YaHei"/>
              </a:rPr>
              <a:t> · 十角色辩论补充文字研判，LLM 只说话、不算数</a:t>
            </a:r>
            <a:endParaRPr lang="en-US" sz="1200" noProof="1"/>
          </a:p>
        </p:txBody>
      </p:sp>
      <p:sp>
        <p:nvSpPr>
          <p:cNvPr id="23" name="quote-bar"/>
          <p:cNvSpPr/>
          <p:nvPr/>
        </p:nvSpPr>
        <p:spPr>
          <a:xfrm>
            <a:off x="812800" y="5791200"/>
            <a:ext cx="50800" cy="4572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24" name="quote"/>
          <p:cNvSpPr txBox="1"/>
          <p:nvPr/>
        </p:nvSpPr>
        <p:spPr>
          <a:xfrm>
            <a:off x="1016000" y="58166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任务闭环：从用户输入到可验证结果，每一步可追溯。</a:t>
            </a:r>
            <a:endParaRPr lang="en-US" sz="1250" noProof="1"/>
          </a:p>
        </p:txBody>
      </p:sp>
      <p:sp>
        <p:nvSpPr>
          <p:cNvPr id="25" name="source"/>
          <p:cNvSpPr txBox="1"/>
          <p:nvPr/>
        </p:nvSpPr>
        <p:spPr>
          <a:xfrm>
            <a:off x="812800" y="63500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6B726C"/>
                </a:solidFill>
                <a:latin typeface="Consolas"/>
                <a:ea typeface="Microsoft YaHei"/>
              </a:rPr>
              <a:t>docs/DSH_ARCHITECTURE.md · src/decision_pipeline.py</a:t>
            </a:r>
            <a:endParaRPr lang="en-US" sz="950" noProof="1"/>
          </a:p>
        </p:txBody>
      </p:sp>
      <p:sp>
        <p:nvSpPr>
          <p:cNvPr id="26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B726C"/>
                </a:solidFill>
                <a:latin typeface="Consolas"/>
                <a:ea typeface="Microsoft YaHei"/>
              </a:rPr>
              <a:t>06 / 17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0E7C4A"/>
                </a:solidFill>
                <a:latin typeface="Consolas"/>
                <a:ea typeface="Microsoft YaHei"/>
              </a:rPr>
              <a:t>决策卡 · 07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A2A"/>
                </a:solidFill>
                <a:latin typeface="Georgia"/>
                <a:ea typeface="SimSun"/>
              </a:rPr>
              <a:t>一张卡，回答六个问题</a:t>
            </a:r>
            <a:endParaRPr lang="en-US" sz="2400" noProof="1"/>
          </a:p>
        </p:txBody>
      </p:sp>
      <p:sp>
        <p:nvSpPr>
          <p:cNvPr id="4" name="hairline"/>
          <p:cNvSpPr/>
          <p:nvPr/>
        </p:nvSpPr>
        <p:spPr>
          <a:xfrm>
            <a:off x="812800" y="1524000"/>
            <a:ext cx="711200" cy="381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5" name="r1-panel"/>
          <p:cNvSpPr/>
          <p:nvPr/>
        </p:nvSpPr>
        <p:spPr>
          <a:xfrm>
            <a:off x="812800" y="1778000"/>
            <a:ext cx="10566400" cy="558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6" name="r1-tag"/>
          <p:cNvSpPr txBox="1"/>
          <p:nvPr/>
        </p:nvSpPr>
        <p:spPr>
          <a:xfrm>
            <a:off x="1066800" y="18669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0E7C4A"/>
                </a:solidFill>
                <a:latin typeface="Consolas"/>
                <a:ea typeface="Microsoft YaHei"/>
              </a:rPr>
              <a:t>01</a:t>
            </a:r>
            <a:endParaRPr lang="en-US" sz="2000" noProof="1"/>
          </a:p>
        </p:txBody>
      </p:sp>
      <p:sp>
        <p:nvSpPr>
          <p:cNvPr id="7" name="r1-body"/>
          <p:cNvSpPr txBox="1"/>
          <p:nvPr/>
        </p:nvSpPr>
        <p:spPr>
          <a:xfrm>
            <a:off x="1854200" y="1841500"/>
            <a:ext cx="932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1F2A2A"/>
                </a:solidFill>
                <a:latin typeface="Arial"/>
                <a:ea typeface="Microsoft YaHei"/>
              </a:rPr>
              <a:t>结论</a:t>
            </a:r>
            <a:r>
              <a:rPr lang="en-US" sz="1200" noProof="1">
                <a:solidFill>
                  <a:srgbClr val="1F2A2A"/>
                </a:solidFill>
                <a:latin typeface="Arial"/>
                <a:ea typeface="Microsoft YaHei"/>
              </a:rPr>
              <a:t> · </a:t>
            </a:r>
            <a:r>
              <a:rPr lang="en-US" sz="1200" noProof="1" b="1">
                <a:solidFill>
                  <a:srgbClr val="B0413E"/>
                </a:solidFill>
                <a:latin typeface="Arial"/>
                <a:ea typeface="Microsoft YaHei"/>
              </a:rPr>
              <a:t>NO_TRADE</a:t>
            </a:r>
            <a:r>
              <a:rPr lang="en-US" sz="1200" noProof="1">
                <a:solidFill>
                  <a:srgbClr val="1F2A2A"/>
                </a:solidFill>
                <a:latin typeface="Arial"/>
                <a:ea typeface="Microsoft YaHei"/>
              </a:rPr>
              <a:t> —— 当前成本与证据不支持交易，及对用户的含义</a:t>
            </a:r>
            <a:endParaRPr lang="en-US" sz="1200" noProof="1"/>
          </a:p>
        </p:txBody>
      </p:sp>
      <p:sp>
        <p:nvSpPr>
          <p:cNvPr id="8" name="r2-panel"/>
          <p:cNvSpPr/>
          <p:nvPr/>
        </p:nvSpPr>
        <p:spPr>
          <a:xfrm>
            <a:off x="812800" y="2438400"/>
            <a:ext cx="10566400" cy="558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9" name="r2-tag"/>
          <p:cNvSpPr txBox="1"/>
          <p:nvPr/>
        </p:nvSpPr>
        <p:spPr>
          <a:xfrm>
            <a:off x="1066800" y="25273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0E7C4A"/>
                </a:solidFill>
                <a:latin typeface="Consolas"/>
                <a:ea typeface="Microsoft YaHei"/>
              </a:rPr>
              <a:t>02</a:t>
            </a:r>
            <a:endParaRPr lang="en-US" sz="2000" noProof="1"/>
          </a:p>
        </p:txBody>
      </p:sp>
      <p:sp>
        <p:nvSpPr>
          <p:cNvPr id="10" name="r2-body"/>
          <p:cNvSpPr txBox="1"/>
          <p:nvPr/>
        </p:nvSpPr>
        <p:spPr>
          <a:xfrm>
            <a:off x="1854200" y="2501900"/>
            <a:ext cx="932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1F2A2A"/>
                </a:solidFill>
                <a:latin typeface="Arial"/>
                <a:ea typeface="Microsoft YaHei"/>
              </a:rPr>
              <a:t>三条关键依据</a:t>
            </a:r>
            <a:r>
              <a:rPr lang="en-US" sz="1200" noProof="1">
                <a:solidFill>
                  <a:srgbClr val="1F2A2A"/>
                </a:solidFill>
                <a:latin typeface="Arial"/>
                <a:ea typeface="Microsoft YaHei"/>
              </a:rPr>
              <a:t> · 预期波动＜回本 / 历史负期望 / IV crush 转负</a:t>
            </a:r>
            <a:endParaRPr lang="en-US" sz="1200" noProof="1"/>
          </a:p>
        </p:txBody>
      </p:sp>
      <p:sp>
        <p:nvSpPr>
          <p:cNvPr id="11" name="r3-panel"/>
          <p:cNvSpPr/>
          <p:nvPr/>
        </p:nvSpPr>
        <p:spPr>
          <a:xfrm>
            <a:off x="812800" y="3098800"/>
            <a:ext cx="10566400" cy="558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2" name="r3-tag"/>
          <p:cNvSpPr txBox="1"/>
          <p:nvPr/>
        </p:nvSpPr>
        <p:spPr>
          <a:xfrm>
            <a:off x="1066800" y="31877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0E7C4A"/>
                </a:solidFill>
                <a:latin typeface="Consolas"/>
                <a:ea typeface="Microsoft YaHei"/>
              </a:rPr>
              <a:t>03</a:t>
            </a:r>
            <a:endParaRPr lang="en-US" sz="2000" noProof="1"/>
          </a:p>
        </p:txBody>
      </p:sp>
      <p:sp>
        <p:nvSpPr>
          <p:cNvPr id="13" name="r3-body"/>
          <p:cNvSpPr txBox="1"/>
          <p:nvPr/>
        </p:nvSpPr>
        <p:spPr>
          <a:xfrm>
            <a:off x="1854200" y="3162300"/>
            <a:ext cx="932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1F2A2A"/>
                </a:solidFill>
                <a:latin typeface="Arial"/>
                <a:ea typeface="Microsoft YaHei"/>
              </a:rPr>
              <a:t>成本与亏损</a:t>
            </a:r>
            <a:r>
              <a:rPr lang="en-US" sz="1200" noProof="1">
                <a:solidFill>
                  <a:srgbClr val="1F2A2A"/>
                </a:solidFill>
                <a:latin typeface="Arial"/>
                <a:ea typeface="Microsoft YaHei"/>
              </a:rPr>
              <a:t> · 4,414 港币（ask 口径）≤ 5% 风险预算 5,000</a:t>
            </a:r>
            <a:endParaRPr lang="en-US" sz="1200" noProof="1"/>
          </a:p>
        </p:txBody>
      </p:sp>
      <p:sp>
        <p:nvSpPr>
          <p:cNvPr id="14" name="r4-panel"/>
          <p:cNvSpPr/>
          <p:nvPr/>
        </p:nvSpPr>
        <p:spPr>
          <a:xfrm>
            <a:off x="812800" y="3759200"/>
            <a:ext cx="10566400" cy="558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5" name="r4-tag"/>
          <p:cNvSpPr txBox="1"/>
          <p:nvPr/>
        </p:nvSpPr>
        <p:spPr>
          <a:xfrm>
            <a:off x="1066800" y="38481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0E7C4A"/>
                </a:solidFill>
                <a:latin typeface="Consolas"/>
                <a:ea typeface="Microsoft YaHei"/>
              </a:rPr>
              <a:t>04</a:t>
            </a:r>
            <a:endParaRPr lang="en-US" sz="2000" noProof="1"/>
          </a:p>
        </p:txBody>
      </p:sp>
      <p:sp>
        <p:nvSpPr>
          <p:cNvPr id="16" name="r4-body"/>
          <p:cNvSpPr txBox="1"/>
          <p:nvPr/>
        </p:nvSpPr>
        <p:spPr>
          <a:xfrm>
            <a:off x="1854200" y="3822700"/>
            <a:ext cx="932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1F2A2A"/>
                </a:solidFill>
                <a:latin typeface="Arial"/>
                <a:ea typeface="Microsoft YaHei"/>
              </a:rPr>
              <a:t>数据模式</a:t>
            </a:r>
            <a:r>
              <a:rPr lang="en-US" sz="1200" noProof="1">
                <a:solidFill>
                  <a:srgbClr val="1F2A2A"/>
                </a:solidFill>
                <a:latin typeface="Arial"/>
                <a:ea typeface="Microsoft YaHei"/>
              </a:rPr>
              <a:t> · REPLAY / FROZEN，快照 2026-08-08 11:56，sha256 可验</a:t>
            </a:r>
            <a:endParaRPr lang="en-US" sz="1200" noProof="1"/>
          </a:p>
        </p:txBody>
      </p:sp>
      <p:sp>
        <p:nvSpPr>
          <p:cNvPr id="17" name="r5-panel"/>
          <p:cNvSpPr/>
          <p:nvPr/>
        </p:nvSpPr>
        <p:spPr>
          <a:xfrm>
            <a:off x="812800" y="4419600"/>
            <a:ext cx="10566400" cy="558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8" name="r5-tag"/>
          <p:cNvSpPr txBox="1"/>
          <p:nvPr/>
        </p:nvSpPr>
        <p:spPr>
          <a:xfrm>
            <a:off x="1066800" y="45085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0E7C4A"/>
                </a:solidFill>
                <a:latin typeface="Consolas"/>
                <a:ea typeface="Microsoft YaHei"/>
              </a:rPr>
              <a:t>05</a:t>
            </a:r>
            <a:endParaRPr lang="en-US" sz="2000" noProof="1"/>
          </a:p>
        </p:txBody>
      </p:sp>
      <p:sp>
        <p:nvSpPr>
          <p:cNvPr id="19" name="r5-body"/>
          <p:cNvSpPr txBox="1"/>
          <p:nvPr/>
        </p:nvSpPr>
        <p:spPr>
          <a:xfrm>
            <a:off x="1854200" y="4483100"/>
            <a:ext cx="932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1F2A2A"/>
                </a:solidFill>
                <a:latin typeface="Arial"/>
                <a:ea typeface="Microsoft YaHei"/>
              </a:rPr>
              <a:t>什么会改变结论</a:t>
            </a:r>
            <a:r>
              <a:rPr lang="en-US" sz="1200" noProof="1">
                <a:solidFill>
                  <a:srgbClr val="1F2A2A"/>
                </a:solidFill>
                <a:latin typeface="Arial"/>
                <a:ea typeface="Microsoft YaHei"/>
              </a:rPr>
              <a:t> · 换 8/28 到期、Live 行情复核成本等 4 条，逐条列出</a:t>
            </a:r>
            <a:endParaRPr lang="en-US" sz="1200" noProof="1"/>
          </a:p>
        </p:txBody>
      </p:sp>
      <p:sp>
        <p:nvSpPr>
          <p:cNvPr id="20" name="r6-panel"/>
          <p:cNvSpPr/>
          <p:nvPr/>
        </p:nvSpPr>
        <p:spPr>
          <a:xfrm>
            <a:off x="812800" y="5080000"/>
            <a:ext cx="10566400" cy="558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21" name="r6-tag"/>
          <p:cNvSpPr txBox="1"/>
          <p:nvPr/>
        </p:nvSpPr>
        <p:spPr>
          <a:xfrm>
            <a:off x="1066800" y="51689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0E7C4A"/>
                </a:solidFill>
                <a:latin typeface="Consolas"/>
                <a:ea typeface="Microsoft YaHei"/>
              </a:rPr>
              <a:t>06</a:t>
            </a:r>
            <a:endParaRPr lang="en-US" sz="2000" noProof="1"/>
          </a:p>
        </p:txBody>
      </p:sp>
      <p:sp>
        <p:nvSpPr>
          <p:cNvPr id="22" name="r6-body"/>
          <p:cNvSpPr txBox="1"/>
          <p:nvPr/>
        </p:nvSpPr>
        <p:spPr>
          <a:xfrm>
            <a:off x="1854200" y="5143500"/>
            <a:ext cx="932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1F2A2A"/>
                </a:solidFill>
                <a:latin typeface="Arial"/>
                <a:ea typeface="Microsoft YaHei"/>
              </a:rPr>
              <a:t>唯一下一步</a:t>
            </a:r>
            <a:r>
              <a:rPr lang="en-US" sz="1200" noProof="1">
                <a:solidFill>
                  <a:srgbClr val="1F2A2A"/>
                </a:solidFill>
                <a:latin typeface="Arial"/>
                <a:ea typeface="Microsoft YaHei"/>
              </a:rPr>
              <a:t> · 无需下单；调整期限 / 行权价后重新评估</a:t>
            </a:r>
            <a:endParaRPr lang="en-US" sz="1200" noProof="1"/>
          </a:p>
        </p:txBody>
      </p:sp>
      <p:sp>
        <p:nvSpPr>
          <p:cNvPr id="23" name="quote-bar"/>
          <p:cNvSpPr/>
          <p:nvPr/>
        </p:nvSpPr>
        <p:spPr>
          <a:xfrm>
            <a:off x="812800" y="5791200"/>
            <a:ext cx="50800" cy="4572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24" name="quote"/>
          <p:cNvSpPr txBox="1"/>
          <p:nvPr/>
        </p:nvSpPr>
        <p:spPr>
          <a:xfrm>
            <a:off x="1016000" y="58166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首屏只回答六个问题，详细证据在展开层。</a:t>
            </a:r>
            <a:endParaRPr lang="en-US" sz="1250" noProof="1"/>
          </a:p>
        </p:txBody>
      </p:sp>
      <p:sp>
        <p:nvSpPr>
          <p:cNvPr id="25" name="source"/>
          <p:cNvSpPr txBox="1"/>
          <p:nvPr/>
        </p:nvSpPr>
        <p:spPr>
          <a:xfrm>
            <a:off x="812800" y="63500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6B726C"/>
                </a:solidFill>
                <a:latin typeface="Consolas"/>
                <a:ea typeface="Microsoft YaHei"/>
              </a:rPr>
              <a:t>docs/PRD.md §3.4 · presentation/facts.md §1</a:t>
            </a:r>
            <a:endParaRPr lang="en-US" sz="950" noProof="1"/>
          </a:p>
        </p:txBody>
      </p:sp>
      <p:sp>
        <p:nvSpPr>
          <p:cNvPr id="26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B726C"/>
                </a:solidFill>
                <a:latin typeface="Consolas"/>
                <a:ea typeface="Microsoft YaHei"/>
              </a:rPr>
              <a:t>07 / 17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0E7C4A"/>
                </a:solidFill>
                <a:latin typeface="Consolas"/>
                <a:ea typeface="Microsoft YaHei"/>
              </a:rPr>
              <a:t>三门控 · 08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A2A"/>
                </a:solidFill>
                <a:latin typeface="Georgia"/>
                <a:ea typeface="SimSun"/>
              </a:rPr>
              <a:t>三门控各司其职，结论不由任何人「感觉」决定</a:t>
            </a:r>
            <a:endParaRPr lang="en-US" sz="2400" noProof="1"/>
          </a:p>
        </p:txBody>
      </p:sp>
      <p:sp>
        <p:nvSpPr>
          <p:cNvPr id="4" name="hairline"/>
          <p:cNvSpPr/>
          <p:nvPr/>
        </p:nvSpPr>
        <p:spPr>
          <a:xfrm>
            <a:off x="812800" y="1524000"/>
            <a:ext cx="711200" cy="381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5" name="row1-panel"/>
          <p:cNvSpPr/>
          <p:nvPr/>
        </p:nvSpPr>
        <p:spPr>
          <a:xfrm>
            <a:off x="812800" y="17780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6" name="row1-tag"/>
          <p:cNvSpPr txBox="1"/>
          <p:nvPr/>
        </p:nvSpPr>
        <p:spPr>
          <a:xfrm>
            <a:off x="1066800" y="19939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01</a:t>
            </a:r>
            <a:endParaRPr lang="en-US" sz="2200" noProof="1"/>
          </a:p>
        </p:txBody>
      </p:sp>
      <p:sp>
        <p:nvSpPr>
          <p:cNvPr id="7" name="row1-body"/>
          <p:cNvSpPr txBox="1"/>
          <p:nvPr/>
        </p:nvSpPr>
        <p:spPr>
          <a:xfrm>
            <a:off x="1854200" y="18923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Edge 门（值不值）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3 项检查全 FAIL → </a:t>
            </a:r>
            <a:r>
              <a:rPr lang="en-US" sz="1250" noProof="1" b="1">
                <a:solidFill>
                  <a:srgbClr val="B0413E"/>
                </a:solidFill>
                <a:latin typeface="Arial"/>
                <a:ea typeface="Microsoft YaHei"/>
              </a:rPr>
              <a:t>LOW_EDGE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：预期波动＜回本 / 回测负期望 / crush 亏损</a:t>
            </a:r>
            <a:endParaRPr lang="en-US" sz="1250" noProof="1"/>
          </a:p>
        </p:txBody>
      </p:sp>
      <p:sp>
        <p:nvSpPr>
          <p:cNvPr id="8" name="row2-panel"/>
          <p:cNvSpPr/>
          <p:nvPr/>
        </p:nvSpPr>
        <p:spPr>
          <a:xfrm>
            <a:off x="812800" y="27432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9" name="row2-tag"/>
          <p:cNvSpPr txBox="1"/>
          <p:nvPr/>
        </p:nvSpPr>
        <p:spPr>
          <a:xfrm>
            <a:off x="1066800" y="29591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02</a:t>
            </a:r>
            <a:endParaRPr lang="en-US" sz="2200" noProof="1"/>
          </a:p>
        </p:txBody>
      </p:sp>
      <p:sp>
        <p:nvSpPr>
          <p:cNvPr id="10" name="row2-body"/>
          <p:cNvSpPr txBox="1"/>
          <p:nvPr/>
        </p:nvSpPr>
        <p:spPr>
          <a:xfrm>
            <a:off x="1854200" y="28575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Risk 门（危不危险）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</a:t>
            </a:r>
            <a:r>
              <a:rPr lang="en-US" sz="1250" noProof="1" b="1">
                <a:solidFill>
                  <a:srgbClr val="0E7C4A"/>
                </a:solidFill>
                <a:latin typeface="Arial"/>
                <a:ea typeface="Microsoft YaHei"/>
              </a:rPr>
              <a:t>PASS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+ 3 WARN：持仓限额未验证 / 费用滑点 policy 未冻结 / 美式提前行权</a:t>
            </a:r>
            <a:endParaRPr lang="en-US" sz="1250" noProof="1"/>
          </a:p>
        </p:txBody>
      </p:sp>
      <p:sp>
        <p:nvSpPr>
          <p:cNvPr id="11" name="row3-panel"/>
          <p:cNvSpPr/>
          <p:nvPr/>
        </p:nvSpPr>
        <p:spPr>
          <a:xfrm>
            <a:off x="812800" y="37084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2" name="row3-tag"/>
          <p:cNvSpPr txBox="1"/>
          <p:nvPr/>
        </p:nvSpPr>
        <p:spPr>
          <a:xfrm>
            <a:off x="1066800" y="39243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03</a:t>
            </a:r>
            <a:endParaRPr lang="en-US" sz="2200" noProof="1"/>
          </a:p>
        </p:txBody>
      </p:sp>
      <p:sp>
        <p:nvSpPr>
          <p:cNvPr id="13" name="row3-body"/>
          <p:cNvSpPr txBox="1"/>
          <p:nvPr/>
        </p:nvSpPr>
        <p:spPr>
          <a:xfrm>
            <a:off x="1854200" y="38227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Action 门（能不能下单）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</a:t>
            </a:r>
            <a:r>
              <a:rPr lang="en-US" sz="1250" noProof="1" b="1">
                <a:solidFill>
                  <a:srgbClr val="B0413E"/>
                </a:solidFill>
                <a:latin typeface="Arial"/>
                <a:ea typeface="Microsoft YaHei"/>
              </a:rPr>
              <a:t>NO_TRADE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：Edge 未过，下单入口根本不出现</a:t>
            </a:r>
            <a:endParaRPr lang="en-US" sz="1250" noProof="1"/>
          </a:p>
        </p:txBody>
      </p:sp>
      <p:sp>
        <p:nvSpPr>
          <p:cNvPr id="14" name="row4-panel"/>
          <p:cNvSpPr/>
          <p:nvPr/>
        </p:nvSpPr>
        <p:spPr>
          <a:xfrm>
            <a:off x="812800" y="46736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5" name="row4-tag"/>
          <p:cNvSpPr txBox="1"/>
          <p:nvPr/>
        </p:nvSpPr>
        <p:spPr>
          <a:xfrm>
            <a:off x="1066800" y="48895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04</a:t>
            </a:r>
            <a:endParaRPr lang="en-US" sz="2200" noProof="1"/>
          </a:p>
        </p:txBody>
      </p:sp>
      <p:sp>
        <p:nvSpPr>
          <p:cNvPr id="16" name="row4-body"/>
          <p:cNvSpPr txBox="1"/>
          <p:nvPr/>
        </p:nvSpPr>
        <p:spPr>
          <a:xfrm>
            <a:off x="1854200" y="47879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门与门分开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值不值、危不危险、能不能下单，三件事分开判，互不代偿</a:t>
            </a:r>
            <a:endParaRPr lang="en-US" sz="1250" noProof="1"/>
          </a:p>
        </p:txBody>
      </p:sp>
      <p:sp>
        <p:nvSpPr>
          <p:cNvPr id="17" name="quote-bar"/>
          <p:cNvSpPr/>
          <p:nvPr/>
        </p:nvSpPr>
        <p:spPr>
          <a:xfrm>
            <a:off x="812800" y="5791200"/>
            <a:ext cx="50800" cy="4572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18" name="quote"/>
          <p:cNvSpPr txBox="1"/>
          <p:nvPr/>
        </p:nvSpPr>
        <p:spPr>
          <a:xfrm>
            <a:off x="1016000" y="58166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PASS 不代表赚钱，只代表「按当前数据，风险在预算内」。</a:t>
            </a:r>
            <a:endParaRPr lang="en-US" sz="1250" noProof="1"/>
          </a:p>
        </p:txBody>
      </p:sp>
      <p:sp>
        <p:nvSpPr>
          <p:cNvPr id="19" name="source"/>
          <p:cNvSpPr txBox="1"/>
          <p:nvPr/>
        </p:nvSpPr>
        <p:spPr>
          <a:xfrm>
            <a:off x="812800" y="63500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6B726C"/>
                </a:solidFill>
                <a:latin typeface="Consolas"/>
                <a:ea typeface="Microsoft YaHei"/>
              </a:rPr>
              <a:t>presentation/facts.md §1（edge_gate / risk_gate / action_gate 原文）</a:t>
            </a:r>
            <a:endParaRPr lang="en-US" sz="950" noProof="1"/>
          </a:p>
        </p:txBody>
      </p:sp>
      <p:sp>
        <p:nvSpPr>
          <p:cNvPr id="20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B726C"/>
                </a:solidFill>
                <a:latin typeface="Consolas"/>
                <a:ea typeface="Microsoft YaHei"/>
              </a:rPr>
              <a:t>08 / 17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0E7C4A"/>
                </a:solidFill>
                <a:latin typeface="Consolas"/>
                <a:ea typeface="Microsoft YaHei"/>
              </a:rPr>
              <a:t>回测证据 · 09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A2A"/>
                </a:solidFill>
                <a:latin typeface="Georgia"/>
                <a:ea typeface="SimSun"/>
              </a:rPr>
              <a:t>历史回测与压力测试：负期望不是巧合</a:t>
            </a:r>
            <a:endParaRPr lang="en-US" sz="2400" noProof="1"/>
          </a:p>
        </p:txBody>
      </p:sp>
      <p:sp>
        <p:nvSpPr>
          <p:cNvPr id="4" name="hairline"/>
          <p:cNvSpPr/>
          <p:nvPr/>
        </p:nvSpPr>
        <p:spPr>
          <a:xfrm>
            <a:off x="812800" y="1524000"/>
            <a:ext cx="711200" cy="381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pic>
        <p:nvPicPr>
          <p:cNvPr id="5" name="roi-chart"/>
          <p:cNvPicPr/>
          <p:nvPr/>
        </p:nvPicPr>
        <p:blipFill>
          <a:blip r:embed="rId2"/>
          <a:srcRect l="-14610" r="-14610"/>
          <a:stretch>
            <a:fillRect/>
          </a:stretch>
        </p:blipFill>
        <p:spPr>
          <a:xfrm>
            <a:off x="812800" y="1854200"/>
            <a:ext cx="5156200" cy="3403600"/>
          </a:xfrm>
          <a:prstGeom prst="rect">
            <a:avLst/>
          </a:prstGeom>
          <a:ln>
            <a:noFill/>
          </a:ln>
        </p:spPr>
      </p:pic>
      <p:sp>
        <p:nvSpPr>
          <p:cNvPr id="6" name="roi-chart-border"/>
          <p:cNvSpPr/>
          <p:nvPr/>
        </p:nvSpPr>
        <p:spPr>
          <a:xfrm>
            <a:off x="812800" y="1854200"/>
            <a:ext cx="5156200" cy="3403600"/>
          </a:xfrm>
          <a:prstGeom prst="rect">
            <a:avLst/>
          </a:prstGeom>
          <a:noFill/>
          <a:ln w="12700">
            <a:solidFill>
              <a:srgbClr val="DDD8CD"/>
            </a:solidFill>
          </a:ln>
        </p:spPr>
      </p:sp>
      <p:sp>
        <p:nvSpPr>
          <p:cNvPr id="7" name="roi-caption"/>
          <p:cNvSpPr txBox="1"/>
          <p:nvPr/>
        </p:nvSpPr>
        <p:spPr>
          <a:xfrm>
            <a:off x="812800" y="5359400"/>
            <a:ext cx="5156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950" noProof="1">
                <a:solidFill>
                  <a:srgbClr val="6B726C"/>
                </a:solidFill>
                <a:latin typeface="Arial"/>
                <a:ea typeface="Microsoft YaHei"/>
              </a:rPr>
              <a:t>口径A：引擎 + 历史 IV，11 期（2023Q3–2026Q1）｜口径B：市场预期波动代理，19 期（2021Q3–2026Q1）</a:t>
            </a:r>
            <a:endParaRPr lang="en-US" sz="950" noProof="1"/>
          </a:p>
        </p:txBody>
      </p:sp>
      <p:pic>
        <p:nvPicPr>
          <p:cNvPr id="8" name="crush-chart"/>
          <p:cNvPicPr/>
          <p:nvPr/>
        </p:nvPicPr>
        <p:blipFill>
          <a:blip r:embed="rId3"/>
          <a:srcRect l="-5124" r="-5124"/>
          <a:stretch>
            <a:fillRect/>
          </a:stretch>
        </p:blipFill>
        <p:spPr>
          <a:xfrm>
            <a:off x="6223000" y="1854200"/>
            <a:ext cx="5156200" cy="3403600"/>
          </a:xfrm>
          <a:prstGeom prst="rect">
            <a:avLst/>
          </a:prstGeom>
          <a:ln>
            <a:noFill/>
          </a:ln>
        </p:spPr>
      </p:pic>
      <p:sp>
        <p:nvSpPr>
          <p:cNvPr id="9" name="crush-chart-border"/>
          <p:cNvSpPr/>
          <p:nvPr/>
        </p:nvSpPr>
        <p:spPr>
          <a:xfrm>
            <a:off x="6223000" y="1854200"/>
            <a:ext cx="5156200" cy="3403600"/>
          </a:xfrm>
          <a:prstGeom prst="rect">
            <a:avLst/>
          </a:prstGeom>
          <a:noFill/>
          <a:ln w="12700">
            <a:solidFill>
              <a:srgbClr val="DDD8CD"/>
            </a:solidFill>
          </a:ln>
        </p:spPr>
      </p:sp>
      <p:sp>
        <p:nvSpPr>
          <p:cNvPr id="10" name="crush-caption"/>
          <p:cNvSpPr txBox="1"/>
          <p:nvPr/>
        </p:nvSpPr>
        <p:spPr>
          <a:xfrm>
            <a:off x="6223000" y="5359400"/>
            <a:ext cx="5156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950" noProof="1">
                <a:solidFill>
                  <a:srgbClr val="6B726C"/>
                </a:solidFill>
                <a:latin typeface="Arial"/>
                <a:ea typeface="Microsoft YaHei"/>
              </a:rPr>
              <a:t>IV crush -20 / -35 / -50% × 上行 / 下行 P&amp;L（HKD，ask 口径，方向正确情形）</a:t>
            </a:r>
            <a:endParaRPr lang="en-US" sz="950" noProof="1"/>
          </a:p>
        </p:txBody>
      </p:sp>
      <p:sp>
        <p:nvSpPr>
          <p:cNvPr id="11" name="quote-bar"/>
          <p:cNvSpPr/>
          <p:nvPr/>
        </p:nvSpPr>
        <p:spPr>
          <a:xfrm>
            <a:off x="812800" y="5791200"/>
            <a:ext cx="50800" cy="4572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12" name="quote"/>
          <p:cNvSpPr txBox="1"/>
          <p:nvPr/>
        </p:nvSpPr>
        <p:spPr>
          <a:xfrm>
            <a:off x="1016000" y="58166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回测与压力测试同声说：买入业绩跨式，历史上是负期望。</a:t>
            </a:r>
            <a:endParaRPr lang="en-US" sz="1250" noProof="1"/>
          </a:p>
        </p:txBody>
      </p:sp>
      <p:sp>
        <p:nvSpPr>
          <p:cNvPr id="13" name="source"/>
          <p:cNvSpPr txBox="1"/>
          <p:nvPr/>
        </p:nvSpPr>
        <p:spPr>
          <a:xfrm>
            <a:off x="812800" y="63500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6B726C"/>
                </a:solidFill>
                <a:latin typeface="Consolas"/>
                <a:ea typeface="Microsoft YaHei"/>
              </a:rPr>
              <a:t>data/backtest_tencent_straddle.json · data/decision_card_2026-08-13.json（proposal_ref）</a:t>
            </a:r>
            <a:endParaRPr lang="en-US" sz="950" noProof="1"/>
          </a:p>
        </p:txBody>
      </p:sp>
      <p:sp>
        <p:nvSpPr>
          <p:cNvPr id="14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B726C"/>
                </a:solidFill>
                <a:latin typeface="Consolas"/>
                <a:ea typeface="Microsoft YaHei"/>
              </a:rPr>
              <a:t>09 / 17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0E7C4A"/>
                </a:solidFill>
                <a:latin typeface="Consolas"/>
                <a:ea typeface="Microsoft YaHei"/>
              </a:rPr>
              <a:t>数据层 · 10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A2A"/>
                </a:solidFill>
                <a:latin typeface="Georgia"/>
                <a:ea typeface="SimSun"/>
              </a:rPr>
              <a:t>富途实时 + 冻结快照回放，两条腿走路</a:t>
            </a:r>
            <a:endParaRPr lang="en-US" sz="2400" noProof="1"/>
          </a:p>
        </p:txBody>
      </p:sp>
      <p:sp>
        <p:nvSpPr>
          <p:cNvPr id="4" name="hairline"/>
          <p:cNvSpPr/>
          <p:nvPr/>
        </p:nvSpPr>
        <p:spPr>
          <a:xfrm>
            <a:off x="812800" y="1524000"/>
            <a:ext cx="711200" cy="381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5" name="row1-panel"/>
          <p:cNvSpPr/>
          <p:nvPr/>
        </p:nvSpPr>
        <p:spPr>
          <a:xfrm>
            <a:off x="812800" y="17780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6" name="row1-tag"/>
          <p:cNvSpPr txBox="1"/>
          <p:nvPr/>
        </p:nvSpPr>
        <p:spPr>
          <a:xfrm>
            <a:off x="1066800" y="19939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01</a:t>
            </a:r>
            <a:endParaRPr lang="en-US" sz="2200" noProof="1"/>
          </a:p>
        </p:txBody>
      </p:sp>
      <p:sp>
        <p:nvSpPr>
          <p:cNvPr id="7" name="row1-body"/>
          <p:cNvSpPr txBox="1"/>
          <p:nvPr/>
        </p:nvSpPr>
        <p:spPr>
          <a:xfrm>
            <a:off x="1854200" y="18923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Futu OpenAPI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56 个 API、5 个市场、默认模拟盘；美股期权数据同样用富途（已拍板）</a:t>
            </a:r>
            <a:endParaRPr lang="en-US" sz="1250" noProof="1"/>
          </a:p>
        </p:txBody>
      </p:sp>
      <p:sp>
        <p:nvSpPr>
          <p:cNvPr id="8" name="row2-panel"/>
          <p:cNvSpPr/>
          <p:nvPr/>
        </p:nvSpPr>
        <p:spPr>
          <a:xfrm>
            <a:off x="812800" y="27432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9" name="row2-tag"/>
          <p:cNvSpPr txBox="1"/>
          <p:nvPr/>
        </p:nvSpPr>
        <p:spPr>
          <a:xfrm>
            <a:off x="1066800" y="29591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02</a:t>
            </a:r>
            <a:endParaRPr lang="en-US" sz="2200" noProof="1"/>
          </a:p>
        </p:txBody>
      </p:sp>
      <p:sp>
        <p:nvSpPr>
          <p:cNvPr id="10" name="row2-body"/>
          <p:cNvSpPr txBox="1"/>
          <p:nvPr/>
        </p:nvSpPr>
        <p:spPr>
          <a:xfrm>
            <a:off x="1854200" y="28575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ReplayGateway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同合同确定性回放；快照 SHA-256 身份 + 60 秒一致性窗口</a:t>
            </a:r>
            <a:endParaRPr lang="en-US" sz="1250" noProof="1"/>
          </a:p>
        </p:txBody>
      </p:sp>
      <p:sp>
        <p:nvSpPr>
          <p:cNvPr id="11" name="row3-panel"/>
          <p:cNvSpPr/>
          <p:nvPr/>
        </p:nvSpPr>
        <p:spPr>
          <a:xfrm>
            <a:off x="812800" y="37084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2" name="row3-tag"/>
          <p:cNvSpPr txBox="1"/>
          <p:nvPr/>
        </p:nvSpPr>
        <p:spPr>
          <a:xfrm>
            <a:off x="1066800" y="39243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03</a:t>
            </a:r>
            <a:endParaRPr lang="en-US" sz="2200" noProof="1"/>
          </a:p>
        </p:txBody>
      </p:sp>
      <p:sp>
        <p:nvSpPr>
          <p:cNvPr id="13" name="row3-body"/>
          <p:cNvSpPr txBox="1"/>
          <p:nvPr/>
        </p:nvSpPr>
        <p:spPr>
          <a:xfrm>
            <a:off x="1854200" y="38227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边界纪律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Agent 只有唯一粗粒度只读入口 refresh_decision_inputs，拿不到 SDK / Bash</a:t>
            </a:r>
            <a:endParaRPr lang="en-US" sz="1250" noProof="1"/>
          </a:p>
        </p:txBody>
      </p:sp>
      <p:sp>
        <p:nvSpPr>
          <p:cNvPr id="14" name="row4-panel"/>
          <p:cNvSpPr/>
          <p:nvPr/>
        </p:nvSpPr>
        <p:spPr>
          <a:xfrm>
            <a:off x="812800" y="46736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5" name="row4-tag"/>
          <p:cNvSpPr txBox="1"/>
          <p:nvPr/>
        </p:nvSpPr>
        <p:spPr>
          <a:xfrm>
            <a:off x="1066800" y="48895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04</a:t>
            </a:r>
            <a:endParaRPr lang="en-US" sz="2200" noProof="1"/>
          </a:p>
        </p:txBody>
      </p:sp>
      <p:sp>
        <p:nvSpPr>
          <p:cNvPr id="16" name="row4-body"/>
          <p:cNvSpPr txBox="1"/>
          <p:nvPr/>
        </p:nvSpPr>
        <p:spPr>
          <a:xfrm>
            <a:off x="1854200" y="47879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授权红线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富途数据禁止打包再分发；原始授权快照不入公开仓库</a:t>
            </a:r>
            <a:endParaRPr lang="en-US" sz="1250" noProof="1"/>
          </a:p>
        </p:txBody>
      </p:sp>
      <p:sp>
        <p:nvSpPr>
          <p:cNvPr id="17" name="quote-bar"/>
          <p:cNvSpPr/>
          <p:nvPr/>
        </p:nvSpPr>
        <p:spPr>
          <a:xfrm>
            <a:off x="812800" y="5791200"/>
            <a:ext cx="50800" cy="4572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18" name="quote"/>
          <p:cNvSpPr txBox="1"/>
          <p:nvPr/>
        </p:nvSpPr>
        <p:spPr>
          <a:xfrm>
            <a:off x="1016000" y="58166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演示永远不崩，是因为永远有回放这条腿。</a:t>
            </a:r>
            <a:endParaRPr lang="en-US" sz="1250" noProof="1"/>
          </a:p>
        </p:txBody>
      </p:sp>
      <p:sp>
        <p:nvSpPr>
          <p:cNvPr id="19" name="source"/>
          <p:cNvSpPr txBox="1"/>
          <p:nvPr/>
        </p:nvSpPr>
        <p:spPr>
          <a:xfrm>
            <a:off x="812800" y="63500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6B726C"/>
                </a:solidFill>
                <a:latin typeface="Consolas"/>
                <a:ea typeface="Microsoft YaHei"/>
              </a:rPr>
              <a:t>PROJECT_STATE.md §5 · docs/PRD.md §7</a:t>
            </a:r>
            <a:endParaRPr lang="en-US" sz="950" noProof="1"/>
          </a:p>
        </p:txBody>
      </p:sp>
      <p:sp>
        <p:nvSpPr>
          <p:cNvPr id="20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B726C"/>
                </a:solidFill>
                <a:latin typeface="Consolas"/>
                <a:ea typeface="Microsoft YaHei"/>
              </a:rPr>
              <a:t>10 / 17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0E7C4A"/>
                </a:solidFill>
                <a:latin typeface="Consolas"/>
                <a:ea typeface="Microsoft YaHei"/>
              </a:rPr>
              <a:t>技术路线 · 11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A2A"/>
                </a:solidFill>
                <a:latin typeface="Georgia"/>
                <a:ea typeface="SimSun"/>
              </a:rPr>
              <a:t>算数的从来不靠大模型</a:t>
            </a:r>
            <a:endParaRPr lang="en-US" sz="2400" noProof="1"/>
          </a:p>
        </p:txBody>
      </p:sp>
      <p:sp>
        <p:nvSpPr>
          <p:cNvPr id="4" name="hairline"/>
          <p:cNvSpPr/>
          <p:nvPr/>
        </p:nvSpPr>
        <p:spPr>
          <a:xfrm>
            <a:off x="812800" y="1524000"/>
            <a:ext cx="711200" cy="381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5" name="row1-panel"/>
          <p:cNvSpPr/>
          <p:nvPr/>
        </p:nvSpPr>
        <p:spPr>
          <a:xfrm>
            <a:off x="812800" y="17780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6" name="row1-tag"/>
          <p:cNvSpPr txBox="1"/>
          <p:nvPr/>
        </p:nvSpPr>
        <p:spPr>
          <a:xfrm>
            <a:off x="1066800" y="19939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01</a:t>
            </a:r>
            <a:endParaRPr lang="en-US" sz="2200" noProof="1"/>
          </a:p>
        </p:txBody>
      </p:sp>
      <p:sp>
        <p:nvSpPr>
          <p:cNvPr id="7" name="row1-body"/>
          <p:cNvSpPr txBox="1"/>
          <p:nvPr/>
        </p:nvSpPr>
        <p:spPr>
          <a:xfrm>
            <a:off x="1854200" y="18923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自研引擎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BS + 美式二叉树 + IV 二分 + bump-and-reprice Greeks；理论价与可成交成本分栏</a:t>
            </a:r>
            <a:endParaRPr lang="en-US" sz="1250" noProof="1"/>
          </a:p>
        </p:txBody>
      </p:sp>
      <p:sp>
        <p:nvSpPr>
          <p:cNvPr id="8" name="row2-panel"/>
          <p:cNvSpPr/>
          <p:nvPr/>
        </p:nvSpPr>
        <p:spPr>
          <a:xfrm>
            <a:off x="812800" y="27432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9" name="row2-tag"/>
          <p:cNvSpPr txBox="1"/>
          <p:nvPr/>
        </p:nvSpPr>
        <p:spPr>
          <a:xfrm>
            <a:off x="1066800" y="29591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02</a:t>
            </a:r>
            <a:endParaRPr lang="en-US" sz="2200" noProof="1"/>
          </a:p>
        </p:txBody>
      </p:sp>
      <p:sp>
        <p:nvSpPr>
          <p:cNvPr id="10" name="row2-body"/>
          <p:cNvSpPr txBox="1"/>
          <p:nvPr/>
        </p:nvSpPr>
        <p:spPr>
          <a:xfrm>
            <a:off x="1854200" y="28575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LLM 输出强约束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只解析为文本 + 枚举（stance/confidence）+ 证据引用，解析器强制执行</a:t>
            </a:r>
            <a:endParaRPr lang="en-US" sz="1250" noProof="1"/>
          </a:p>
        </p:txBody>
      </p:sp>
      <p:sp>
        <p:nvSpPr>
          <p:cNvPr id="11" name="row3-panel"/>
          <p:cNvSpPr/>
          <p:nvPr/>
        </p:nvSpPr>
        <p:spPr>
          <a:xfrm>
            <a:off x="812800" y="37084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2" name="row3-tag"/>
          <p:cNvSpPr txBox="1"/>
          <p:nvPr/>
        </p:nvSpPr>
        <p:spPr>
          <a:xfrm>
            <a:off x="1066800" y="39243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03</a:t>
            </a:r>
            <a:endParaRPr lang="en-US" sz="2200" noProof="1"/>
          </a:p>
        </p:txBody>
      </p:sp>
      <p:sp>
        <p:nvSpPr>
          <p:cNvPr id="13" name="row3-body"/>
          <p:cNvSpPr txBox="1"/>
          <p:nvPr/>
        </p:nvSpPr>
        <p:spPr>
          <a:xfrm>
            <a:off x="1854200" y="38227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证据白名单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LLM 编造的 evidence id 记入 dropped_refs 丢弃，不进入结论</a:t>
            </a:r>
            <a:endParaRPr lang="en-US" sz="1250" noProof="1"/>
          </a:p>
        </p:txBody>
      </p:sp>
      <p:sp>
        <p:nvSpPr>
          <p:cNvPr id="14" name="row4-panel"/>
          <p:cNvSpPr/>
          <p:nvPr/>
        </p:nvSpPr>
        <p:spPr>
          <a:xfrm>
            <a:off x="812800" y="46736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5" name="row4-tag"/>
          <p:cNvSpPr txBox="1"/>
          <p:nvPr/>
        </p:nvSpPr>
        <p:spPr>
          <a:xfrm>
            <a:off x="1066800" y="48895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04</a:t>
            </a:r>
            <a:endParaRPr lang="en-US" sz="2200" noProof="1"/>
          </a:p>
        </p:txBody>
      </p:sp>
      <p:sp>
        <p:nvSpPr>
          <p:cNvPr id="16" name="row4-body"/>
          <p:cNvSpPr txBox="1"/>
          <p:nvPr/>
        </p:nvSpPr>
        <p:spPr>
          <a:xfrm>
            <a:off x="1854200" y="47879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工程可信度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</a:t>
            </a: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340 个测试全绿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（199.6s）；审计链 82 条记录哈希连续</a:t>
            </a:r>
            <a:endParaRPr lang="en-US" sz="1250" noProof="1"/>
          </a:p>
        </p:txBody>
      </p:sp>
      <p:sp>
        <p:nvSpPr>
          <p:cNvPr id="17" name="quote-bar"/>
          <p:cNvSpPr/>
          <p:nvPr/>
        </p:nvSpPr>
        <p:spPr>
          <a:xfrm>
            <a:off x="812800" y="5791200"/>
            <a:ext cx="50800" cy="4572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18" name="quote"/>
          <p:cNvSpPr txBox="1"/>
          <p:nvPr/>
        </p:nvSpPr>
        <p:spPr>
          <a:xfrm>
            <a:off x="1016000" y="58166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大模型负责说话，代码负责算数，哈希链负责作证。</a:t>
            </a:r>
            <a:endParaRPr lang="en-US" sz="1250" noProof="1"/>
          </a:p>
        </p:txBody>
      </p:sp>
      <p:sp>
        <p:nvSpPr>
          <p:cNvPr id="19" name="source"/>
          <p:cNvSpPr txBox="1"/>
          <p:nvPr/>
        </p:nvSpPr>
        <p:spPr>
          <a:xfrm>
            <a:off x="812800" y="63500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6B726C"/>
                </a:solidFill>
                <a:latin typeface="Consolas"/>
                <a:ea typeface="Microsoft YaHei"/>
              </a:rPr>
              <a:t>PROJECT_STATE.md §11 · presentation/facts.md §0.5</a:t>
            </a:r>
            <a:endParaRPr lang="en-US" sz="950" noProof="1"/>
          </a:p>
        </p:txBody>
      </p:sp>
      <p:sp>
        <p:nvSpPr>
          <p:cNvPr id="20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B726C"/>
                </a:solidFill>
                <a:latin typeface="Consolas"/>
                <a:ea typeface="Microsoft YaHei"/>
              </a:rPr>
              <a:t>11 / 17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0E7C4A"/>
                </a:solidFill>
                <a:latin typeface="Consolas"/>
                <a:ea typeface="Microsoft YaHei"/>
              </a:rPr>
              <a:t>多 Agent 能力 · 12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A2A"/>
                </a:solidFill>
                <a:latin typeface="Georgia"/>
                <a:ea typeface="SimSun"/>
              </a:rPr>
              <a:t>十个 AI 角色吵了一架，共识还是「别买」</a:t>
            </a:r>
            <a:endParaRPr lang="en-US" sz="2400" noProof="1"/>
          </a:p>
        </p:txBody>
      </p:sp>
      <p:sp>
        <p:nvSpPr>
          <p:cNvPr id="4" name="hairline"/>
          <p:cNvSpPr/>
          <p:nvPr/>
        </p:nvSpPr>
        <p:spPr>
          <a:xfrm>
            <a:off x="812800" y="1524000"/>
            <a:ext cx="711200" cy="381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5" name="row1-panel"/>
          <p:cNvSpPr/>
          <p:nvPr/>
        </p:nvSpPr>
        <p:spPr>
          <a:xfrm>
            <a:off x="812800" y="17780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6" name="row1-tag"/>
          <p:cNvSpPr txBox="1"/>
          <p:nvPr/>
        </p:nvSpPr>
        <p:spPr>
          <a:xfrm>
            <a:off x="1066800" y="19939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01</a:t>
            </a:r>
            <a:endParaRPr lang="en-US" sz="2200" noProof="1"/>
          </a:p>
        </p:txBody>
      </p:sp>
      <p:sp>
        <p:nvSpPr>
          <p:cNvPr id="7" name="row1-body"/>
          <p:cNvSpPr txBox="1"/>
          <p:nvPr/>
        </p:nvSpPr>
        <p:spPr>
          <a:xfrm>
            <a:off x="1854200" y="18923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编排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首轮 9 个分析角色并行 + 主席挑最多 3 个真分歧；次轮只叫相关角色回辩</a:t>
            </a:r>
            <a:endParaRPr lang="en-US" sz="1250" noProof="1"/>
          </a:p>
        </p:txBody>
      </p:sp>
      <p:sp>
        <p:nvSpPr>
          <p:cNvPr id="8" name="row2-panel"/>
          <p:cNvSpPr/>
          <p:nvPr/>
        </p:nvSpPr>
        <p:spPr>
          <a:xfrm>
            <a:off x="812800" y="27432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9" name="row2-tag"/>
          <p:cNvSpPr txBox="1"/>
          <p:nvPr/>
        </p:nvSpPr>
        <p:spPr>
          <a:xfrm>
            <a:off x="1066800" y="29591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02</a:t>
            </a:r>
            <a:endParaRPr lang="en-US" sz="2200" noProof="1"/>
          </a:p>
        </p:txBody>
      </p:sp>
      <p:sp>
        <p:nvSpPr>
          <p:cNvPr id="10" name="row2-body"/>
          <p:cNvSpPr txBox="1"/>
          <p:nvPr/>
        </p:nvSpPr>
        <p:spPr>
          <a:xfrm>
            <a:off x="1854200" y="28575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真机数据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</a:t>
            </a: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67 秒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、38,838 tokens、共识 </a:t>
            </a: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oppose / high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、留下 3 个开放问题</a:t>
            </a:r>
            <a:endParaRPr lang="en-US" sz="1250" noProof="1"/>
          </a:p>
        </p:txBody>
      </p:sp>
      <p:sp>
        <p:nvSpPr>
          <p:cNvPr id="11" name="row3-panel"/>
          <p:cNvSpPr/>
          <p:nvPr/>
        </p:nvSpPr>
        <p:spPr>
          <a:xfrm>
            <a:off x="812800" y="37084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2" name="row3-tag"/>
          <p:cNvSpPr txBox="1"/>
          <p:nvPr/>
        </p:nvSpPr>
        <p:spPr>
          <a:xfrm>
            <a:off x="1066800" y="39243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03</a:t>
            </a:r>
            <a:endParaRPr lang="en-US" sz="2200" noProof="1"/>
          </a:p>
        </p:txBody>
      </p:sp>
      <p:sp>
        <p:nvSpPr>
          <p:cNvPr id="13" name="row3-body"/>
          <p:cNvSpPr txBox="1"/>
          <p:nvPr/>
        </p:nvSpPr>
        <p:spPr>
          <a:xfrm>
            <a:off x="1854200" y="38227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失败降级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无 key 离线回退 / 单角色失败隔离 / 主席失败确定性回退——Demo 不崩</a:t>
            </a:r>
            <a:endParaRPr lang="en-US" sz="1250" noProof="1"/>
          </a:p>
        </p:txBody>
      </p:sp>
      <p:sp>
        <p:nvSpPr>
          <p:cNvPr id="14" name="row4-panel"/>
          <p:cNvSpPr/>
          <p:nvPr/>
        </p:nvSpPr>
        <p:spPr>
          <a:xfrm>
            <a:off x="812800" y="46736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5" name="row4-tag"/>
          <p:cNvSpPr txBox="1"/>
          <p:nvPr/>
        </p:nvSpPr>
        <p:spPr>
          <a:xfrm>
            <a:off x="1066800" y="48895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04</a:t>
            </a:r>
            <a:endParaRPr lang="en-US" sz="2200" noProof="1"/>
          </a:p>
        </p:txBody>
      </p:sp>
      <p:sp>
        <p:nvSpPr>
          <p:cNvPr id="16" name="row4-body"/>
          <p:cNvSpPr txBox="1"/>
          <p:nvPr/>
        </p:nvSpPr>
        <p:spPr>
          <a:xfrm>
            <a:off x="1854200" y="47879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审计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16 条 agent_output + 1 条 debate_consensus 入哈希链，密钥脱敏</a:t>
            </a:r>
            <a:endParaRPr lang="en-US" sz="1250" noProof="1"/>
          </a:p>
        </p:txBody>
      </p:sp>
      <p:sp>
        <p:nvSpPr>
          <p:cNvPr id="17" name="quote-bar"/>
          <p:cNvSpPr/>
          <p:nvPr/>
        </p:nvSpPr>
        <p:spPr>
          <a:xfrm>
            <a:off x="812800" y="5791200"/>
            <a:ext cx="50800" cy="4572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18" name="quote"/>
          <p:cNvSpPr txBox="1"/>
          <p:nvPr/>
        </p:nvSpPr>
        <p:spPr>
          <a:xfrm>
            <a:off x="1016000" y="58166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辩论只补充文字研判，不改变引擎结论。</a:t>
            </a:r>
            <a:endParaRPr lang="en-US" sz="1250" noProof="1"/>
          </a:p>
        </p:txBody>
      </p:sp>
      <p:sp>
        <p:nvSpPr>
          <p:cNvPr id="19" name="source"/>
          <p:cNvSpPr txBox="1"/>
          <p:nvPr/>
        </p:nvSpPr>
        <p:spPr>
          <a:xfrm>
            <a:off x="812800" y="63500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6B726C"/>
                </a:solidFill>
                <a:latin typeface="Consolas"/>
                <a:ea typeface="Microsoft YaHei"/>
              </a:rPr>
              <a:t>docs/HISTORY.md §11 · presentation/facts.md §0.5</a:t>
            </a:r>
            <a:endParaRPr lang="en-US" sz="950" noProof="1"/>
          </a:p>
        </p:txBody>
      </p:sp>
      <p:sp>
        <p:nvSpPr>
          <p:cNvPr id="20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B726C"/>
                </a:solidFill>
                <a:latin typeface="Consolas"/>
                <a:ea typeface="Microsoft YaHei"/>
              </a:rPr>
              <a:t>12 / 17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0E7C4A"/>
                </a:solidFill>
                <a:latin typeface="Consolas"/>
                <a:ea typeface="Microsoft YaHei"/>
              </a:rPr>
              <a:t>编排层架构 · 13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A2A"/>
                </a:solidFill>
                <a:latin typeface="Georgia"/>
                <a:ea typeface="SimSun"/>
              </a:rPr>
              <a:t>我们的编排层，是 DeepSeek Harness 上的一个大号插件</a:t>
            </a:r>
            <a:endParaRPr lang="en-US" sz="2400" noProof="1"/>
          </a:p>
        </p:txBody>
      </p:sp>
      <p:sp>
        <p:nvSpPr>
          <p:cNvPr id="4" name="hairline"/>
          <p:cNvSpPr/>
          <p:nvPr/>
        </p:nvSpPr>
        <p:spPr>
          <a:xfrm>
            <a:off x="812800" y="1524000"/>
            <a:ext cx="711200" cy="381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5" name="row1-panel"/>
          <p:cNvSpPr/>
          <p:nvPr/>
        </p:nvSpPr>
        <p:spPr>
          <a:xfrm>
            <a:off x="812800" y="17780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6" name="row1-tag"/>
          <p:cNvSpPr txBox="1"/>
          <p:nvPr/>
        </p:nvSpPr>
        <p:spPr>
          <a:xfrm>
            <a:off x="1066800" y="19939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01</a:t>
            </a:r>
            <a:endParaRPr lang="en-US" sz="2200" noProof="1"/>
          </a:p>
        </p:txBody>
      </p:sp>
      <p:sp>
        <p:nvSpPr>
          <p:cNvPr id="7" name="row1-body"/>
          <p:cNvSpPr txBox="1"/>
          <p:nvPr/>
        </p:nvSpPr>
        <p:spPr>
          <a:xfrm>
            <a:off x="1854200" y="18923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三层架构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DSH 编排（工具 / 审批）→ 引擎契约（ui_server JSON API）→ Python 引擎（数字铁律）</a:t>
            </a:r>
            <a:endParaRPr lang="en-US" sz="1250" noProof="1"/>
          </a:p>
        </p:txBody>
      </p:sp>
      <p:sp>
        <p:nvSpPr>
          <p:cNvPr id="8" name="row2-panel"/>
          <p:cNvSpPr/>
          <p:nvPr/>
        </p:nvSpPr>
        <p:spPr>
          <a:xfrm>
            <a:off x="812800" y="27432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9" name="row2-tag"/>
          <p:cNvSpPr txBox="1"/>
          <p:nvPr/>
        </p:nvSpPr>
        <p:spPr>
          <a:xfrm>
            <a:off x="1066800" y="29591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02</a:t>
            </a:r>
            <a:endParaRPr lang="en-US" sz="2200" noProof="1"/>
          </a:p>
        </p:txBody>
      </p:sp>
      <p:sp>
        <p:nvSpPr>
          <p:cNvPr id="10" name="row2-body"/>
          <p:cNvSpPr txBox="1"/>
          <p:nvPr/>
        </p:nvSpPr>
        <p:spPr>
          <a:xfrm>
            <a:off x="1854200" y="28575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三个模型工具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goai_state / goai_run / goai_chat，返回摘要带快照哈希与门控</a:t>
            </a:r>
            <a:endParaRPr lang="en-US" sz="1250" noProof="1"/>
          </a:p>
        </p:txBody>
      </p:sp>
      <p:sp>
        <p:nvSpPr>
          <p:cNvPr id="11" name="row3-panel"/>
          <p:cNvSpPr/>
          <p:nvPr/>
        </p:nvSpPr>
        <p:spPr>
          <a:xfrm>
            <a:off x="812800" y="37084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2" name="row3-tag"/>
          <p:cNvSpPr txBox="1"/>
          <p:nvPr/>
        </p:nvSpPr>
        <p:spPr>
          <a:xfrm>
            <a:off x="1066800" y="39243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03</a:t>
            </a:r>
            <a:endParaRPr lang="en-US" sz="2200" noProof="1"/>
          </a:p>
        </p:txBody>
      </p:sp>
      <p:sp>
        <p:nvSpPr>
          <p:cNvPr id="13" name="row3-body"/>
          <p:cNvSpPr txBox="1"/>
          <p:nvPr/>
        </p:nvSpPr>
        <p:spPr>
          <a:xfrm>
            <a:off x="1854200" y="38227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机制亮点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可逆效应（插件停用自动回收引擎进程）/ 不可变版本事务化更新 / 输出提交式人机审批</a:t>
            </a:r>
            <a:endParaRPr lang="en-US" sz="1250" noProof="1"/>
          </a:p>
        </p:txBody>
      </p:sp>
      <p:sp>
        <p:nvSpPr>
          <p:cNvPr id="14" name="row4-panel"/>
          <p:cNvSpPr/>
          <p:nvPr/>
        </p:nvSpPr>
        <p:spPr>
          <a:xfrm>
            <a:off x="812800" y="46736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5" name="row4-tag"/>
          <p:cNvSpPr txBox="1"/>
          <p:nvPr/>
        </p:nvSpPr>
        <p:spPr>
          <a:xfrm>
            <a:off x="1066800" y="48895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04</a:t>
            </a:r>
            <a:endParaRPr lang="en-US" sz="2200" noProof="1"/>
          </a:p>
        </p:txBody>
      </p:sp>
      <p:sp>
        <p:nvSpPr>
          <p:cNvPr id="16" name="row4-body"/>
          <p:cNvSpPr txBox="1"/>
          <p:nvPr/>
        </p:nvSpPr>
        <p:spPr>
          <a:xfrm>
            <a:off x="1854200" y="47879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开放复用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插件模板 + agent preset（goai-options）+ 9 个 skill，全部开源</a:t>
            </a:r>
            <a:endParaRPr lang="en-US" sz="1250" noProof="1"/>
          </a:p>
        </p:txBody>
      </p:sp>
      <p:sp>
        <p:nvSpPr>
          <p:cNvPr id="17" name="quote-bar"/>
          <p:cNvSpPr/>
          <p:nvPr/>
        </p:nvSpPr>
        <p:spPr>
          <a:xfrm>
            <a:off x="812800" y="5791200"/>
            <a:ext cx="50800" cy="4572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18" name="quote"/>
          <p:cNvSpPr txBox="1"/>
          <p:nvPr/>
        </p:nvSpPr>
        <p:spPr>
          <a:xfrm>
            <a:off x="1016000" y="58166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项目本身即一个可复用的「大号金融插件」。</a:t>
            </a:r>
            <a:endParaRPr lang="en-US" sz="1250" noProof="1"/>
          </a:p>
        </p:txBody>
      </p:sp>
      <p:sp>
        <p:nvSpPr>
          <p:cNvPr id="19" name="source"/>
          <p:cNvSpPr txBox="1"/>
          <p:nvPr/>
        </p:nvSpPr>
        <p:spPr>
          <a:xfrm>
            <a:off x="812800" y="63500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6B726C"/>
                </a:solidFill>
                <a:latin typeface="Consolas"/>
                <a:ea typeface="Microsoft YaHei"/>
              </a:rPr>
              <a:t>docs/DSH_ARCHITECTURE.md · harness/ · github.com/Alyosha28/GOAi_competition</a:t>
            </a:r>
            <a:endParaRPr lang="en-US" sz="950" noProof="1"/>
          </a:p>
        </p:txBody>
      </p:sp>
      <p:sp>
        <p:nvSpPr>
          <p:cNvPr id="20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B726C"/>
                </a:solidFill>
                <a:latin typeface="Consolas"/>
                <a:ea typeface="Microsoft YaHei"/>
              </a:rPr>
              <a:t>13 / 17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0E7C4A"/>
                </a:solidFill>
                <a:latin typeface="Consolas"/>
                <a:ea typeface="Microsoft YaHei"/>
              </a:rPr>
              <a:t>安全与合规 · 14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A2A"/>
                </a:solidFill>
                <a:latin typeface="Georgia"/>
                <a:ea typeface="SimSun"/>
              </a:rPr>
              <a:t>审计、脱敏、人机确认——合规不是 PPT 里的一句话</a:t>
            </a:r>
            <a:endParaRPr lang="en-US" sz="2400" noProof="1"/>
          </a:p>
        </p:txBody>
      </p:sp>
      <p:sp>
        <p:nvSpPr>
          <p:cNvPr id="4" name="hairline"/>
          <p:cNvSpPr/>
          <p:nvPr/>
        </p:nvSpPr>
        <p:spPr>
          <a:xfrm>
            <a:off x="812800" y="1524000"/>
            <a:ext cx="711200" cy="381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5" name="row1-panel"/>
          <p:cNvSpPr/>
          <p:nvPr/>
        </p:nvSpPr>
        <p:spPr>
          <a:xfrm>
            <a:off x="812800" y="17780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6" name="row1-tag"/>
          <p:cNvSpPr txBox="1"/>
          <p:nvPr/>
        </p:nvSpPr>
        <p:spPr>
          <a:xfrm>
            <a:off x="1066800" y="19939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01</a:t>
            </a:r>
            <a:endParaRPr lang="en-US" sz="2200" noProof="1"/>
          </a:p>
        </p:txBody>
      </p:sp>
      <p:sp>
        <p:nvSpPr>
          <p:cNvPr id="7" name="row1-body"/>
          <p:cNvSpPr txBox="1"/>
          <p:nvPr/>
        </p:nvSpPr>
        <p:spPr>
          <a:xfrm>
            <a:off x="1854200" y="18923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非投资建议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研究 / 教育工具，不自动交易；比赛版仅 Futu 模拟盘，实盘工具硬阻断</a:t>
            </a:r>
            <a:endParaRPr lang="en-US" sz="1250" noProof="1"/>
          </a:p>
        </p:txBody>
      </p:sp>
      <p:sp>
        <p:nvSpPr>
          <p:cNvPr id="8" name="row2-panel"/>
          <p:cNvSpPr/>
          <p:nvPr/>
        </p:nvSpPr>
        <p:spPr>
          <a:xfrm>
            <a:off x="812800" y="27432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9" name="row2-tag"/>
          <p:cNvSpPr txBox="1"/>
          <p:nvPr/>
        </p:nvSpPr>
        <p:spPr>
          <a:xfrm>
            <a:off x="1066800" y="29591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02</a:t>
            </a:r>
            <a:endParaRPr lang="en-US" sz="2200" noProof="1"/>
          </a:p>
        </p:txBody>
      </p:sp>
      <p:sp>
        <p:nvSpPr>
          <p:cNvPr id="10" name="row2-body"/>
          <p:cNvSpPr txBox="1"/>
          <p:nvPr/>
        </p:nvSpPr>
        <p:spPr>
          <a:xfrm>
            <a:off x="1854200" y="28575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人机确认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任何模拟订单 = 用户独立确认 + 提交前复核；参数变化即失效</a:t>
            </a:r>
            <a:endParaRPr lang="en-US" sz="1250" noProof="1"/>
          </a:p>
        </p:txBody>
      </p:sp>
      <p:sp>
        <p:nvSpPr>
          <p:cNvPr id="11" name="row3-panel"/>
          <p:cNvSpPr/>
          <p:nvPr/>
        </p:nvSpPr>
        <p:spPr>
          <a:xfrm>
            <a:off x="812800" y="37084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2" name="row3-tag"/>
          <p:cNvSpPr txBox="1"/>
          <p:nvPr/>
        </p:nvSpPr>
        <p:spPr>
          <a:xfrm>
            <a:off x="1066800" y="39243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03</a:t>
            </a:r>
            <a:endParaRPr lang="en-US" sz="2200" noProof="1"/>
          </a:p>
        </p:txBody>
      </p:sp>
      <p:sp>
        <p:nvSpPr>
          <p:cNvPr id="13" name="row3-body"/>
          <p:cNvSpPr txBox="1"/>
          <p:nvPr/>
        </p:nvSpPr>
        <p:spPr>
          <a:xfrm>
            <a:off x="1854200" y="38227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审计链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82 条记录、SHA-256 连续、密钥片段脱敏 [REDACTED]</a:t>
            </a:r>
            <a:endParaRPr lang="en-US" sz="1250" noProof="1"/>
          </a:p>
        </p:txBody>
      </p:sp>
      <p:sp>
        <p:nvSpPr>
          <p:cNvPr id="14" name="row4-panel"/>
          <p:cNvSpPr/>
          <p:nvPr/>
        </p:nvSpPr>
        <p:spPr>
          <a:xfrm>
            <a:off x="812800" y="46736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5" name="row4-tag"/>
          <p:cNvSpPr txBox="1"/>
          <p:nvPr/>
        </p:nvSpPr>
        <p:spPr>
          <a:xfrm>
            <a:off x="1066800" y="48895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04</a:t>
            </a:r>
            <a:endParaRPr lang="en-US" sz="2200" noProof="1"/>
          </a:p>
        </p:txBody>
      </p:sp>
      <p:sp>
        <p:nvSpPr>
          <p:cNvPr id="16" name="row4-body"/>
          <p:cNvSpPr txBox="1"/>
          <p:nvPr/>
        </p:nvSpPr>
        <p:spPr>
          <a:xfrm>
            <a:off x="1854200" y="47879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边界声明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不替代金融机构、券商、理财顾问的专业判断（赛事规则 Q11 / §9.3）</a:t>
            </a:r>
            <a:endParaRPr lang="en-US" sz="1250" noProof="1"/>
          </a:p>
        </p:txBody>
      </p:sp>
      <p:sp>
        <p:nvSpPr>
          <p:cNvPr id="17" name="quote-bar"/>
          <p:cNvSpPr/>
          <p:nvPr/>
        </p:nvSpPr>
        <p:spPr>
          <a:xfrm>
            <a:off x="812800" y="5791200"/>
            <a:ext cx="50800" cy="4572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18" name="quote"/>
          <p:cNvSpPr txBox="1"/>
          <p:nvPr/>
        </p:nvSpPr>
        <p:spPr>
          <a:xfrm>
            <a:off x="1016000" y="58166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让用户始终知道：系统知道什么、假设什么、缺什么、能做什么。</a:t>
            </a:r>
            <a:endParaRPr lang="en-US" sz="1250" noProof="1"/>
          </a:p>
        </p:txBody>
      </p:sp>
      <p:sp>
        <p:nvSpPr>
          <p:cNvPr id="19" name="source"/>
          <p:cNvSpPr txBox="1"/>
          <p:nvPr/>
        </p:nvSpPr>
        <p:spPr>
          <a:xfrm>
            <a:off x="812800" y="63500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6B726C"/>
                </a:solidFill>
                <a:latin typeface="Consolas"/>
                <a:ea typeface="Microsoft YaHei"/>
              </a:rPr>
              <a:t>docs/PRD.md §7 · 规则手册 §9.3 / FAQ Q11</a:t>
            </a:r>
            <a:endParaRPr lang="en-US" sz="950" noProof="1"/>
          </a:p>
        </p:txBody>
      </p:sp>
      <p:sp>
        <p:nvSpPr>
          <p:cNvPr id="20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B726C"/>
                </a:solidFill>
                <a:latin typeface="Consolas"/>
                <a:ea typeface="Microsoft YaHei"/>
              </a:rPr>
              <a:t>14 / 17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0E7C4A"/>
                </a:solidFill>
                <a:latin typeface="Consolas"/>
                <a:ea typeface="Microsoft YaHei"/>
              </a:rPr>
              <a:t>竞品与差异 · 15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A2A"/>
                </a:solidFill>
                <a:latin typeface="Georgia"/>
                <a:ea typeface="SimSun"/>
              </a:rPr>
              <a:t>比我们数据强的没我们的流程，比我们概念近的没我们的诚实</a:t>
            </a:r>
            <a:endParaRPr lang="en-US" sz="2400" noProof="1"/>
          </a:p>
        </p:txBody>
      </p:sp>
      <p:sp>
        <p:nvSpPr>
          <p:cNvPr id="4" name="hairline"/>
          <p:cNvSpPr/>
          <p:nvPr/>
        </p:nvSpPr>
        <p:spPr>
          <a:xfrm>
            <a:off x="812800" y="1524000"/>
            <a:ext cx="711200" cy="381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5" name="row1-panel"/>
          <p:cNvSpPr/>
          <p:nvPr/>
        </p:nvSpPr>
        <p:spPr>
          <a:xfrm>
            <a:off x="812800" y="17780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6" name="row1-tag"/>
          <p:cNvSpPr txBox="1"/>
          <p:nvPr/>
        </p:nvSpPr>
        <p:spPr>
          <a:xfrm>
            <a:off x="1066800" y="19939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01</a:t>
            </a:r>
            <a:endParaRPr lang="en-US" sz="2200" noProof="1"/>
          </a:p>
        </p:txBody>
      </p:sp>
      <p:sp>
        <p:nvSpPr>
          <p:cNvPr id="7" name="row1-body"/>
          <p:cNvSpPr txBox="1"/>
          <p:nvPr/>
        </p:nvSpPr>
        <p:spPr>
          <a:xfrm>
            <a:off x="1854200" y="18923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富途 / 老虎 / IBKR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数据强，缺端到端研究流程与决策解释</a:t>
            </a:r>
            <a:endParaRPr lang="en-US" sz="1250" noProof="1"/>
          </a:p>
        </p:txBody>
      </p:sp>
      <p:sp>
        <p:nvSpPr>
          <p:cNvPr id="8" name="row2-panel"/>
          <p:cNvSpPr/>
          <p:nvPr/>
        </p:nvSpPr>
        <p:spPr>
          <a:xfrm>
            <a:off x="812800" y="27432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9" name="row2-tag"/>
          <p:cNvSpPr txBox="1"/>
          <p:nvPr/>
        </p:nvSpPr>
        <p:spPr>
          <a:xfrm>
            <a:off x="1066800" y="29591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02</a:t>
            </a:r>
            <a:endParaRPr lang="en-US" sz="2200" noProof="1"/>
          </a:p>
        </p:txBody>
      </p:sp>
      <p:sp>
        <p:nvSpPr>
          <p:cNvPr id="10" name="row2-body"/>
          <p:cNvSpPr txBox="1"/>
          <p:nvPr/>
        </p:nvSpPr>
        <p:spPr>
          <a:xfrm>
            <a:off x="1854200" y="28575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moomoo Engine / Option Alpha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异动预警与规则自动化强，不做完整决策与账户约束求解</a:t>
            </a:r>
            <a:endParaRPr lang="en-US" sz="1250" noProof="1"/>
          </a:p>
        </p:txBody>
      </p:sp>
      <p:sp>
        <p:nvSpPr>
          <p:cNvPr id="11" name="row3-panel"/>
          <p:cNvSpPr/>
          <p:nvPr/>
        </p:nvSpPr>
        <p:spPr>
          <a:xfrm>
            <a:off x="812800" y="37084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2" name="row3-tag"/>
          <p:cNvSpPr txBox="1"/>
          <p:nvPr/>
        </p:nvSpPr>
        <p:spPr>
          <a:xfrm>
            <a:off x="1066800" y="39243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03</a:t>
            </a:r>
            <a:endParaRPr lang="en-US" sz="2200" noProof="1"/>
          </a:p>
        </p:txBody>
      </p:sp>
      <p:sp>
        <p:nvSpPr>
          <p:cNvPr id="13" name="row3-body"/>
          <p:cNvSpPr txBox="1"/>
          <p:nvPr/>
        </p:nvSpPr>
        <p:spPr>
          <a:xfrm>
            <a:off x="1854200" y="38227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moontower.ai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观点→期权表达，概念最接近；但以选股表达为主，不落账户与审计闭环</a:t>
            </a:r>
            <a:endParaRPr lang="en-US" sz="1250" noProof="1"/>
          </a:p>
        </p:txBody>
      </p:sp>
      <p:sp>
        <p:nvSpPr>
          <p:cNvPr id="14" name="row4-panel"/>
          <p:cNvSpPr/>
          <p:nvPr/>
        </p:nvSpPr>
        <p:spPr>
          <a:xfrm>
            <a:off x="812800" y="46736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5" name="row4-tag"/>
          <p:cNvSpPr txBox="1"/>
          <p:nvPr/>
        </p:nvSpPr>
        <p:spPr>
          <a:xfrm>
            <a:off x="1066800" y="48895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04</a:t>
            </a:r>
            <a:endParaRPr lang="en-US" sz="2200" noProof="1"/>
          </a:p>
        </p:txBody>
      </p:sp>
      <p:sp>
        <p:nvSpPr>
          <p:cNvPr id="16" name="row4-body"/>
          <p:cNvSpPr txBox="1"/>
          <p:nvPr/>
        </p:nvSpPr>
        <p:spPr>
          <a:xfrm>
            <a:off x="1854200" y="47879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我们的增量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对话场景→账户约束求解 / 流动性评分+预警 / IV crush 模块 / 规则差异显性化 / 审计溯源</a:t>
            </a:r>
            <a:endParaRPr lang="en-US" sz="1250" noProof="1"/>
          </a:p>
        </p:txBody>
      </p:sp>
      <p:sp>
        <p:nvSpPr>
          <p:cNvPr id="17" name="quote-bar"/>
          <p:cNvSpPr/>
          <p:nvPr/>
        </p:nvSpPr>
        <p:spPr>
          <a:xfrm>
            <a:off x="812800" y="5791200"/>
            <a:ext cx="50800" cy="4572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18" name="quote"/>
          <p:cNvSpPr txBox="1"/>
          <p:nvPr/>
        </p:nvSpPr>
        <p:spPr>
          <a:xfrm>
            <a:off x="1016000" y="58166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护城河 = 完整研究流程 + 敢说 NO_TRADE + 全链路审计。</a:t>
            </a:r>
            <a:endParaRPr lang="en-US" sz="1250" noProof="1"/>
          </a:p>
        </p:txBody>
      </p:sp>
      <p:sp>
        <p:nvSpPr>
          <p:cNvPr id="19" name="source"/>
          <p:cNvSpPr txBox="1"/>
          <p:nvPr/>
        </p:nvSpPr>
        <p:spPr>
          <a:xfrm>
            <a:off x="812800" y="63500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6B726C"/>
                </a:solidFill>
                <a:latin typeface="Consolas"/>
                <a:ea typeface="Microsoft YaHei"/>
              </a:rPr>
              <a:t>research/01-market-landscape.md · PROJECT_STATE.md §3</a:t>
            </a:r>
            <a:endParaRPr lang="en-US" sz="950" noProof="1"/>
          </a:p>
        </p:txBody>
      </p:sp>
      <p:sp>
        <p:nvSpPr>
          <p:cNvPr id="20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B726C"/>
                </a:solidFill>
                <a:latin typeface="Consolas"/>
                <a:ea typeface="Microsoft YaHei"/>
              </a:rPr>
              <a:t>15 / 17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0E7C4A"/>
                </a:solidFill>
                <a:latin typeface="Consolas"/>
                <a:ea typeface="Microsoft YaHei"/>
              </a:rPr>
              <a:t>团队与路线 · 16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A2A"/>
                </a:solidFill>
                <a:latin typeface="Georgia"/>
                <a:ea typeface="SimSun"/>
              </a:rPr>
              <a:t>三人小队，和一个诚实到能劝你别买的系统</a:t>
            </a:r>
            <a:endParaRPr lang="en-US" sz="2400" noProof="1"/>
          </a:p>
        </p:txBody>
      </p:sp>
      <p:sp>
        <p:nvSpPr>
          <p:cNvPr id="4" name="hairline"/>
          <p:cNvSpPr/>
          <p:nvPr/>
        </p:nvSpPr>
        <p:spPr>
          <a:xfrm>
            <a:off x="812800" y="1524000"/>
            <a:ext cx="711200" cy="381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5" name="row1-panel"/>
          <p:cNvSpPr/>
          <p:nvPr/>
        </p:nvSpPr>
        <p:spPr>
          <a:xfrm>
            <a:off x="812800" y="17780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6" name="row1-tag"/>
          <p:cNvSpPr txBox="1"/>
          <p:nvPr/>
        </p:nvSpPr>
        <p:spPr>
          <a:xfrm>
            <a:off x="1066800" y="19939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01</a:t>
            </a:r>
            <a:endParaRPr lang="en-US" sz="2200" noProof="1"/>
          </a:p>
        </p:txBody>
      </p:sp>
      <p:sp>
        <p:nvSpPr>
          <p:cNvPr id="7" name="row1-body"/>
          <p:cNvSpPr txBox="1"/>
          <p:nvPr/>
        </p:nvSpPr>
        <p:spPr>
          <a:xfrm>
            <a:off x="1854200" y="18923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队伍 Mogen Xdengly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黄显卓（队长）· 李浩 · 陈传任</a:t>
            </a:r>
            <a:endParaRPr lang="en-US" sz="1250" noProof="1"/>
          </a:p>
        </p:txBody>
      </p:sp>
      <p:sp>
        <p:nvSpPr>
          <p:cNvPr id="8" name="row2-panel"/>
          <p:cNvSpPr/>
          <p:nvPr/>
        </p:nvSpPr>
        <p:spPr>
          <a:xfrm>
            <a:off x="812800" y="27432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9" name="row2-tag"/>
          <p:cNvSpPr txBox="1"/>
          <p:nvPr/>
        </p:nvSpPr>
        <p:spPr>
          <a:xfrm>
            <a:off x="1066800" y="29591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02</a:t>
            </a:r>
            <a:endParaRPr lang="en-US" sz="2200" noProof="1"/>
          </a:p>
        </p:txBody>
      </p:sp>
      <p:sp>
        <p:nvSpPr>
          <p:cNvPr id="10" name="row2-body"/>
          <p:cNvSpPr txBox="1"/>
          <p:nvPr/>
        </p:nvSpPr>
        <p:spPr>
          <a:xfrm>
            <a:off x="1854200" y="28575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分工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Agent 架构与数据层 / 期权策略与市场知识 / 合规审计与安全</a:t>
            </a:r>
            <a:endParaRPr lang="en-US" sz="1250" noProof="1"/>
          </a:p>
        </p:txBody>
      </p:sp>
      <p:sp>
        <p:nvSpPr>
          <p:cNvPr id="11" name="row3-panel"/>
          <p:cNvSpPr/>
          <p:nvPr/>
        </p:nvSpPr>
        <p:spPr>
          <a:xfrm>
            <a:off x="812800" y="37084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2" name="row3-tag"/>
          <p:cNvSpPr txBox="1"/>
          <p:nvPr/>
        </p:nvSpPr>
        <p:spPr>
          <a:xfrm>
            <a:off x="1066800" y="39243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03</a:t>
            </a:r>
            <a:endParaRPr lang="en-US" sz="2200" noProof="1"/>
          </a:p>
        </p:txBody>
      </p:sp>
      <p:sp>
        <p:nvSpPr>
          <p:cNvPr id="13" name="row3-body"/>
          <p:cNvSpPr txBox="1"/>
          <p:nvPr/>
        </p:nvSpPr>
        <p:spPr>
          <a:xfrm>
            <a:off x="1854200" y="38227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路线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初赛 8.16（方案 + 简介 + 证据）→ 复赛（Live 行情 + 模拟确认闭环 P0c）→ 决赛（杭州现场 Demo）</a:t>
            </a:r>
            <a:endParaRPr lang="en-US" sz="1250" noProof="1"/>
          </a:p>
        </p:txBody>
      </p:sp>
      <p:sp>
        <p:nvSpPr>
          <p:cNvPr id="14" name="row4-panel"/>
          <p:cNvSpPr/>
          <p:nvPr/>
        </p:nvSpPr>
        <p:spPr>
          <a:xfrm>
            <a:off x="812800" y="46736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5" name="row4-tag"/>
          <p:cNvSpPr txBox="1"/>
          <p:nvPr/>
        </p:nvSpPr>
        <p:spPr>
          <a:xfrm>
            <a:off x="1066800" y="48895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04</a:t>
            </a:r>
            <a:endParaRPr lang="en-US" sz="2200" noProof="1"/>
          </a:p>
        </p:txBody>
      </p:sp>
      <p:sp>
        <p:nvSpPr>
          <p:cNvPr id="16" name="row4-body"/>
          <p:cNvSpPr txBox="1"/>
          <p:nvPr/>
        </p:nvSpPr>
        <p:spPr>
          <a:xfrm>
            <a:off x="1854200" y="47879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进度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管线 / 终端 / 辩论 / DSH 编排层已真机跑通；340 测试全绿；仓库已公开</a:t>
            </a:r>
            <a:endParaRPr lang="en-US" sz="1250" noProof="1"/>
          </a:p>
        </p:txBody>
      </p:sp>
      <p:sp>
        <p:nvSpPr>
          <p:cNvPr id="17" name="quote-bar"/>
          <p:cNvSpPr/>
          <p:nvPr/>
        </p:nvSpPr>
        <p:spPr>
          <a:xfrm>
            <a:off x="812800" y="5791200"/>
            <a:ext cx="50800" cy="4572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18" name="quote"/>
          <p:cNvSpPr txBox="1"/>
          <p:nvPr/>
        </p:nvSpPr>
        <p:spPr>
          <a:xfrm>
            <a:off x="1016000" y="58166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8.16 初赛提交 · 公开仓库 github.com/Alyosha28/GOAi_competition</a:t>
            </a:r>
            <a:endParaRPr lang="en-US" sz="1250" noProof="1"/>
          </a:p>
        </p:txBody>
      </p:sp>
      <p:sp>
        <p:nvSpPr>
          <p:cNvPr id="19" name="source"/>
          <p:cNvSpPr txBox="1"/>
          <p:nvPr/>
        </p:nvSpPr>
        <p:spPr>
          <a:xfrm>
            <a:off x="812800" y="63500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6B726C"/>
                </a:solidFill>
                <a:latin typeface="Consolas"/>
                <a:ea typeface="Microsoft YaHei"/>
              </a:rPr>
              <a:t>PROJECT_STATE.md §1 · §6 · §7</a:t>
            </a:r>
            <a:endParaRPr lang="en-US" sz="950" noProof="1"/>
          </a:p>
        </p:txBody>
      </p:sp>
      <p:sp>
        <p:nvSpPr>
          <p:cNvPr id="20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B726C"/>
                </a:solidFill>
                <a:latin typeface="Consolas"/>
                <a:ea typeface="Microsoft YaHei"/>
              </a:rPr>
              <a:t>16 / 17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0E7C4A"/>
                </a:solidFill>
                <a:latin typeface="Consolas"/>
                <a:ea typeface="Microsoft YaHei"/>
              </a:rPr>
              <a:t>结语 · 17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A2A"/>
                </a:solidFill>
                <a:latin typeface="Georgia"/>
                <a:ea typeface="SimSun"/>
              </a:rPr>
              <a:t>一个敢劝你别买的工具，才是能陪你长期做决策的工具</a:t>
            </a:r>
            <a:endParaRPr lang="en-US" sz="2400" noProof="1"/>
          </a:p>
        </p:txBody>
      </p:sp>
      <p:sp>
        <p:nvSpPr>
          <p:cNvPr id="4" name="hairline"/>
          <p:cNvSpPr/>
          <p:nvPr/>
        </p:nvSpPr>
        <p:spPr>
          <a:xfrm>
            <a:off x="812800" y="1524000"/>
            <a:ext cx="711200" cy="381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5" name="row1-panel"/>
          <p:cNvSpPr/>
          <p:nvPr/>
        </p:nvSpPr>
        <p:spPr>
          <a:xfrm>
            <a:off x="812800" y="17780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6" name="row1-tag"/>
          <p:cNvSpPr txBox="1"/>
          <p:nvPr/>
        </p:nvSpPr>
        <p:spPr>
          <a:xfrm>
            <a:off x="1066800" y="19939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01</a:t>
            </a:r>
            <a:endParaRPr lang="en-US" sz="2200" noProof="1"/>
          </a:p>
        </p:txBody>
      </p:sp>
      <p:sp>
        <p:nvSpPr>
          <p:cNvPr id="7" name="row1-body"/>
          <p:cNvSpPr txBox="1"/>
          <p:nvPr/>
        </p:nvSpPr>
        <p:spPr>
          <a:xfrm>
            <a:off x="1854200" y="18923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北极星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不是下单量，是「用户完成一次可核验、必要时敢于不交易的决策」</a:t>
            </a:r>
            <a:endParaRPr lang="en-US" sz="1250" noProof="1"/>
          </a:p>
        </p:txBody>
      </p:sp>
      <p:sp>
        <p:nvSpPr>
          <p:cNvPr id="8" name="row2-panel"/>
          <p:cNvSpPr/>
          <p:nvPr/>
        </p:nvSpPr>
        <p:spPr>
          <a:xfrm>
            <a:off x="812800" y="27432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9" name="row2-tag"/>
          <p:cNvSpPr txBox="1"/>
          <p:nvPr/>
        </p:nvSpPr>
        <p:spPr>
          <a:xfrm>
            <a:off x="1066800" y="29591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02</a:t>
            </a:r>
            <a:endParaRPr lang="en-US" sz="2200" noProof="1"/>
          </a:p>
        </p:txBody>
      </p:sp>
      <p:sp>
        <p:nvSpPr>
          <p:cNvPr id="10" name="row2-body"/>
          <p:cNvSpPr txBox="1"/>
          <p:nvPr/>
        </p:nvSpPr>
        <p:spPr>
          <a:xfrm>
            <a:off x="1854200" y="28575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坦白一件事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Live 行情尚未接入，今天结论跑在冻结快照上——快照上都敢说 NO_TRADE，接上实时数据后，评委信</a:t>
            </a:r>
            <a:endParaRPr lang="en-US" sz="1250" noProof="1"/>
          </a:p>
        </p:txBody>
      </p:sp>
      <p:sp>
        <p:nvSpPr>
          <p:cNvPr id="11" name="row3-panel"/>
          <p:cNvSpPr/>
          <p:nvPr/>
        </p:nvSpPr>
        <p:spPr>
          <a:xfrm>
            <a:off x="812800" y="37084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2" name="row3-tag"/>
          <p:cNvSpPr txBox="1"/>
          <p:nvPr/>
        </p:nvSpPr>
        <p:spPr>
          <a:xfrm>
            <a:off x="1066800" y="39243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03</a:t>
            </a:r>
            <a:endParaRPr lang="en-US" sz="2200" noProof="1"/>
          </a:p>
        </p:txBody>
      </p:sp>
      <p:sp>
        <p:nvSpPr>
          <p:cNvPr id="13" name="row3-body"/>
          <p:cNvSpPr txBox="1"/>
          <p:nvPr/>
        </p:nvSpPr>
        <p:spPr>
          <a:xfrm>
            <a:off x="1854200" y="38227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证据随材料提交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截图 / 决策卡 / 审计链 / 340 测试，见 deliverables/evidence/</a:t>
            </a:r>
            <a:endParaRPr lang="en-US" sz="1250" noProof="1"/>
          </a:p>
        </p:txBody>
      </p:sp>
      <p:sp>
        <p:nvSpPr>
          <p:cNvPr id="14" name="row4-panel"/>
          <p:cNvSpPr/>
          <p:nvPr/>
        </p:nvSpPr>
        <p:spPr>
          <a:xfrm>
            <a:off x="812800" y="46736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5" name="row4-tag"/>
          <p:cNvSpPr txBox="1"/>
          <p:nvPr/>
        </p:nvSpPr>
        <p:spPr>
          <a:xfrm>
            <a:off x="1066800" y="48895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04</a:t>
            </a:r>
            <a:endParaRPr lang="en-US" sz="2200" noProof="1"/>
          </a:p>
        </p:txBody>
      </p:sp>
      <p:sp>
        <p:nvSpPr>
          <p:cNvPr id="16" name="row4-body"/>
          <p:cNvSpPr txBox="1"/>
          <p:nvPr/>
        </p:nvSpPr>
        <p:spPr>
          <a:xfrm>
            <a:off x="1854200" y="47879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下一站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复赛：Live 行情接入 + READY_FOR_CONFIRMATION 模拟确认闭环（DSH approval）</a:t>
            </a:r>
            <a:endParaRPr lang="en-US" sz="1250" noProof="1"/>
          </a:p>
        </p:txBody>
      </p:sp>
      <p:sp>
        <p:nvSpPr>
          <p:cNvPr id="17" name="quote-bar"/>
          <p:cNvSpPr/>
          <p:nvPr/>
        </p:nvSpPr>
        <p:spPr>
          <a:xfrm>
            <a:off x="812800" y="5791200"/>
            <a:ext cx="50800" cy="4572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18" name="quote"/>
          <p:cNvSpPr txBox="1"/>
          <p:nvPr/>
        </p:nvSpPr>
        <p:spPr>
          <a:xfrm>
            <a:off x="1016000" y="58166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诚实不是我们的卖点之一，诚实就是产品本身。</a:t>
            </a:r>
            <a:endParaRPr lang="en-US" sz="1250" noProof="1"/>
          </a:p>
        </p:txBody>
      </p:sp>
      <p:sp>
        <p:nvSpPr>
          <p:cNvPr id="19" name="footer"/>
          <p:cNvSpPr txBox="1"/>
          <p:nvPr/>
        </p:nvSpPr>
        <p:spPr>
          <a:xfrm>
            <a:off x="812800" y="63500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6B726C"/>
                </a:solidFill>
                <a:latin typeface="Consolas"/>
                <a:ea typeface="Microsoft YaHei"/>
              </a:rPr>
              <a:t>初赛提交 2026-08-16 · github.com/Alyosha28/GOAi_competition · 队伍 Mogen Xdengly</a:t>
            </a:r>
            <a:endParaRPr lang="en-US" sz="950" noProof="1"/>
          </a:p>
        </p:txBody>
      </p:sp>
      <p:sp>
        <p:nvSpPr>
          <p:cNvPr id="20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B726C"/>
                </a:solidFill>
                <a:latin typeface="Consolas"/>
                <a:ea typeface="Microsoft YaHei"/>
              </a:rPr>
              <a:t>17 / 17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17</Slides>
</Properties>
</file>

<file path=docProps/core.xml><?xml version="1.0" encoding="utf-8"?>
<cp:coreProperties xmlns:dc="http://purl.org/dc/elements/1.1/" xmlns:cp="http://schemas.openxmlformats.org/package/2006/metadata/core-properties"/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