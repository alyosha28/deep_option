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style2.xml" ContentType="application/vnd.ms-office.chartstyl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olors2.xml" ContentType="application/vnd.ms-office.chartcolorstyl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n-US" sz="1200" b="0" u="none" strike="noStrike">
                <a:solidFill>
                  <a:srgbClr val="F2F5F9"/>
                </a:solidFill>
                <a:uFillTx/>
                <a:latin typeface="Arial"/>
                <a:ea typeface="MiSans"/>
              </a:rPr>
              <a:t>IV crush 后 P&amp;L（HKD，方向正确情形）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上行</c:v>
                </c:pt>
              </c:strCache>
            </c:strRef>
          </c:tx>
          <c:spPr>
            <a:solidFill>
              <a:srgbClr val="F6465D"/>
            </a:solidFill>
            <a:ln w="0">
              <a:noFill/>
            </a:ln>
          </c:spPr>
          <c:invertIfNegative val="0"/>
          <c:dLbls>
            <c:numFmt formatCode="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8B93A3"/>
                    </a:solidFill>
                    <a:uFillTx/>
                    <a:latin typeface="Arial"/>
                    <a:ea typeface="MiSa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-20%</c:v>
                </c:pt>
                <c:pt idx="1">
                  <c:v>-35%</c:v>
                </c:pt>
                <c:pt idx="2">
                  <c:v>-50%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-711</c:v>
                </c:pt>
                <c:pt idx="1">
                  <c:v>-820</c:v>
                </c:pt>
                <c:pt idx="2">
                  <c:v>-873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下行</c:v>
                </c:pt>
              </c:strCache>
            </c:strRef>
          </c:tx>
          <c:spPr>
            <a:solidFill>
              <a:srgbClr val="F5B942"/>
            </a:solidFill>
            <a:ln w="0">
              <a:noFill/>
            </a:ln>
          </c:spPr>
          <c:invertIfNegative val="0"/>
          <c:dLbls>
            <c:numFmt formatCode="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8B93A3"/>
                    </a:solidFill>
                    <a:uFillTx/>
                    <a:latin typeface="Arial"/>
                    <a:ea typeface="MiSa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-20%</c:v>
                </c:pt>
                <c:pt idx="1">
                  <c:v>-35%</c:v>
                </c:pt>
                <c:pt idx="2">
                  <c:v>-50%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-340</c:v>
                </c:pt>
                <c:pt idx="1">
                  <c:v>-403</c:v>
                </c:pt>
                <c:pt idx="2">
                  <c:v>-422</c:v>
                </c:pt>
              </c:numCache>
            </c:numRef>
          </c:val>
        </c:ser>
        <c:gapWidth val="56"/>
        <c:overlap val="0"/>
        <c:axId val="48279553"/>
        <c:axId val="54376077"/>
      </c:barChart>
      <c:catAx>
        <c:axId val="48279553"/>
        <c:scaling>
          <c:orientation val="minMax"/>
        </c:scaling>
        <c:delete val="0"/>
        <c:axPos val="b"/>
        <c:majorGridlines>
          <c:spPr>
            <a:ln w="12600">
              <a:solidFill>
                <a:srgbClr val="00000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FFFFFF">
                <a:alpha val="8000"/>
              </a:srgbClr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8B93A3"/>
                </a:solidFill>
                <a:uFillTx/>
                <a:latin typeface="Arial"/>
                <a:ea typeface="MiSans"/>
              </a:defRPr>
            </a:pPr>
          </a:p>
        </c:txPr>
        <c:crossAx val="54376077"/>
        <c:crosses val="autoZero"/>
        <c:auto val="1"/>
        <c:lblAlgn val="ctr"/>
        <c:lblOffset val="100"/>
        <c:noMultiLvlLbl val="0"/>
      </c:catAx>
      <c:valAx>
        <c:axId val="54376077"/>
        <c:scaling>
          <c:orientation val="minMax"/>
          <c:max val="0"/>
          <c:min val="-900"/>
        </c:scaling>
        <c:delete val="0"/>
        <c:axPos val="l"/>
        <c:majorGridlines>
          <c:spPr>
            <a:ln w="12600">
              <a:solidFill>
                <a:srgbClr val="FFFFFF">
                  <a:alpha val="8000"/>
                </a:srgbClr>
              </a:solidFill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600">
            <a:solidFill>
              <a:srgbClr val="FFFFFF">
                <a:alpha val="8000"/>
              </a:srgbClr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8B93A3"/>
                </a:solidFill>
                <a:uFillTx/>
                <a:latin typeface="Arial"/>
                <a:ea typeface="MiSans"/>
              </a:defRPr>
            </a:pPr>
          </a:p>
        </c:txPr>
        <c:crossAx val="48279553"/>
        <c:crosses val="autoZero"/>
        <c:crossBetween val="between"/>
        <c:majorUnit val="100"/>
      </c:valAx>
      <c:spPr>
        <a:noFill/>
        <a:ln w="0">
          <a:noFill/>
        </a:ln>
      </c:spPr>
    </c:plotArea>
    <c:legend>
      <c:legendPos val="t"/>
      <c:overlay val="0"/>
      <c:spPr>
        <a:noFill/>
        <a:ln w="0">
          <a:noFill/>
        </a:ln>
      </c:spPr>
      <c:txPr>
        <a:bodyPr/>
        <a:lstStyle/>
        <a:p>
          <a:pPr>
            <a:defRPr sz="900" b="0" u="none" strike="noStrike">
              <a:solidFill>
                <a:srgbClr val="8B93A3"/>
              </a:solidFill>
              <a:uFillTx/>
              <a:latin typeface="Arial"/>
              <a:ea typeface="Mi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n-US" sz="1200" b="0" u="none" strike="noStrike">
                <a:solidFill>
                  <a:srgbClr val="F2F5F9"/>
                </a:solidFill>
                <a:uFillTx/>
                <a:latin typeface="Arial"/>
                <a:ea typeface="MiSans"/>
              </a:rPr>
              <a:t>各持有期平均 ROI（%）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口径A（n=11）</c:v>
                </c:pt>
              </c:strCache>
            </c:strRef>
          </c:tx>
          <c:spPr>
            <a:solidFill>
              <a:srgbClr val="38BDF8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8B93A3"/>
                    </a:solidFill>
                    <a:uFillTx/>
                    <a:latin typeface="Arial"/>
                    <a:ea typeface="MiSa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d+1</c:v>
                </c:pt>
                <c:pt idx="1">
                  <c:v>d+2</c:v>
                </c:pt>
                <c:pt idx="2">
                  <c:v>d+5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-2.4</c:v>
                </c:pt>
                <c:pt idx="1">
                  <c:v>-7.8</c:v>
                </c:pt>
                <c:pt idx="2">
                  <c:v>21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口径B（n=19）</c:v>
                </c:pt>
              </c:strCache>
            </c:strRef>
          </c:tx>
          <c:spPr>
            <a:solidFill>
              <a:srgbClr val="F5B942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8B93A3"/>
                    </a:solidFill>
                    <a:uFillTx/>
                    <a:latin typeface="Arial"/>
                    <a:ea typeface="MiSa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d+1</c:v>
                </c:pt>
                <c:pt idx="1">
                  <c:v>d+2</c:v>
                </c:pt>
                <c:pt idx="2">
                  <c:v>d+5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-49.1</c:v>
                </c:pt>
                <c:pt idx="1">
                  <c:v>-47.5</c:v>
                </c:pt>
                <c:pt idx="2">
                  <c:v>-22.6</c:v>
                </c:pt>
              </c:numCache>
            </c:numRef>
          </c:val>
        </c:ser>
        <c:gapWidth val="56"/>
        <c:overlap val="0"/>
        <c:axId val="89715934"/>
        <c:axId val="63764407"/>
      </c:barChart>
      <c:catAx>
        <c:axId val="89715934"/>
        <c:scaling>
          <c:orientation val="minMax"/>
        </c:scaling>
        <c:delete val="0"/>
        <c:axPos val="b"/>
        <c:majorGridlines>
          <c:spPr>
            <a:ln w="12600">
              <a:solidFill>
                <a:srgbClr val="00000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FFFFFF">
                <a:alpha val="8000"/>
              </a:srgbClr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8B93A3"/>
                </a:solidFill>
                <a:uFillTx/>
                <a:latin typeface="Arial"/>
                <a:ea typeface="MiSans"/>
              </a:defRPr>
            </a:pPr>
          </a:p>
        </c:txPr>
        <c:crossAx val="63764407"/>
        <c:crosses val="autoZero"/>
        <c:auto val="1"/>
        <c:lblAlgn val="ctr"/>
        <c:lblOffset val="100"/>
        <c:noMultiLvlLbl val="0"/>
      </c:catAx>
      <c:valAx>
        <c:axId val="63764407"/>
        <c:scaling>
          <c:orientation val="minMax"/>
          <c:max val="30"/>
          <c:min val="-50"/>
        </c:scaling>
        <c:delete val="0"/>
        <c:axPos val="l"/>
        <c:majorGridlines>
          <c:spPr>
            <a:ln w="12600">
              <a:solidFill>
                <a:srgbClr val="FFFFFF">
                  <a:alpha val="8000"/>
                </a:srgbClr>
              </a:solidFill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600">
            <a:solidFill>
              <a:srgbClr val="FFFFFF">
                <a:alpha val="8000"/>
              </a:srgbClr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8B93A3"/>
                </a:solidFill>
                <a:uFillTx/>
                <a:latin typeface="Arial"/>
                <a:ea typeface="MiSans"/>
              </a:defRPr>
            </a:pPr>
          </a:p>
        </c:txPr>
        <c:crossAx val="89715934"/>
        <c:crosses val="autoZero"/>
        <c:crossBetween val="between"/>
        <c:majorUnit val="10"/>
      </c:valAx>
      <c:spPr>
        <a:noFill/>
        <a:ln w="0">
          <a:noFill/>
        </a:ln>
      </c:spPr>
    </c:plotArea>
    <c:legend>
      <c:legendPos val="t"/>
      <c:overlay val="0"/>
      <c:spPr>
        <a:noFill/>
        <a:ln w="0">
          <a:noFill/>
        </a:ln>
      </c:spPr>
      <c:txPr>
        <a:bodyPr/>
        <a:lstStyle/>
        <a:p>
          <a:pPr>
            <a:defRPr sz="900" b="0" u="none" strike="noStrike">
              <a:solidFill>
                <a:srgbClr val="8B93A3"/>
              </a:solidFill>
              <a:uFillTx/>
              <a:latin typeface="Arial"/>
              <a:ea typeface="Mi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单击以移动幻灯片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9BDCA6B-0E7B-4E5F-8785-DB4ACFB97EA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封面一句话立住产品：把观点变成一张可核验的决策卡。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右侧四个关键数字对应能力边界，底部金句点出「可核验」的产品立场。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执行摘要：结论先行。数字全部可溯源，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Hero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输出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NO_TRADE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是系统能力的证明。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问题页：五个断裂点让个人投资者无法完成一次可信的期权研究。每个痛点都有可验证后果。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方案页：输入一句自然语言，输出一张决策卡；五阶段闭环显式对应赛道评审口径。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产品页：四面板终端同屏展示对话、期权链流动性、策略账户与事件证据。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本页为矢量重绘，数字全部来自冻结快照，未虚构。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Hero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页：腾讯业绩跨式在冻结快照下的真实结论是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NO_TRADE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讲读顺序：成本与盈亏平衡 → 预期波动不足 →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Edge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未过 → 什么条件会改变结论。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证据页一：买入跨式的期望收益不成立。左边到期情景损益，右边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IV crush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压力测试。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证据页二：历史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11–19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个财报期买入业绩跨式整体负期望；样本小，结论是证据强度不足。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为什么是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：固定计算器缺编排，通用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缺事实，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补两者的缺口。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架构页：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只编排与解释，金融事实由受控边界产出；右侧标注信任边界与失败路径。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可信与审计页：数据来源分层、可复算、哈希链与脱敏；对应赛道「数据来源与隐私保护」。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竞品页：差异不在算法，而在可信闭环。表内评价为依据公开研究的定性判断。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市场页：目标用户与为什么现在。价值主张是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90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Replay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决策价值、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60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Live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决策卡。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团队页：三角色覆盖数据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/Agent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、期权策略、合规审计，与项目模块一一对应。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合规页：研究、教育、决策支持工具；不荐股、不代下单、不承诺收益。每条边界对应产品铁律。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结尾页：路线图落在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P0a/P0b/P0c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与时间线；立场是先把「敢说不交易」做成系统能力。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2793600" cy="378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glow"/>
          <p:cNvSpPr/>
          <p:nvPr/>
        </p:nvSpPr>
        <p:spPr>
          <a:xfrm>
            <a:off x="5460840" y="254160"/>
            <a:ext cx="7873560" cy="5841720"/>
          </a:xfrm>
          <a:prstGeom prst="ellipse">
            <a:avLst/>
          </a:prstGeom>
          <a:gradFill rotWithShape="0">
            <a:gsLst>
              <a:gs pos="0">
                <a:srgbClr val="38BDF8">
                  <a:alpha val="18000"/>
                </a:srgbClr>
              </a:gs>
              <a:gs pos="100000">
                <a:srgbClr val="38BDF8">
                  <a:alpha val="0"/>
                </a:srgbClr>
              </a:gs>
            </a:gsLst>
            <a:path path="circle">
              <a:fillToRect l="0" t="0" r="100000" b="10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eyebrow"/>
          <p:cNvSpPr/>
          <p:nvPr/>
        </p:nvSpPr>
        <p:spPr>
          <a:xfrm>
            <a:off x="762120" y="812880"/>
            <a:ext cx="812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GOAI · BOUNDLESS AGENTS · FINANCE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itle"/>
          <p:cNvSpPr/>
          <p:nvPr/>
        </p:nvSpPr>
        <p:spPr>
          <a:xfrm>
            <a:off x="762120" y="1193760"/>
            <a:ext cx="8127720" cy="19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n-US" sz="4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GOAI</a:t>
            </a:r>
            <a:r>
              <a:rPr lang="en-US" sz="4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4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港美股期权智能终端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  <a:spcBef>
                <a:spcPts val="1199"/>
              </a:spcBef>
            </a:pPr>
            <a:r>
              <a:rPr lang="zh-CN" sz="2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把观点变成一张可核验的决策卡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agline-tick"/>
          <p:cNvSpPr/>
          <p:nvPr/>
        </p:nvSpPr>
        <p:spPr>
          <a:xfrm>
            <a:off x="762120" y="3276720"/>
            <a:ext cx="177480" cy="378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kpoints-head"/>
          <p:cNvSpPr/>
          <p:nvPr/>
        </p:nvSpPr>
        <p:spPr>
          <a:xfrm>
            <a:off x="762120" y="3403440"/>
            <a:ext cx="507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四个关键设计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chip1"/>
          <p:cNvSpPr/>
          <p:nvPr/>
        </p:nvSpPr>
        <p:spPr>
          <a:xfrm>
            <a:off x="762120" y="3759120"/>
            <a:ext cx="380520" cy="38052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chip1-num"/>
          <p:cNvSpPr/>
          <p:nvPr/>
        </p:nvSpPr>
        <p:spPr>
          <a:xfrm>
            <a:off x="762120" y="38354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kp1"/>
          <p:cNvSpPr/>
          <p:nvPr/>
        </p:nvSpPr>
        <p:spPr>
          <a:xfrm>
            <a:off x="1295280" y="3733920"/>
            <a:ext cx="685764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金融数字不由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LLM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产出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行情、定价、成本、门控逐项可复算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chip2"/>
          <p:cNvSpPr/>
          <p:nvPr/>
        </p:nvSpPr>
        <p:spPr>
          <a:xfrm>
            <a:off x="762120" y="4292640"/>
            <a:ext cx="380520" cy="38052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chip2-num"/>
          <p:cNvSpPr/>
          <p:nvPr/>
        </p:nvSpPr>
        <p:spPr>
          <a:xfrm>
            <a:off x="762120" y="436896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kp2"/>
          <p:cNvSpPr/>
          <p:nvPr/>
        </p:nvSpPr>
        <p:spPr>
          <a:xfrm>
            <a:off x="1295280" y="4267080"/>
            <a:ext cx="685764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Edge / Risk / Action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硬门一票否决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允许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NO_TRADE</a:t>
            </a:r>
            <a:r>
              <a:rPr lang="zh-CN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，不为展示下单调低门槛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chip3"/>
          <p:cNvSpPr/>
          <p:nvPr/>
        </p:nvSpPr>
        <p:spPr>
          <a:xfrm>
            <a:off x="762120" y="4826160"/>
            <a:ext cx="380520" cy="38052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chip3-num"/>
          <p:cNvSpPr/>
          <p:nvPr/>
        </p:nvSpPr>
        <p:spPr>
          <a:xfrm>
            <a:off x="762120" y="490212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kp3"/>
          <p:cNvSpPr/>
          <p:nvPr/>
        </p:nvSpPr>
        <p:spPr>
          <a:xfrm>
            <a:off x="1295280" y="4800600"/>
            <a:ext cx="685764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每条证据可溯源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来源、时间、快照哈希与审计链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chip4"/>
          <p:cNvSpPr/>
          <p:nvPr/>
        </p:nvSpPr>
        <p:spPr>
          <a:xfrm>
            <a:off x="762120" y="5359320"/>
            <a:ext cx="380520" cy="38052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chip4-num"/>
          <p:cNvSpPr/>
          <p:nvPr/>
        </p:nvSpPr>
        <p:spPr>
          <a:xfrm>
            <a:off x="762120" y="5435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04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kp4"/>
          <p:cNvSpPr/>
          <p:nvPr/>
        </p:nvSpPr>
        <p:spPr>
          <a:xfrm>
            <a:off x="1295280" y="5334120"/>
            <a:ext cx="685764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比赛版本无实盘入口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模拟动作必须用户独立确认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ide-panel"/>
          <p:cNvSpPr/>
          <p:nvPr/>
        </p:nvSpPr>
        <p:spPr>
          <a:xfrm>
            <a:off x="8255160" y="1219320"/>
            <a:ext cx="3174480" cy="452088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ide-head"/>
          <p:cNvSpPr/>
          <p:nvPr/>
        </p:nvSpPr>
        <p:spPr>
          <a:xfrm>
            <a:off x="8559720" y="1422360"/>
            <a:ext cx="25650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能力边界速览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1-num"/>
          <p:cNvSpPr/>
          <p:nvPr/>
        </p:nvSpPr>
        <p:spPr>
          <a:xfrm>
            <a:off x="8559720" y="1778040"/>
            <a:ext cx="13968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3000" b="1" u="none" strike="noStrike">
                <a:solidFill>
                  <a:srgbClr val="F2F5F9"/>
                </a:solidFill>
                <a:effectLst/>
                <a:uFillTx/>
                <a:latin typeface="Georgia"/>
                <a:ea typeface="Microsoft YaHei"/>
              </a:rPr>
              <a:t>4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1-label"/>
          <p:cNvSpPr/>
          <p:nvPr/>
        </p:nvSpPr>
        <p:spPr>
          <a:xfrm>
            <a:off x="10007640" y="1905120"/>
            <a:ext cx="114264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种合法输出状态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NO_TRADE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算成功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-rule1"/>
          <p:cNvSpPr/>
          <p:nvPr/>
        </p:nvSpPr>
        <p:spPr>
          <a:xfrm>
            <a:off x="8559720" y="2413080"/>
            <a:ext cx="2565000" cy="12240"/>
          </a:xfrm>
          <a:custGeom>
            <a:avLst/>
            <a:gdLst>
              <a:gd name="textAreaLeft" fmla="*/ 0 w 2565000"/>
              <a:gd name="textAreaRight" fmla="*/ 2565360 w 2565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202" h="1">
                <a:moveTo>
                  <a:pt x="0" y="0"/>
                </a:moveTo>
                <a:lnTo>
                  <a:pt x="202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2-num"/>
          <p:cNvSpPr/>
          <p:nvPr/>
        </p:nvSpPr>
        <p:spPr>
          <a:xfrm>
            <a:off x="8559720" y="2565360"/>
            <a:ext cx="13968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3000" b="1" u="none" strike="noStrike">
                <a:solidFill>
                  <a:srgbClr val="F2F5F9"/>
                </a:solidFill>
                <a:effectLst/>
                <a:uFillTx/>
                <a:latin typeface="Georgia"/>
                <a:ea typeface="Microsoft YaHei"/>
              </a:rPr>
              <a:t>100%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2-label"/>
          <p:cNvSpPr/>
          <p:nvPr/>
        </p:nvSpPr>
        <p:spPr>
          <a:xfrm>
            <a:off x="10007640" y="2692440"/>
            <a:ext cx="114264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关键数字溯源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零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LLM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编数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-rule2"/>
          <p:cNvSpPr/>
          <p:nvPr/>
        </p:nvSpPr>
        <p:spPr>
          <a:xfrm>
            <a:off x="8559720" y="3200400"/>
            <a:ext cx="2565000" cy="12240"/>
          </a:xfrm>
          <a:custGeom>
            <a:avLst/>
            <a:gdLst>
              <a:gd name="textAreaLeft" fmla="*/ 0 w 2565000"/>
              <a:gd name="textAreaRight" fmla="*/ 2565360 w 2565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202" h="1">
                <a:moveTo>
                  <a:pt x="0" y="0"/>
                </a:moveTo>
                <a:lnTo>
                  <a:pt x="202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3-num"/>
          <p:cNvSpPr/>
          <p:nvPr/>
        </p:nvSpPr>
        <p:spPr>
          <a:xfrm>
            <a:off x="8559720" y="3352680"/>
            <a:ext cx="13968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3000" b="1" u="none" strike="noStrike">
                <a:solidFill>
                  <a:srgbClr val="F2F5F9"/>
                </a:solidFill>
                <a:effectLst/>
                <a:uFillTx/>
                <a:latin typeface="Georgia"/>
                <a:ea typeface="Microsoft YaHei"/>
              </a:rPr>
              <a:t>0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3-label"/>
          <p:cNvSpPr/>
          <p:nvPr/>
        </p:nvSpPr>
        <p:spPr>
          <a:xfrm>
            <a:off x="10007640" y="3479760"/>
            <a:ext cx="114264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实盘入口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默认只读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-rule3"/>
          <p:cNvSpPr/>
          <p:nvPr/>
        </p:nvSpPr>
        <p:spPr>
          <a:xfrm>
            <a:off x="8559720" y="3987720"/>
            <a:ext cx="2565000" cy="12240"/>
          </a:xfrm>
          <a:custGeom>
            <a:avLst/>
            <a:gdLst>
              <a:gd name="textAreaLeft" fmla="*/ 0 w 2565000"/>
              <a:gd name="textAreaRight" fmla="*/ 2565360 w 2565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202" h="1">
                <a:moveTo>
                  <a:pt x="0" y="0"/>
                </a:moveTo>
                <a:lnTo>
                  <a:pt x="202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4-num"/>
          <p:cNvSpPr/>
          <p:nvPr/>
        </p:nvSpPr>
        <p:spPr>
          <a:xfrm>
            <a:off x="8559720" y="4140360"/>
            <a:ext cx="13968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3000" b="1" u="none" strike="noStrike">
                <a:solidFill>
                  <a:srgbClr val="F2F5F9"/>
                </a:solidFill>
                <a:effectLst/>
                <a:uFillTx/>
                <a:latin typeface="Georgia"/>
                <a:ea typeface="Microsoft YaHei"/>
              </a:rPr>
              <a:t>P0a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4-label"/>
          <p:cNvSpPr/>
          <p:nvPr/>
        </p:nvSpPr>
        <p:spPr>
          <a:xfrm>
            <a:off x="10007640" y="4267080"/>
            <a:ext cx="114264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端到端已验证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腾讯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Hero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案例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-note"/>
          <p:cNvSpPr/>
          <p:nvPr/>
        </p:nvSpPr>
        <p:spPr>
          <a:xfrm>
            <a:off x="8559720" y="4902120"/>
            <a:ext cx="25650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LLM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说人话，引擎说真话。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数字来自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Futu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冻结快照与自研引擎。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band"/>
          <p:cNvSpPr/>
          <p:nvPr/>
        </p:nvSpPr>
        <p:spPr>
          <a:xfrm>
            <a:off x="0" y="5969160"/>
            <a:ext cx="12191760" cy="888480"/>
          </a:xfrm>
          <a:prstGeom prst="rect">
            <a:avLst/>
          </a:prstGeom>
          <a:solidFill>
            <a:srgbClr val="0A0F1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band-rule"/>
          <p:cNvSpPr/>
          <p:nvPr/>
        </p:nvSpPr>
        <p:spPr>
          <a:xfrm>
            <a:off x="0" y="5969160"/>
            <a:ext cx="12191760" cy="122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960" h="1">
                <a:moveTo>
                  <a:pt x="0" y="0"/>
                </a:moveTo>
                <a:lnTo>
                  <a:pt x="96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band-quote"/>
          <p:cNvSpPr/>
          <p:nvPr/>
        </p:nvSpPr>
        <p:spPr>
          <a:xfrm>
            <a:off x="762120" y="6222960"/>
            <a:ext cx="106675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</a:pPr>
            <a:r>
              <a:rPr lang="zh-CN" sz="12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不猜涨跌，把每一次期权决策变得可核验、可复核、敢拒绝。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band-meta"/>
          <p:cNvSpPr/>
          <p:nvPr/>
        </p:nvSpPr>
        <p:spPr>
          <a:xfrm>
            <a:off x="762120" y="6578640"/>
            <a:ext cx="38095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GOAI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港美股期权智能终端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初赛方案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2026-08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page-num"/>
          <p:cNvSpPr/>
          <p:nvPr/>
        </p:nvSpPr>
        <p:spPr>
          <a:xfrm>
            <a:off x="8889840" y="65786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01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EXECUTIVE SUMMARY · 01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结论先行：数字可信、结论可拒绝的期权研究 </a:t>
            </a:r>
            <a:r>
              <a:rPr lang="en-US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Agent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腾讯业绩跨式（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HK.00700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）已端到端跑通，输出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NO_TRADE——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拒绝本身就是系统能力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j1-chip"/>
          <p:cNvSpPr/>
          <p:nvPr/>
        </p:nvSpPr>
        <p:spPr>
          <a:xfrm>
            <a:off x="762120" y="1600200"/>
            <a:ext cx="380520" cy="38052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j1-num"/>
          <p:cNvSpPr/>
          <p:nvPr/>
        </p:nvSpPr>
        <p:spPr>
          <a:xfrm>
            <a:off x="762120" y="167652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j1-claim"/>
          <p:cNvSpPr/>
          <p:nvPr/>
        </p:nvSpPr>
        <p:spPr>
          <a:xfrm>
            <a:off x="1295280" y="1625760"/>
            <a:ext cx="634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场景解析只补必要字段，未知不编造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j1-proof"/>
          <p:cNvSpPr/>
          <p:nvPr/>
        </p:nvSpPr>
        <p:spPr>
          <a:xfrm>
            <a:off x="1295280" y="1879560"/>
            <a:ext cx="6349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一句自然语言补全标的、期限、账户与风险预算，缺失字段明确保留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j2-chip"/>
          <p:cNvSpPr/>
          <p:nvPr/>
        </p:nvSpPr>
        <p:spPr>
          <a:xfrm>
            <a:off x="762120" y="2286000"/>
            <a:ext cx="380520" cy="38052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j2-num"/>
          <p:cNvSpPr/>
          <p:nvPr/>
        </p:nvSpPr>
        <p:spPr>
          <a:xfrm>
            <a:off x="762120" y="236232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j2-claim"/>
          <p:cNvSpPr/>
          <p:nvPr/>
        </p:nvSpPr>
        <p:spPr>
          <a:xfrm>
            <a:off x="1295280" y="2311560"/>
            <a:ext cx="634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金融数字不由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LLM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产出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j2-proof"/>
          <p:cNvSpPr/>
          <p:nvPr/>
        </p:nvSpPr>
        <p:spPr>
          <a:xfrm>
            <a:off x="1295280" y="2565360"/>
            <a:ext cx="6349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行情、定价、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Greeks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、成本与门控来自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Futu /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冻结快照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自研引擎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j3-chip"/>
          <p:cNvSpPr/>
          <p:nvPr/>
        </p:nvSpPr>
        <p:spPr>
          <a:xfrm>
            <a:off x="762120" y="2971800"/>
            <a:ext cx="380520" cy="38052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j3-num"/>
          <p:cNvSpPr/>
          <p:nvPr/>
        </p:nvSpPr>
        <p:spPr>
          <a:xfrm>
            <a:off x="762120" y="304812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j3-claim"/>
          <p:cNvSpPr/>
          <p:nvPr/>
        </p:nvSpPr>
        <p:spPr>
          <a:xfrm>
            <a:off x="1295280" y="2997360"/>
            <a:ext cx="634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三道硬门一票否决，允许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NO_TRADE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j3-proof"/>
          <p:cNvSpPr/>
          <p:nvPr/>
        </p:nvSpPr>
        <p:spPr>
          <a:xfrm>
            <a:off x="1295280" y="3251160"/>
            <a:ext cx="6349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Edge / Risk / Action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任一不通过即拒绝，不为展示下单调低门槛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j4-chip"/>
          <p:cNvSpPr/>
          <p:nvPr/>
        </p:nvSpPr>
        <p:spPr>
          <a:xfrm>
            <a:off x="762120" y="3657600"/>
            <a:ext cx="380520" cy="38052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j4-num"/>
          <p:cNvSpPr/>
          <p:nvPr/>
        </p:nvSpPr>
        <p:spPr>
          <a:xfrm>
            <a:off x="762120" y="373392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04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j4-claim"/>
          <p:cNvSpPr/>
          <p:nvPr/>
        </p:nvSpPr>
        <p:spPr>
          <a:xfrm>
            <a:off x="1295280" y="3683160"/>
            <a:ext cx="634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证据可复核：来源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时间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审计哈希链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j4-proof"/>
          <p:cNvSpPr/>
          <p:nvPr/>
        </p:nvSpPr>
        <p:spPr>
          <a:xfrm>
            <a:off x="1295280" y="3936960"/>
            <a:ext cx="6349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决策卡逐条列出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claim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、数据模式、快照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SHA-256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与审计链记录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j5-chip"/>
          <p:cNvSpPr/>
          <p:nvPr/>
        </p:nvSpPr>
        <p:spPr>
          <a:xfrm>
            <a:off x="762120" y="4343400"/>
            <a:ext cx="380520" cy="38052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j5-num"/>
          <p:cNvSpPr/>
          <p:nvPr/>
        </p:nvSpPr>
        <p:spPr>
          <a:xfrm>
            <a:off x="762120" y="441972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05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j5-claim"/>
          <p:cNvSpPr/>
          <p:nvPr/>
        </p:nvSpPr>
        <p:spPr>
          <a:xfrm>
            <a:off x="1295280" y="4368960"/>
            <a:ext cx="634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动作边界最小化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j5-proof"/>
          <p:cNvSpPr/>
          <p:nvPr/>
        </p:nvSpPr>
        <p:spPr>
          <a:xfrm>
            <a:off x="1295280" y="4622760"/>
            <a:ext cx="6349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比赛版本无实盘入口；模拟动作必须由用户独立确认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verdict-plate"/>
          <p:cNvSpPr/>
          <p:nvPr/>
        </p:nvSpPr>
        <p:spPr>
          <a:xfrm>
            <a:off x="8001000" y="1600200"/>
            <a:ext cx="3428640" cy="312372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verdict-rail"/>
          <p:cNvSpPr/>
          <p:nvPr/>
        </p:nvSpPr>
        <p:spPr>
          <a:xfrm>
            <a:off x="8001000" y="1600200"/>
            <a:ext cx="50400" cy="312372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verdict-label"/>
          <p:cNvSpPr/>
          <p:nvPr/>
        </p:nvSpPr>
        <p:spPr>
          <a:xfrm>
            <a:off x="8331120" y="1778040"/>
            <a:ext cx="2793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当前 </a:t>
            </a:r>
            <a:r>
              <a:rPr lang="en-US" sz="900" b="1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Hero </a:t>
            </a:r>
            <a:r>
              <a:rPr lang="zh-CN" sz="900" b="1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结论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verdict-num"/>
          <p:cNvSpPr/>
          <p:nvPr/>
        </p:nvSpPr>
        <p:spPr>
          <a:xfrm>
            <a:off x="8331120" y="2031840"/>
            <a:ext cx="27936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34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Microsoft YaHei"/>
              </a:rPr>
              <a:t>NO_TRADE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verdict-rule"/>
          <p:cNvSpPr/>
          <p:nvPr/>
        </p:nvSpPr>
        <p:spPr>
          <a:xfrm>
            <a:off x="8331120" y="2692440"/>
            <a:ext cx="2793600" cy="12240"/>
          </a:xfrm>
          <a:custGeom>
            <a:avLst/>
            <a:gdLst>
              <a:gd name="textAreaLeft" fmla="*/ 0 w 2793600"/>
              <a:gd name="textAreaRight" fmla="*/ 2793960 w 27936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220" h="1">
                <a:moveTo>
                  <a:pt x="0" y="0"/>
                </a:moveTo>
                <a:lnTo>
                  <a:pt x="22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verdict-text"/>
          <p:cNvSpPr/>
          <p:nvPr/>
        </p:nvSpPr>
        <p:spPr>
          <a:xfrm>
            <a:off x="8331120" y="2819520"/>
            <a:ext cx="2793600" cy="10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预期波动 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3.92% &lt; 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盈亏平衡 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4.41%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历史回测负期望，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IV crush 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情景转负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P0a Replay </a:t>
            </a:r>
            <a:r>
              <a:rPr lang="zh-CN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已端到端跑通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quote-bar"/>
          <p:cNvSpPr/>
          <p:nvPr/>
        </p:nvSpPr>
        <p:spPr>
          <a:xfrm>
            <a:off x="762120" y="5029200"/>
            <a:ext cx="10667520" cy="431280"/>
          </a:xfrm>
          <a:prstGeom prst="rect">
            <a:avLst/>
          </a:prstGeom>
          <a:solidFill>
            <a:srgbClr val="38BDF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quote-rail"/>
          <p:cNvSpPr/>
          <p:nvPr/>
        </p:nvSpPr>
        <p:spPr>
          <a:xfrm>
            <a:off x="762120" y="5029200"/>
            <a:ext cx="50400" cy="4312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quote-label"/>
          <p:cNvSpPr/>
          <p:nvPr/>
        </p:nvSpPr>
        <p:spPr>
          <a:xfrm>
            <a:off x="939960" y="5105520"/>
            <a:ext cx="507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金句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quote-text"/>
          <p:cNvSpPr/>
          <p:nvPr/>
        </p:nvSpPr>
        <p:spPr>
          <a:xfrm>
            <a:off x="1498680" y="5092560"/>
            <a:ext cx="97786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敢说 </a:t>
            </a:r>
            <a:r>
              <a:rPr lang="en-US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NO_TRADE</a:t>
            </a: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，比能下单更需要系统能力。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四种输出状态都是合法结论；系统不为展示下单而调低门槛，每次运行产出结论、依据、成本、数据模式与唯一可用下一步。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数据：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data/decision_card_2026-08-12.json · audit_log.jsonl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（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7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条哈希链）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02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PROBLEM · 02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五个断裂点，让个人投资者做不了一次可信的期权研究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对标现状：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Futu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手工流程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通用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LLM ·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固定脚本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2" name="pain-table"/>
          <p:cNvGraphicFramePr/>
          <p:nvPr/>
        </p:nvGraphicFramePr>
        <p:xfrm>
          <a:off x="762120" y="1523880"/>
          <a:ext cx="7111800" cy="3352680"/>
        </p:xfrm>
        <a:graphic>
          <a:graphicData uri="http://schemas.openxmlformats.org/drawingml/2006/table">
            <a:tbl>
              <a:tblPr/>
              <a:tblGrid>
                <a:gridCol w="2986920"/>
                <a:gridCol w="4124880"/>
              </a:tblGrid>
              <a:tr h="301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断裂点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后果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</a:tr>
              <a:tr h="610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行情、规则、账户分散在多页面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研究靠手工拼接，易漏规格与费用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610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理论价被当成成交价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忽略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bid/ask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、滑点与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tick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，盈亏边界失真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</a:tr>
              <a:tr h="610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港美股规则差异大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美式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/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欧式、实物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/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现金交割混用模板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610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通用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LLM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会编造数字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无法承担账户风控与交易权限判断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</a:tr>
              <a:tr h="610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结论没有审计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错后无法复盘，也无法向他人复核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93" name="result-plate"/>
          <p:cNvSpPr/>
          <p:nvPr/>
        </p:nvSpPr>
        <p:spPr>
          <a:xfrm>
            <a:off x="8128080" y="1523880"/>
            <a:ext cx="3301560" cy="142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esult-rail"/>
          <p:cNvSpPr/>
          <p:nvPr/>
        </p:nvSpPr>
        <p:spPr>
          <a:xfrm>
            <a:off x="8128080" y="1523880"/>
            <a:ext cx="50400" cy="1422000"/>
          </a:xfrm>
          <a:prstGeom prst="rect">
            <a:avLst/>
          </a:prstGeom>
          <a:solidFill>
            <a:srgbClr val="F64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esult-label"/>
          <p:cNvSpPr/>
          <p:nvPr/>
        </p:nvSpPr>
        <p:spPr>
          <a:xfrm>
            <a:off x="8381880" y="1676520"/>
            <a:ext cx="2793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F6465D"/>
                </a:solidFill>
                <a:effectLst/>
                <a:uFillTx/>
                <a:latin typeface="Arial"/>
                <a:ea typeface="MiSans"/>
              </a:rPr>
              <a:t>结果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result-text"/>
          <p:cNvSpPr/>
          <p:nvPr/>
        </p:nvSpPr>
        <p:spPr>
          <a:xfrm>
            <a:off x="8381880" y="1955880"/>
            <a:ext cx="279360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要么不敢决策，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要么在错误口径上决策。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quote-plate"/>
          <p:cNvSpPr/>
          <p:nvPr/>
        </p:nvSpPr>
        <p:spPr>
          <a:xfrm>
            <a:off x="8128080" y="3098880"/>
            <a:ext cx="3301560" cy="1777680"/>
          </a:xfrm>
          <a:prstGeom prst="rect">
            <a:avLst/>
          </a:prstGeom>
          <a:solidFill>
            <a:srgbClr val="38BDF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quote-rail"/>
          <p:cNvSpPr/>
          <p:nvPr/>
        </p:nvSpPr>
        <p:spPr>
          <a:xfrm>
            <a:off x="8128080" y="3098880"/>
            <a:ext cx="50400" cy="17776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quote-label"/>
          <p:cNvSpPr/>
          <p:nvPr/>
        </p:nvSpPr>
        <p:spPr>
          <a:xfrm>
            <a:off x="8381880" y="3251160"/>
            <a:ext cx="507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金句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quote-text"/>
          <p:cNvSpPr/>
          <p:nvPr/>
        </p:nvSpPr>
        <p:spPr>
          <a:xfrm>
            <a:off x="8381880" y="3505320"/>
            <a:ext cx="279360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不解决可信问题，再多工具也只是更快地犯错。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gap-note"/>
          <p:cNvSpPr/>
          <p:nvPr/>
        </p:nvSpPr>
        <p:spPr>
          <a:xfrm>
            <a:off x="8381880" y="4368960"/>
            <a:ext cx="27936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研究缺口：一条让数字可信、结论可拒绝的完整期权研究闭环。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问题本质不是缺工具，而是缺一条「数字可信、结论可拒绝」的完整链路。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来源：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docs/PRD.md §1.2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当前痛点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03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04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SOLUTION · 03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从一句自然语言到一张决策卡：五阶段任务闭环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输入示例：「腾讯业绩快到了，方向不确定。账户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10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万港币，单笔最多亏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5%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，帮我看看跨式。」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node1"/>
          <p:cNvSpPr/>
          <p:nvPr/>
        </p:nvSpPr>
        <p:spPr>
          <a:xfrm>
            <a:off x="762120" y="1676520"/>
            <a:ext cx="1929960" cy="58392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node1-text"/>
          <p:cNvSpPr/>
          <p:nvPr/>
        </p:nvSpPr>
        <p:spPr>
          <a:xfrm>
            <a:off x="762120" y="1828800"/>
            <a:ext cx="19299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场景解析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arrow1"/>
          <p:cNvSpPr/>
          <p:nvPr/>
        </p:nvSpPr>
        <p:spPr>
          <a:xfrm>
            <a:off x="2692440" y="1943280"/>
            <a:ext cx="253800" cy="25200"/>
          </a:xfrm>
          <a:custGeom>
            <a:avLst/>
            <a:gdLst>
              <a:gd name="textAreaLeft" fmla="*/ 0 w 253800"/>
              <a:gd name="textAreaRight" fmla="*/ 254160 w 25380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20" h="2">
                <a:moveTo>
                  <a:pt x="0" y="1"/>
                </a:moveTo>
                <a:lnTo>
                  <a:pt x="20" y="1"/>
                </a:lnTo>
              </a:path>
            </a:pathLst>
          </a:custGeom>
          <a:noFill/>
          <a:ln cap="rnd" w="19050">
            <a:solidFill>
              <a:srgbClr val="38BDF8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node2"/>
          <p:cNvSpPr/>
          <p:nvPr/>
        </p:nvSpPr>
        <p:spPr>
          <a:xfrm>
            <a:off x="2946240" y="1676520"/>
            <a:ext cx="1929960" cy="58392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node2-text"/>
          <p:cNvSpPr/>
          <p:nvPr/>
        </p:nvSpPr>
        <p:spPr>
          <a:xfrm>
            <a:off x="2946240" y="1828800"/>
            <a:ext cx="19299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数据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/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冻结快照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arrow2"/>
          <p:cNvSpPr/>
          <p:nvPr/>
        </p:nvSpPr>
        <p:spPr>
          <a:xfrm>
            <a:off x="4876920" y="1943280"/>
            <a:ext cx="253800" cy="25200"/>
          </a:xfrm>
          <a:custGeom>
            <a:avLst/>
            <a:gdLst>
              <a:gd name="textAreaLeft" fmla="*/ 0 w 253800"/>
              <a:gd name="textAreaRight" fmla="*/ 254160 w 25380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20" h="2">
                <a:moveTo>
                  <a:pt x="0" y="1"/>
                </a:moveTo>
                <a:lnTo>
                  <a:pt x="20" y="1"/>
                </a:lnTo>
              </a:path>
            </a:pathLst>
          </a:custGeom>
          <a:noFill/>
          <a:ln cap="rnd" w="19050">
            <a:solidFill>
              <a:srgbClr val="38BDF8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node3"/>
          <p:cNvSpPr/>
          <p:nvPr/>
        </p:nvSpPr>
        <p:spPr>
          <a:xfrm>
            <a:off x="5130720" y="1676520"/>
            <a:ext cx="1929960" cy="58392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node3-text"/>
          <p:cNvSpPr/>
          <p:nvPr/>
        </p:nvSpPr>
        <p:spPr>
          <a:xfrm>
            <a:off x="5130720" y="1828800"/>
            <a:ext cx="19299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引擎计算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arrow3"/>
          <p:cNvSpPr/>
          <p:nvPr/>
        </p:nvSpPr>
        <p:spPr>
          <a:xfrm>
            <a:off x="7061040" y="1943280"/>
            <a:ext cx="253800" cy="25200"/>
          </a:xfrm>
          <a:custGeom>
            <a:avLst/>
            <a:gdLst>
              <a:gd name="textAreaLeft" fmla="*/ 0 w 253800"/>
              <a:gd name="textAreaRight" fmla="*/ 254160 w 25380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20" h="2">
                <a:moveTo>
                  <a:pt x="0" y="1"/>
                </a:moveTo>
                <a:lnTo>
                  <a:pt x="20" y="1"/>
                </a:lnTo>
              </a:path>
            </a:pathLst>
          </a:custGeom>
          <a:noFill/>
          <a:ln cap="rnd" w="19050">
            <a:solidFill>
              <a:srgbClr val="38BDF8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node4"/>
          <p:cNvSpPr/>
          <p:nvPr/>
        </p:nvSpPr>
        <p:spPr>
          <a:xfrm>
            <a:off x="7315200" y="1676520"/>
            <a:ext cx="1929960" cy="58392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node4-text"/>
          <p:cNvSpPr/>
          <p:nvPr/>
        </p:nvSpPr>
        <p:spPr>
          <a:xfrm>
            <a:off x="7315200" y="1828800"/>
            <a:ext cx="19299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门控判定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arrow4"/>
          <p:cNvSpPr/>
          <p:nvPr/>
        </p:nvSpPr>
        <p:spPr>
          <a:xfrm>
            <a:off x="9245520" y="1943280"/>
            <a:ext cx="253800" cy="25200"/>
          </a:xfrm>
          <a:custGeom>
            <a:avLst/>
            <a:gdLst>
              <a:gd name="textAreaLeft" fmla="*/ 0 w 253800"/>
              <a:gd name="textAreaRight" fmla="*/ 254160 w 25380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20" h="2">
                <a:moveTo>
                  <a:pt x="0" y="1"/>
                </a:moveTo>
                <a:lnTo>
                  <a:pt x="20" y="1"/>
                </a:lnTo>
              </a:path>
            </a:pathLst>
          </a:custGeom>
          <a:noFill/>
          <a:ln cap="rnd" w="19050">
            <a:solidFill>
              <a:srgbClr val="38BDF8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node5"/>
          <p:cNvSpPr/>
          <p:nvPr/>
        </p:nvSpPr>
        <p:spPr>
          <a:xfrm>
            <a:off x="9499680" y="1676520"/>
            <a:ext cx="1929960" cy="58392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node5-text"/>
          <p:cNvSpPr/>
          <p:nvPr/>
        </p:nvSpPr>
        <p:spPr>
          <a:xfrm>
            <a:off x="9499680" y="1828800"/>
            <a:ext cx="19299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</a:pPr>
            <a:r>
              <a:rPr lang="zh-CN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决策卡 </a:t>
            </a:r>
            <a:r>
              <a:rPr lang="en-US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审计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cap1"/>
          <p:cNvSpPr/>
          <p:nvPr/>
        </p:nvSpPr>
        <p:spPr>
          <a:xfrm>
            <a:off x="762120" y="2362320"/>
            <a:ext cx="19299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只补必要字段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cap2"/>
          <p:cNvSpPr/>
          <p:nvPr/>
        </p:nvSpPr>
        <p:spPr>
          <a:xfrm>
            <a:off x="2946240" y="2362320"/>
            <a:ext cx="19299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Live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或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Replay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，固定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as_of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cap3"/>
          <p:cNvSpPr/>
          <p:nvPr/>
        </p:nvSpPr>
        <p:spPr>
          <a:xfrm>
            <a:off x="5130720" y="2362320"/>
            <a:ext cx="19299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BS /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二叉树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成本口径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cap4"/>
          <p:cNvSpPr/>
          <p:nvPr/>
        </p:nvSpPr>
        <p:spPr>
          <a:xfrm>
            <a:off x="7315200" y="2362320"/>
            <a:ext cx="19299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Edge / Risk / Action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cap5"/>
          <p:cNvSpPr/>
          <p:nvPr/>
        </p:nvSpPr>
        <p:spPr>
          <a:xfrm>
            <a:off x="9499680" y="2362320"/>
            <a:ext cx="19299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证据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审计链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loop-head"/>
          <p:cNvSpPr/>
          <p:nvPr/>
        </p:nvSpPr>
        <p:spPr>
          <a:xfrm>
            <a:off x="762120" y="2819520"/>
            <a:ext cx="507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任务闭环 </a:t>
            </a:r>
            <a:r>
              <a:rPr lang="en-US" sz="110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10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对应赛道评审口径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loop-chips"/>
          <p:cNvSpPr/>
          <p:nvPr/>
        </p:nvSpPr>
        <p:spPr>
          <a:xfrm>
            <a:off x="762120" y="3098880"/>
            <a:ext cx="106675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用户输入 → 任务理解 → 流程编排 → 知识库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工具调用 → 结果交付 → 异常处理 → 效果验证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tates-head"/>
          <p:cNvSpPr/>
          <p:nvPr/>
        </p:nvSpPr>
        <p:spPr>
          <a:xfrm>
            <a:off x="762120" y="3632040"/>
            <a:ext cx="507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四种合法输出状态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1-label"/>
          <p:cNvSpPr/>
          <p:nvPr/>
        </p:nvSpPr>
        <p:spPr>
          <a:xfrm>
            <a:off x="762120" y="3962520"/>
            <a:ext cx="2476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F5B942"/>
                </a:solidFill>
                <a:effectLst/>
                <a:uFillTx/>
                <a:latin typeface="Arial"/>
                <a:ea typeface="MiSans"/>
              </a:rPr>
              <a:t>NO_TRADE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1-desc"/>
          <p:cNvSpPr/>
          <p:nvPr/>
        </p:nvSpPr>
        <p:spPr>
          <a:xfrm>
            <a:off x="762120" y="4241880"/>
            <a:ext cx="24760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成本与证据不支持交易，明确拒绝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vline1"/>
          <p:cNvSpPr/>
          <p:nvPr/>
        </p:nvSpPr>
        <p:spPr>
          <a:xfrm>
            <a:off x="3429000" y="4013280"/>
            <a:ext cx="12240" cy="659880"/>
          </a:xfrm>
          <a:custGeom>
            <a:avLst/>
            <a:gdLst>
              <a:gd name="textAreaLeft" fmla="*/ 0 w 12240"/>
              <a:gd name="textAreaRight" fmla="*/ 12600 w 12240"/>
              <a:gd name="textAreaTop" fmla="*/ 0 h 659880"/>
              <a:gd name="textAreaBottom" fmla="*/ 660240 h 659880"/>
            </a:gdLst>
            <a:ahLst/>
            <a:cxnLst/>
            <a:rect l="textAreaLeft" t="textAreaTop" r="textAreaRight" b="textAreaBottom"/>
            <a:pathLst>
              <a:path w="1" h="52">
                <a:moveTo>
                  <a:pt x="0" y="0"/>
                </a:moveTo>
                <a:lnTo>
                  <a:pt x="0" y="52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2-label"/>
          <p:cNvSpPr/>
          <p:nvPr/>
        </p:nvSpPr>
        <p:spPr>
          <a:xfrm>
            <a:off x="3619440" y="3962520"/>
            <a:ext cx="2476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F6465D"/>
                </a:solidFill>
                <a:effectLst/>
                <a:uFillTx/>
                <a:latin typeface="Arial"/>
                <a:ea typeface="MiSans"/>
              </a:rPr>
              <a:t>BLOCK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2-desc"/>
          <p:cNvSpPr/>
          <p:nvPr/>
        </p:nvSpPr>
        <p:spPr>
          <a:xfrm>
            <a:off x="3619440" y="4241880"/>
            <a:ext cx="24760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数据、规格或风险硬门未通过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vline2"/>
          <p:cNvSpPr/>
          <p:nvPr/>
        </p:nvSpPr>
        <p:spPr>
          <a:xfrm>
            <a:off x="6286680" y="4013280"/>
            <a:ext cx="12240" cy="659880"/>
          </a:xfrm>
          <a:custGeom>
            <a:avLst/>
            <a:gdLst>
              <a:gd name="textAreaLeft" fmla="*/ 0 w 12240"/>
              <a:gd name="textAreaRight" fmla="*/ 12600 w 12240"/>
              <a:gd name="textAreaTop" fmla="*/ 0 h 659880"/>
              <a:gd name="textAreaBottom" fmla="*/ 660240 h 659880"/>
            </a:gdLst>
            <a:ahLst/>
            <a:cxnLst/>
            <a:rect l="textAreaLeft" t="textAreaTop" r="textAreaRight" b="textAreaBottom"/>
            <a:pathLst>
              <a:path w="1" h="52">
                <a:moveTo>
                  <a:pt x="0" y="0"/>
                </a:moveTo>
                <a:lnTo>
                  <a:pt x="0" y="52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3-label"/>
          <p:cNvSpPr/>
          <p:nvPr/>
        </p:nvSpPr>
        <p:spPr>
          <a:xfrm>
            <a:off x="6477120" y="3962520"/>
            <a:ext cx="2476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DRAFT_ONLY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3-desc"/>
          <p:cNvSpPr/>
          <p:nvPr/>
        </p:nvSpPr>
        <p:spPr>
          <a:xfrm>
            <a:off x="6477120" y="4241880"/>
            <a:ext cx="24760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可研究并生成草稿，不能提交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vline3"/>
          <p:cNvSpPr/>
          <p:nvPr/>
        </p:nvSpPr>
        <p:spPr>
          <a:xfrm>
            <a:off x="9144000" y="4013280"/>
            <a:ext cx="12240" cy="659880"/>
          </a:xfrm>
          <a:custGeom>
            <a:avLst/>
            <a:gdLst>
              <a:gd name="textAreaLeft" fmla="*/ 0 w 12240"/>
              <a:gd name="textAreaRight" fmla="*/ 12600 w 12240"/>
              <a:gd name="textAreaTop" fmla="*/ 0 h 659880"/>
              <a:gd name="textAreaBottom" fmla="*/ 660240 h 659880"/>
            </a:gdLst>
            <a:ahLst/>
            <a:cxnLst/>
            <a:rect l="textAreaLeft" t="textAreaTop" r="textAreaRight" b="textAreaBottom"/>
            <a:pathLst>
              <a:path w="1" h="52">
                <a:moveTo>
                  <a:pt x="0" y="0"/>
                </a:moveTo>
                <a:lnTo>
                  <a:pt x="0" y="52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4-label"/>
          <p:cNvSpPr/>
          <p:nvPr/>
        </p:nvSpPr>
        <p:spPr>
          <a:xfrm>
            <a:off x="9334440" y="3962520"/>
            <a:ext cx="20952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16C784"/>
                </a:solidFill>
                <a:effectLst/>
                <a:uFillTx/>
                <a:latin typeface="Arial"/>
                <a:ea typeface="MiSans"/>
              </a:rPr>
              <a:t>READY_FOR_CONFIRMATION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4-desc"/>
          <p:cNvSpPr/>
          <p:nvPr/>
        </p:nvSpPr>
        <p:spPr>
          <a:xfrm>
            <a:off x="9334440" y="4241880"/>
            <a:ext cx="20952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客观门通过，待用户确认模拟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quote-bar"/>
          <p:cNvSpPr/>
          <p:nvPr/>
        </p:nvSpPr>
        <p:spPr>
          <a:xfrm>
            <a:off x="762120" y="5029200"/>
            <a:ext cx="10667520" cy="431280"/>
          </a:xfrm>
          <a:prstGeom prst="rect">
            <a:avLst/>
          </a:prstGeom>
          <a:solidFill>
            <a:srgbClr val="38BDF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quote-rail"/>
          <p:cNvSpPr/>
          <p:nvPr/>
        </p:nvSpPr>
        <p:spPr>
          <a:xfrm>
            <a:off x="762120" y="5029200"/>
            <a:ext cx="50400" cy="4312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quote-label"/>
          <p:cNvSpPr/>
          <p:nvPr/>
        </p:nvSpPr>
        <p:spPr>
          <a:xfrm>
            <a:off x="939960" y="5105520"/>
            <a:ext cx="507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金句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quote-text"/>
          <p:cNvSpPr/>
          <p:nvPr/>
        </p:nvSpPr>
        <p:spPr>
          <a:xfrm>
            <a:off x="1498680" y="5092560"/>
            <a:ext cx="97786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敢拒绝，才值得被信任。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输出不追求下单：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NO_TRADE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、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BLOCK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与 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DRAFT_ONLY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都是合法结论；每次运行产出结论、依据、成本、数据模式与唯一可用下一步。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来源：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docs/PRD.md §3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核心用户旅程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赛道要求：任务闭环七环节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04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05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PRODUCT · 04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四面板终端：对话、流动性、账户、证据同屏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参考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UI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矢量重绘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数字来自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2026-08-08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冻结快照（仅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ATM 480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合约）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window"/>
          <p:cNvSpPr/>
          <p:nvPr/>
        </p:nvSpPr>
        <p:spPr>
          <a:xfrm>
            <a:off x="762120" y="1523880"/>
            <a:ext cx="7111800" cy="335232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win-bar"/>
          <p:cNvSpPr/>
          <p:nvPr/>
        </p:nvSpPr>
        <p:spPr>
          <a:xfrm>
            <a:off x="762120" y="1523880"/>
            <a:ext cx="7111800" cy="329760"/>
          </a:xfrm>
          <a:prstGeom prst="rect">
            <a:avLst/>
          </a:prstGeom>
          <a:solidFill>
            <a:srgbClr val="0A0F1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win-dot1"/>
          <p:cNvSpPr/>
          <p:nvPr/>
        </p:nvSpPr>
        <p:spPr>
          <a:xfrm>
            <a:off x="914400" y="1638360"/>
            <a:ext cx="88560" cy="88560"/>
          </a:xfrm>
          <a:prstGeom prst="ellipse">
            <a:avLst/>
          </a:prstGeom>
          <a:solidFill>
            <a:srgbClr val="F64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7640" rIns="90000" bIns="17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win-dot2"/>
          <p:cNvSpPr/>
          <p:nvPr/>
        </p:nvSpPr>
        <p:spPr>
          <a:xfrm>
            <a:off x="1079640" y="1638360"/>
            <a:ext cx="88560" cy="88560"/>
          </a:xfrm>
          <a:prstGeom prst="ellipse">
            <a:avLst/>
          </a:prstGeom>
          <a:solidFill>
            <a:srgbClr val="F5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7640" rIns="90000" bIns="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win-dot3"/>
          <p:cNvSpPr/>
          <p:nvPr/>
        </p:nvSpPr>
        <p:spPr>
          <a:xfrm>
            <a:off x="1244520" y="1638360"/>
            <a:ext cx="88560" cy="88560"/>
          </a:xfrm>
          <a:prstGeom prst="ellipse">
            <a:avLst/>
          </a:prstGeom>
          <a:solidFill>
            <a:srgbClr val="16C7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7640" rIns="90000" bIns="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win-title"/>
          <p:cNvSpPr/>
          <p:nvPr/>
        </p:nvSpPr>
        <p:spPr>
          <a:xfrm>
            <a:off x="1473120" y="1600200"/>
            <a:ext cx="60955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GOAI · </a:t>
            </a:r>
            <a:r>
              <a:rPr lang="zh-CN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腾讯业绩跨式 </a:t>
            </a:r>
            <a:r>
              <a:rPr lang="en-US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· REPLAY / FROZEN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win-vrule"/>
          <p:cNvSpPr/>
          <p:nvPr/>
        </p:nvSpPr>
        <p:spPr>
          <a:xfrm>
            <a:off x="4317840" y="1854360"/>
            <a:ext cx="12240" cy="3022200"/>
          </a:xfrm>
          <a:custGeom>
            <a:avLst/>
            <a:gdLst>
              <a:gd name="textAreaLeft" fmla="*/ 0 w 12240"/>
              <a:gd name="textAreaRight" fmla="*/ 12600 w 12240"/>
              <a:gd name="textAreaTop" fmla="*/ 0 h 3022200"/>
              <a:gd name="textAreaBottom" fmla="*/ 3022560 h 3022200"/>
            </a:gdLst>
            <a:ahLst/>
            <a:cxnLst/>
            <a:rect l="textAreaLeft" t="textAreaTop" r="textAreaRight" b="textAreaBottom"/>
            <a:pathLst>
              <a:path w="1" h="238">
                <a:moveTo>
                  <a:pt x="0" y="0"/>
                </a:moveTo>
                <a:lnTo>
                  <a:pt x="0" y="238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win-hrule"/>
          <p:cNvSpPr/>
          <p:nvPr/>
        </p:nvSpPr>
        <p:spPr>
          <a:xfrm>
            <a:off x="762120" y="3365640"/>
            <a:ext cx="7111800" cy="12240"/>
          </a:xfrm>
          <a:custGeom>
            <a:avLst/>
            <a:gdLst>
              <a:gd name="textAreaLeft" fmla="*/ 0 w 7111800"/>
              <a:gd name="textAreaRight" fmla="*/ 7112160 w 71118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560" h="1">
                <a:moveTo>
                  <a:pt x="0" y="0"/>
                </a:moveTo>
                <a:lnTo>
                  <a:pt x="56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l-head"/>
          <p:cNvSpPr/>
          <p:nvPr/>
        </p:nvSpPr>
        <p:spPr>
          <a:xfrm>
            <a:off x="914400" y="1955880"/>
            <a:ext cx="22856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对话与任务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l-bubble"/>
          <p:cNvSpPr/>
          <p:nvPr/>
        </p:nvSpPr>
        <p:spPr>
          <a:xfrm>
            <a:off x="914400" y="2209680"/>
            <a:ext cx="3047760" cy="43128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l-bubble-text"/>
          <p:cNvSpPr/>
          <p:nvPr/>
        </p:nvSpPr>
        <p:spPr>
          <a:xfrm>
            <a:off x="1041480" y="2286000"/>
            <a:ext cx="27936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腾讯业绩快到了，方向不确定。帮我看看跨式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l-chips"/>
          <p:cNvSpPr/>
          <p:nvPr/>
        </p:nvSpPr>
        <p:spPr>
          <a:xfrm>
            <a:off x="914400" y="2743200"/>
            <a:ext cx="30477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标的 </a:t>
            </a:r>
            <a:r>
              <a:rPr lang="en-US" sz="900" b="0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00700 · </a:t>
            </a:r>
            <a:r>
              <a:rPr lang="zh-CN" sz="900" b="0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到期 </a:t>
            </a:r>
            <a:r>
              <a:rPr lang="en-US" sz="900" b="0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8.14 · </a:t>
            </a:r>
            <a:r>
              <a:rPr lang="zh-CN" sz="900" b="0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预算 </a:t>
            </a:r>
            <a:r>
              <a:rPr lang="en-US" sz="900" b="0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5%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现金 </a:t>
            </a:r>
            <a:r>
              <a:rPr lang="en-US" sz="900" b="0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100,000 HKD · </a:t>
            </a:r>
            <a:r>
              <a:rPr lang="zh-CN" sz="900" b="0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观点 不确定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r-head"/>
          <p:cNvSpPr/>
          <p:nvPr/>
        </p:nvSpPr>
        <p:spPr>
          <a:xfrm>
            <a:off x="4470480" y="1955880"/>
            <a:ext cx="22856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期权链与流动性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r-rows"/>
          <p:cNvSpPr/>
          <p:nvPr/>
        </p:nvSpPr>
        <p:spPr>
          <a:xfrm>
            <a:off x="4470480" y="2209680"/>
            <a:ext cx="3250800" cy="6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480C bid 9.79 / ask 10.75 · IV 43.0% · OI 854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480P bid 10.33 / ask 11.32 · IV 41.6% · OI 1,744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价差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9.3% / 9.1% · </a:t>
            </a:r>
            <a:r>
              <a:rPr lang="zh-CN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报价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11:56 </a:t>
            </a:r>
            <a:r>
              <a:rPr lang="zh-CN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冻结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r-tag"/>
          <p:cNvSpPr/>
          <p:nvPr/>
        </p:nvSpPr>
        <p:spPr>
          <a:xfrm>
            <a:off x="4470480" y="2971800"/>
            <a:ext cx="32508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F5B942"/>
                </a:solidFill>
                <a:effectLst/>
                <a:uFillTx/>
                <a:latin typeface="Arial"/>
                <a:ea typeface="MiSans"/>
              </a:rPr>
              <a:t>主到期流动性弱于次到期（</a:t>
            </a:r>
            <a:r>
              <a:rPr lang="en-US" sz="900" b="1" u="none" strike="noStrike">
                <a:solidFill>
                  <a:srgbClr val="F5B942"/>
                </a:solidFill>
                <a:effectLst/>
                <a:uFillTx/>
                <a:latin typeface="Arial"/>
                <a:ea typeface="MiSans"/>
              </a:rPr>
              <a:t>8.28</a:t>
            </a:r>
            <a:r>
              <a:rPr lang="zh-CN" sz="900" b="1" u="none" strike="noStrike">
                <a:solidFill>
                  <a:srgbClr val="F5B942"/>
                </a:solidFill>
                <a:effectLst/>
                <a:uFillTx/>
                <a:latin typeface="Arial"/>
                <a:ea typeface="MiSans"/>
              </a:rPr>
              <a:t>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bl-head"/>
          <p:cNvSpPr/>
          <p:nvPr/>
        </p:nvSpPr>
        <p:spPr>
          <a:xfrm>
            <a:off x="914400" y="3467160"/>
            <a:ext cx="22856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策略与账户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bl-num1"/>
          <p:cNvSpPr/>
          <p:nvPr/>
        </p:nvSpPr>
        <p:spPr>
          <a:xfrm>
            <a:off x="914400" y="3733920"/>
            <a:ext cx="1396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700" b="1" u="none" strike="noStrike">
                <a:solidFill>
                  <a:srgbClr val="F2F5F9"/>
                </a:solidFill>
                <a:effectLst/>
                <a:uFillTx/>
                <a:latin typeface="Georgia"/>
                <a:ea typeface="Georgia"/>
              </a:rPr>
              <a:t>4,414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bl-num1-label"/>
          <p:cNvSpPr/>
          <p:nvPr/>
        </p:nvSpPr>
        <p:spPr>
          <a:xfrm>
            <a:off x="914400" y="4064040"/>
            <a:ext cx="16506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成本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HKD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（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ask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口径）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bl-num2"/>
          <p:cNvSpPr/>
          <p:nvPr/>
        </p:nvSpPr>
        <p:spPr>
          <a:xfrm>
            <a:off x="2819520" y="3733920"/>
            <a:ext cx="1396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700" b="1" u="none" strike="noStrike">
                <a:solidFill>
                  <a:srgbClr val="F2F5F9"/>
                </a:solidFill>
                <a:effectLst/>
                <a:uFillTx/>
                <a:latin typeface="Georgia"/>
                <a:ea typeface="Georgia"/>
              </a:rPr>
              <a:t>458.9–501.1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bl-num2-label"/>
          <p:cNvSpPr/>
          <p:nvPr/>
        </p:nvSpPr>
        <p:spPr>
          <a:xfrm>
            <a:off x="2819520" y="4064040"/>
            <a:ext cx="17776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盈亏平衡区间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bl-budget-track"/>
          <p:cNvSpPr/>
          <p:nvPr/>
        </p:nvSpPr>
        <p:spPr>
          <a:xfrm>
            <a:off x="914400" y="4368960"/>
            <a:ext cx="3047760" cy="101160"/>
          </a:xfrm>
          <a:prstGeom prst="rect">
            <a:avLst/>
          </a:prstGeom>
          <a:solidFill>
            <a:srgbClr val="FFFFFF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bl-budget-fill"/>
          <p:cNvSpPr/>
          <p:nvPr/>
        </p:nvSpPr>
        <p:spPr>
          <a:xfrm>
            <a:off x="914400" y="4368960"/>
            <a:ext cx="2692080" cy="10116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bl-budget-note"/>
          <p:cNvSpPr/>
          <p:nvPr/>
        </p:nvSpPr>
        <p:spPr>
          <a:xfrm>
            <a:off x="914400" y="4521240"/>
            <a:ext cx="3047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预算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5,000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占用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88% 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最大亏损 ≤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5%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br-head"/>
          <p:cNvSpPr/>
          <p:nvPr/>
        </p:nvSpPr>
        <p:spPr>
          <a:xfrm>
            <a:off x="4470480" y="3467160"/>
            <a:ext cx="22856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事件与证据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br-rows"/>
          <p:cNvSpPr/>
          <p:nvPr/>
        </p:nvSpPr>
        <p:spPr>
          <a:xfrm>
            <a:off x="4470480" y="3733920"/>
            <a:ext cx="3250800" cy="6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业绩 </a:t>
            </a:r>
            <a:r>
              <a:rPr lang="en-US" sz="9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8.12 · </a:t>
            </a:r>
            <a:r>
              <a:rPr lang="zh-CN" sz="9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预期波动 </a:t>
            </a:r>
            <a:r>
              <a:rPr lang="en-US" sz="9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3.92%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IV 37.4% · IV Rank 72.9 · Pct 85.3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IV crush </a:t>
            </a:r>
            <a:r>
              <a:rPr lang="zh-CN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风险显著</a:t>
            </a:r>
            <a:r>
              <a:rPr lang="en-US" sz="9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 </a:t>
            </a:r>
            <a:r>
              <a:rPr lang="en-US" sz="9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· pin/assignment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br-source"/>
          <p:cNvSpPr/>
          <p:nvPr/>
        </p:nvSpPr>
        <p:spPr>
          <a:xfrm>
            <a:off x="4470480" y="4470480"/>
            <a:ext cx="3250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来源 </a:t>
            </a:r>
            <a:r>
              <a:rPr lang="en-US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futuapi/OpenD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快照 </a:t>
            </a:r>
            <a:r>
              <a:rPr lang="en-US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SHA-256 cf567c59…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p1-dot"/>
          <p:cNvSpPr/>
          <p:nvPr/>
        </p:nvSpPr>
        <p:spPr>
          <a:xfrm>
            <a:off x="8128080" y="1676520"/>
            <a:ext cx="101160" cy="10116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1-label"/>
          <p:cNvSpPr/>
          <p:nvPr/>
        </p:nvSpPr>
        <p:spPr>
          <a:xfrm>
            <a:off x="8331120" y="1625760"/>
            <a:ext cx="309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对话与任务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p1-desc"/>
          <p:cNvSpPr/>
          <p:nvPr/>
        </p:nvSpPr>
        <p:spPr>
          <a:xfrm>
            <a:off x="8331120" y="1879560"/>
            <a:ext cx="30985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场景摘要、必要追问、当前阶段与暂停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修改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停止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p2-dot"/>
          <p:cNvSpPr/>
          <p:nvPr/>
        </p:nvSpPr>
        <p:spPr>
          <a:xfrm>
            <a:off x="8128080" y="2438280"/>
            <a:ext cx="101160" cy="10116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2-label"/>
          <p:cNvSpPr/>
          <p:nvPr/>
        </p:nvSpPr>
        <p:spPr>
          <a:xfrm>
            <a:off x="8331120" y="2387520"/>
            <a:ext cx="309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期权链与流动性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p2-desc"/>
          <p:cNvSpPr/>
          <p:nvPr/>
        </p:nvSpPr>
        <p:spPr>
          <a:xfrm>
            <a:off x="8331120" y="2641680"/>
            <a:ext cx="30985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行权价、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bid/ask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IV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OI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与成交量、报价新鲜度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p3-dot"/>
          <p:cNvSpPr/>
          <p:nvPr/>
        </p:nvSpPr>
        <p:spPr>
          <a:xfrm>
            <a:off x="8128080" y="3200400"/>
            <a:ext cx="101160" cy="10116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3-label"/>
          <p:cNvSpPr/>
          <p:nvPr/>
        </p:nvSpPr>
        <p:spPr>
          <a:xfrm>
            <a:off x="8331120" y="3149640"/>
            <a:ext cx="309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策略与账户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p3-desc"/>
          <p:cNvSpPr/>
          <p:nvPr/>
        </p:nvSpPr>
        <p:spPr>
          <a:xfrm>
            <a:off x="8331120" y="3403440"/>
            <a:ext cx="30985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方案、成本、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Greeks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、损益图与风险预算剩余缓冲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p4-dot"/>
          <p:cNvSpPr/>
          <p:nvPr/>
        </p:nvSpPr>
        <p:spPr>
          <a:xfrm>
            <a:off x="8128080" y="3962520"/>
            <a:ext cx="101160" cy="10116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4-label"/>
          <p:cNvSpPr/>
          <p:nvPr/>
        </p:nvSpPr>
        <p:spPr>
          <a:xfrm>
            <a:off x="8331120" y="3911760"/>
            <a:ext cx="309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事件与证据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p4-desc"/>
          <p:cNvSpPr/>
          <p:nvPr/>
        </p:nvSpPr>
        <p:spPr>
          <a:xfrm>
            <a:off x="8331120" y="4165560"/>
            <a:ext cx="30985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业绩、股息、公司行动、关键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claim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、来源与审计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p-note"/>
          <p:cNvSpPr/>
          <p:nvPr/>
        </p:nvSpPr>
        <p:spPr>
          <a:xfrm>
            <a:off x="8331120" y="4673520"/>
            <a:ext cx="309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F5B942"/>
                </a:solidFill>
                <a:effectLst/>
                <a:uFillTx/>
                <a:latin typeface="Arial"/>
                <a:ea typeface="MiSans"/>
              </a:rPr>
              <a:t>Live </a:t>
            </a:r>
            <a:r>
              <a:rPr lang="zh-CN" sz="900" b="0" u="none" strike="noStrike">
                <a:solidFill>
                  <a:srgbClr val="F5B942"/>
                </a:solidFill>
                <a:effectLst/>
                <a:uFillTx/>
                <a:latin typeface="Arial"/>
                <a:ea typeface="MiSans"/>
              </a:rPr>
              <a:t>数据、对话编排与模拟确认为复赛接入项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quote-bar"/>
          <p:cNvSpPr/>
          <p:nvPr/>
        </p:nvSpPr>
        <p:spPr>
          <a:xfrm>
            <a:off x="762120" y="5029200"/>
            <a:ext cx="10667520" cy="431280"/>
          </a:xfrm>
          <a:prstGeom prst="rect">
            <a:avLst/>
          </a:prstGeom>
          <a:solidFill>
            <a:srgbClr val="38BDF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quote-rail"/>
          <p:cNvSpPr/>
          <p:nvPr/>
        </p:nvSpPr>
        <p:spPr>
          <a:xfrm>
            <a:off x="762120" y="5029200"/>
            <a:ext cx="50400" cy="4312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quote-label"/>
          <p:cNvSpPr/>
          <p:nvPr/>
        </p:nvSpPr>
        <p:spPr>
          <a:xfrm>
            <a:off x="939960" y="5105520"/>
            <a:ext cx="507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金句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quote-text"/>
          <p:cNvSpPr/>
          <p:nvPr/>
        </p:nvSpPr>
        <p:spPr>
          <a:xfrm>
            <a:off x="1498680" y="5092560"/>
            <a:ext cx="97786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真实数据，是界面唯一的卖点。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四面板同屏把研究、计算与风控收拢到一屏；所有数字来自冻结快照并标注来源，界面不虚构、不补造行权价。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素材：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ui/index.html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（参考界面）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data/hero_inputs.json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05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06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HERO CASE · 05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腾讯业绩跨式：</a:t>
            </a:r>
            <a:r>
              <a:rPr lang="en-US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Edge </a:t>
            </a: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未过，系统诚实给出 </a:t>
            </a:r>
            <a:r>
              <a:rPr lang="en-US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NO_TRADE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冻结快照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2026-08-08 11:56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（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HK CLOSED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）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· REPLAY / FUTU / FROZEN ·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决策卡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2026-08-12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v1-num"/>
          <p:cNvSpPr/>
          <p:nvPr/>
        </p:nvSpPr>
        <p:spPr>
          <a:xfrm>
            <a:off x="762120" y="1625760"/>
            <a:ext cx="2793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F2F5F9"/>
                </a:solidFill>
                <a:effectLst/>
                <a:uFillTx/>
                <a:latin typeface="Georgia"/>
                <a:ea typeface="Microsoft YaHei"/>
              </a:rPr>
              <a:t>478.8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v1-label"/>
          <p:cNvSpPr/>
          <p:nvPr/>
        </p:nvSpPr>
        <p:spPr>
          <a:xfrm>
            <a:off x="762120" y="2031840"/>
            <a:ext cx="2793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现货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HKD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v2-num"/>
          <p:cNvSpPr/>
          <p:nvPr/>
        </p:nvSpPr>
        <p:spPr>
          <a:xfrm>
            <a:off x="3809880" y="1625760"/>
            <a:ext cx="2793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F2F5F9"/>
                </a:solidFill>
                <a:effectLst/>
                <a:uFillTx/>
                <a:latin typeface="Georgia"/>
                <a:ea typeface="Microsoft YaHei"/>
              </a:rPr>
              <a:t>480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v2-label"/>
          <p:cNvSpPr/>
          <p:nvPr/>
        </p:nvSpPr>
        <p:spPr>
          <a:xfrm>
            <a:off x="3809880" y="2031840"/>
            <a:ext cx="2793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ATM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行权价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8/14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到期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2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张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v3-num"/>
          <p:cNvSpPr/>
          <p:nvPr/>
        </p:nvSpPr>
        <p:spPr>
          <a:xfrm>
            <a:off x="762120" y="2489040"/>
            <a:ext cx="2793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F5B942"/>
                </a:solidFill>
                <a:effectLst/>
                <a:uFillTx/>
                <a:latin typeface="Georgia"/>
                <a:ea typeface="Microsoft YaHei"/>
              </a:rPr>
              <a:t>4,414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v3-label"/>
          <p:cNvSpPr/>
          <p:nvPr/>
        </p:nvSpPr>
        <p:spPr>
          <a:xfrm>
            <a:off x="762120" y="2895480"/>
            <a:ext cx="2793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买入成本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HKD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（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ask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口径）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v4-num"/>
          <p:cNvSpPr/>
          <p:nvPr/>
        </p:nvSpPr>
        <p:spPr>
          <a:xfrm>
            <a:off x="3809880" y="2489040"/>
            <a:ext cx="2793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F2F5F9"/>
                </a:solidFill>
                <a:effectLst/>
                <a:uFillTx/>
                <a:latin typeface="Georgia"/>
                <a:ea typeface="Microsoft YaHei"/>
              </a:rPr>
              <a:t>458.9 / 501.1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v4-label"/>
          <p:cNvSpPr/>
          <p:nvPr/>
        </p:nvSpPr>
        <p:spPr>
          <a:xfrm>
            <a:off x="3809880" y="2895480"/>
            <a:ext cx="2793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盈亏平衡区间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需变动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±4.41%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v5-num"/>
          <p:cNvSpPr/>
          <p:nvPr/>
        </p:nvSpPr>
        <p:spPr>
          <a:xfrm>
            <a:off x="762120" y="3352680"/>
            <a:ext cx="2793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F6465D"/>
                </a:solidFill>
                <a:effectLst/>
                <a:uFillTx/>
                <a:latin typeface="Georgia"/>
                <a:ea typeface="Microsoft YaHei"/>
              </a:rPr>
              <a:t>3.92%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v5-label"/>
          <p:cNvSpPr/>
          <p:nvPr/>
        </p:nvSpPr>
        <p:spPr>
          <a:xfrm>
            <a:off x="762120" y="3759120"/>
            <a:ext cx="2793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市场预期业绩波动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v6-num"/>
          <p:cNvSpPr/>
          <p:nvPr/>
        </p:nvSpPr>
        <p:spPr>
          <a:xfrm>
            <a:off x="3809880" y="3352680"/>
            <a:ext cx="2793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F2F5F9"/>
                </a:solidFill>
                <a:effectLst/>
                <a:uFillTx/>
                <a:latin typeface="Georgia"/>
                <a:ea typeface="Microsoft YaHei"/>
              </a:rPr>
              <a:t>5,000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v6-label"/>
          <p:cNvSpPr/>
          <p:nvPr/>
        </p:nvSpPr>
        <p:spPr>
          <a:xfrm>
            <a:off x="3809880" y="3759120"/>
            <a:ext cx="2793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风险预算（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5% × 100,000 HKD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v7-num"/>
          <p:cNvSpPr/>
          <p:nvPr/>
        </p:nvSpPr>
        <p:spPr>
          <a:xfrm>
            <a:off x="762120" y="4216320"/>
            <a:ext cx="58417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3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IV 37.4% · IV Rank 72.9 · IV Pct 85.3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v7-label"/>
          <p:cNvSpPr/>
          <p:nvPr/>
        </p:nvSpPr>
        <p:spPr>
          <a:xfrm>
            <a:off x="762120" y="454644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F5B942"/>
                </a:solidFill>
                <a:effectLst/>
                <a:uFillTx/>
                <a:latin typeface="Arial"/>
                <a:ea typeface="MiSans"/>
              </a:rPr>
              <a:t>隐含波动处于历史高位，</a:t>
            </a:r>
            <a:r>
              <a:rPr lang="en-US" sz="900" b="0" u="none" strike="noStrike">
                <a:solidFill>
                  <a:srgbClr val="F5B942"/>
                </a:solidFill>
                <a:effectLst/>
                <a:uFillTx/>
                <a:latin typeface="Arial"/>
                <a:ea typeface="MiSans"/>
              </a:rPr>
              <a:t>IV crush </a:t>
            </a:r>
            <a:r>
              <a:rPr lang="zh-CN" sz="900" b="0" u="none" strike="noStrike">
                <a:solidFill>
                  <a:srgbClr val="F5B942"/>
                </a:solidFill>
                <a:effectLst/>
                <a:uFillTx/>
                <a:latin typeface="Arial"/>
                <a:ea typeface="MiSans"/>
              </a:rPr>
              <a:t>风险显著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verdict-plate"/>
          <p:cNvSpPr/>
          <p:nvPr/>
        </p:nvSpPr>
        <p:spPr>
          <a:xfrm>
            <a:off x="7112160" y="1600200"/>
            <a:ext cx="4317480" cy="327636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verdict-rail"/>
          <p:cNvSpPr/>
          <p:nvPr/>
        </p:nvSpPr>
        <p:spPr>
          <a:xfrm>
            <a:off x="7112160" y="1600200"/>
            <a:ext cx="50400" cy="327636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verdict-label"/>
          <p:cNvSpPr/>
          <p:nvPr/>
        </p:nvSpPr>
        <p:spPr>
          <a:xfrm>
            <a:off x="7416720" y="1778040"/>
            <a:ext cx="37080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决策卡结论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verdict-num"/>
          <p:cNvSpPr/>
          <p:nvPr/>
        </p:nvSpPr>
        <p:spPr>
          <a:xfrm>
            <a:off x="7416720" y="2031840"/>
            <a:ext cx="37080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34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Microsoft YaHei"/>
              </a:rPr>
              <a:t>NO_TRADE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verdict-rule"/>
          <p:cNvSpPr/>
          <p:nvPr/>
        </p:nvSpPr>
        <p:spPr>
          <a:xfrm>
            <a:off x="7416720" y="2692440"/>
            <a:ext cx="3708000" cy="12240"/>
          </a:xfrm>
          <a:custGeom>
            <a:avLst/>
            <a:gdLst>
              <a:gd name="textAreaLeft" fmla="*/ 0 w 3708000"/>
              <a:gd name="textAreaRight" fmla="*/ 3708360 w 3708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292" h="1">
                <a:moveTo>
                  <a:pt x="0" y="0"/>
                </a:moveTo>
                <a:lnTo>
                  <a:pt x="292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verdict-reason"/>
          <p:cNvSpPr/>
          <p:nvPr/>
        </p:nvSpPr>
        <p:spPr>
          <a:xfrm>
            <a:off x="7416720" y="2819520"/>
            <a:ext cx="370800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预期波动 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&lt; 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盈亏平衡所需幅度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历史回测负期望（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d+2 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口径 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A -7.8%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· IV crush -20% 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情景转负（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-711 HKD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verdict-next"/>
          <p:cNvSpPr/>
          <p:nvPr/>
        </p:nvSpPr>
        <p:spPr>
          <a:xfrm>
            <a:off x="7416720" y="3886200"/>
            <a:ext cx="370800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下一步：无需进入下单步骤。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可调整期限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行权价后重新评估。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change-head"/>
          <p:cNvSpPr/>
          <p:nvPr/>
        </p:nvSpPr>
        <p:spPr>
          <a:xfrm>
            <a:off x="762120" y="4927680"/>
            <a:ext cx="507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什么会改变结论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change-text"/>
          <p:cNvSpPr/>
          <p:nvPr/>
        </p:nvSpPr>
        <p:spPr>
          <a:xfrm>
            <a:off x="762120" y="5207040"/>
            <a:ext cx="1066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正股业绩日实际波动超过盈亏平衡幅度　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切换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8/28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到期或价差结构使成本显著下降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Live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行情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已验证费用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滑点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policy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后成本口径更新　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历史回测样本更新后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Edge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结论变化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quote-line"/>
          <p:cNvSpPr/>
          <p:nvPr/>
        </p:nvSpPr>
        <p:spPr>
          <a:xfrm>
            <a:off x="762120" y="5816520"/>
            <a:ext cx="106675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2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赔率不支持时，最好的仓位是 </a:t>
            </a: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NO_TRADE</a:t>
            </a:r>
            <a:r>
              <a:rPr lang="zh-CN" sz="12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数据：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decision_card_2026-08-12.json 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审计链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7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条记录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06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07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EVIDENCE · 06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期望收益不成立：预期波动低于成本，</a:t>
            </a:r>
            <a:r>
              <a:rPr lang="en-US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IV crush </a:t>
            </a: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后更差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到期情景损益（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HKD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，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ask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成本口径）与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IV crush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压力测试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4" name="pnl-table"/>
          <p:cNvGraphicFramePr/>
          <p:nvPr/>
        </p:nvGraphicFramePr>
        <p:xfrm>
          <a:off x="762120" y="1523880"/>
          <a:ext cx="5333760" cy="3098520"/>
        </p:xfrm>
        <a:graphic>
          <a:graphicData uri="http://schemas.openxmlformats.org/drawingml/2006/table">
            <a:tbl>
              <a:tblPr/>
              <a:tblGrid>
                <a:gridCol w="2026800"/>
                <a:gridCol w="1653480"/>
                <a:gridCol w="1653480"/>
              </a:tblGrid>
              <a:tr h="4028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到期情景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上行 </a:t>
                      </a:r>
                      <a:r>
                        <a:rPr lang="en-US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P&amp;L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下行 </a:t>
                      </a:r>
                      <a:r>
                        <a:rPr lang="en-US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P&amp;L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</a:tr>
              <a:tr h="8985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±1×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预期波动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F6465D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-904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F6465D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-424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8985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±1.5×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预期波动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16C784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+971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16C784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+1,451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</a:tr>
              <a:tr h="8985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±2×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预期波动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16C784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+2,846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16C784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+3,326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245" name="pnl-note"/>
          <p:cNvSpPr/>
          <p:nvPr/>
        </p:nvSpPr>
        <p:spPr>
          <a:xfrm>
            <a:off x="762120" y="4749840"/>
            <a:ext cx="5333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两腿按到期内在价值估算，未计入业绩后剩余时间价值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6" name="crush-chart"/>
          <p:cNvGraphicFramePr/>
          <p:nvPr/>
        </p:nvGraphicFramePr>
        <p:xfrm>
          <a:off x="6603840" y="1523880"/>
          <a:ext cx="4825800" cy="3352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47" name="quote-bar"/>
          <p:cNvSpPr/>
          <p:nvPr/>
        </p:nvSpPr>
        <p:spPr>
          <a:xfrm>
            <a:off x="762120" y="5029200"/>
            <a:ext cx="10667520" cy="431280"/>
          </a:xfrm>
          <a:prstGeom prst="rect">
            <a:avLst/>
          </a:prstGeom>
          <a:solidFill>
            <a:srgbClr val="38BDF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quote-rail"/>
          <p:cNvSpPr/>
          <p:nvPr/>
        </p:nvSpPr>
        <p:spPr>
          <a:xfrm>
            <a:off x="762120" y="5029200"/>
            <a:ext cx="50400" cy="4312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quote-label"/>
          <p:cNvSpPr/>
          <p:nvPr/>
        </p:nvSpPr>
        <p:spPr>
          <a:xfrm>
            <a:off x="939960" y="5105520"/>
            <a:ext cx="507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金句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quote-text"/>
          <p:cNvSpPr/>
          <p:nvPr/>
        </p:nvSpPr>
        <p:spPr>
          <a:xfrm>
            <a:off x="1498680" y="5092560"/>
            <a:ext cx="97786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IV </a:t>
            </a: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涨上去的便宜，都会在 </a:t>
            </a:r>
            <a:r>
              <a:rPr lang="en-US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crush </a:t>
            </a: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里还回来。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IV crush -20%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时，即使方向正确也亏损 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-711 HKD——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预期波动不足以覆盖买入成本。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数据：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decision_card_2026-08-12.json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（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proposal_ref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07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08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EVIDENCE · 07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历史 </a:t>
            </a:r>
            <a:r>
              <a:rPr lang="en-US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11–19 </a:t>
            </a: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个财报期：买入业绩跨式整体负期望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口径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A =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引擎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历史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IV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（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n=11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）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口径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B =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市场预期波动代理（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n=19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）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按到期内在价值平仓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1" name="bt-chart"/>
          <p:cNvGraphicFramePr/>
          <p:nvPr/>
        </p:nvGraphicFramePr>
        <p:xfrm>
          <a:off x="762120" y="1523880"/>
          <a:ext cx="7111800" cy="3352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62" name="win-plate"/>
          <p:cNvSpPr/>
          <p:nvPr/>
        </p:nvSpPr>
        <p:spPr>
          <a:xfrm>
            <a:off x="8128080" y="1523880"/>
            <a:ext cx="3301560" cy="121896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win-label"/>
          <p:cNvSpPr/>
          <p:nvPr/>
        </p:nvSpPr>
        <p:spPr>
          <a:xfrm>
            <a:off x="8381880" y="1676520"/>
            <a:ext cx="2793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d+2 </a:t>
            </a: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胜率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win-text"/>
          <p:cNvSpPr/>
          <p:nvPr/>
        </p:nvSpPr>
        <p:spPr>
          <a:xfrm>
            <a:off x="8381880" y="1955880"/>
            <a:ext cx="27936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口径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A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：</a:t>
            </a: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36%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口径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B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：</a:t>
            </a: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16%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caveat-head"/>
          <p:cNvSpPr/>
          <p:nvPr/>
        </p:nvSpPr>
        <p:spPr>
          <a:xfrm>
            <a:off x="8128080" y="2997360"/>
            <a:ext cx="330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口径边界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caveat-text"/>
          <p:cNvSpPr/>
          <p:nvPr/>
        </p:nvSpPr>
        <p:spPr>
          <a:xfrm>
            <a:off x="8128080" y="3276720"/>
            <a:ext cx="3301560" cy="15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历史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bid/ask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不可得，引擎成本按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IV + 5%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滑点近似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平仓按到期内在价值，忽略剩余时间价值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单标的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11–19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期，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t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统计量仅作量级参考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quote-bar"/>
          <p:cNvSpPr/>
          <p:nvPr/>
        </p:nvSpPr>
        <p:spPr>
          <a:xfrm>
            <a:off x="762120" y="5029200"/>
            <a:ext cx="10667520" cy="431280"/>
          </a:xfrm>
          <a:prstGeom prst="rect">
            <a:avLst/>
          </a:prstGeom>
          <a:solidFill>
            <a:srgbClr val="38BDF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quote-rail"/>
          <p:cNvSpPr/>
          <p:nvPr/>
        </p:nvSpPr>
        <p:spPr>
          <a:xfrm>
            <a:off x="762120" y="5029200"/>
            <a:ext cx="50400" cy="4312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quote-label"/>
          <p:cNvSpPr/>
          <p:nvPr/>
        </p:nvSpPr>
        <p:spPr>
          <a:xfrm>
            <a:off x="939960" y="5105520"/>
            <a:ext cx="507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金句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quote-text"/>
          <p:cNvSpPr/>
          <p:nvPr/>
        </p:nvSpPr>
        <p:spPr>
          <a:xfrm>
            <a:off x="1498680" y="5092560"/>
            <a:ext cx="97786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样本少的时候，诚实比自信值钱。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2025–2026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转好但样本少：结论是证据强度不足，而非机会不存在。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数据：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backtest_tencent_straddle.json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（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stats · engine/proxy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08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09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WHY AGENT · 08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固定计算器缺编排，通用 </a:t>
            </a:r>
            <a:r>
              <a:rPr lang="en-US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LLM </a:t>
            </a: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缺事实，</a:t>
            </a:r>
            <a:r>
              <a:rPr lang="en-US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Agent </a:t>
            </a: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补两者的缺口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LLM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只做理解、编排与解释；所有金融数字、门控与动作许可由确定性工具完成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c1"/>
          <p:cNvSpPr/>
          <p:nvPr/>
        </p:nvSpPr>
        <p:spPr>
          <a:xfrm>
            <a:off x="762120" y="1523880"/>
            <a:ext cx="3301560" cy="292068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c1-head"/>
          <p:cNvSpPr/>
          <p:nvPr/>
        </p:nvSpPr>
        <p:spPr>
          <a:xfrm>
            <a:off x="1015920" y="1701720"/>
            <a:ext cx="2793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固定计算器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c1-body"/>
          <p:cNvSpPr/>
          <p:nvPr/>
        </p:nvSpPr>
        <p:spPr>
          <a:xfrm>
            <a:off x="1015920" y="2057400"/>
            <a:ext cx="2793600" cy="21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能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：输入完整后稳定计算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601"/>
              </a:spcBef>
            </a:pPr>
            <a:r>
              <a:rPr lang="zh-CN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不能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：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补全缺失任务与必要追问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按标的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市场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策略选数据与模型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失败时降级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Replay / DRAFT_ONLY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解释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NO_TRADE / BLOCK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c2"/>
          <p:cNvSpPr/>
          <p:nvPr/>
        </p:nvSpPr>
        <p:spPr>
          <a:xfrm>
            <a:off x="4444920" y="1523880"/>
            <a:ext cx="3301560" cy="292068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c2-head"/>
          <p:cNvSpPr/>
          <p:nvPr/>
        </p:nvSpPr>
        <p:spPr>
          <a:xfrm>
            <a:off x="4699080" y="1701720"/>
            <a:ext cx="2793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通用 </a:t>
            </a:r>
            <a:r>
              <a:rPr lang="en-US" sz="105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LLM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c2-body"/>
          <p:cNvSpPr/>
          <p:nvPr/>
        </p:nvSpPr>
        <p:spPr>
          <a:xfrm>
            <a:off x="4699080" y="2057400"/>
            <a:ext cx="2793600" cy="21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能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：理解与表达自然语言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601"/>
              </a:spcBef>
            </a:pPr>
            <a:r>
              <a:rPr lang="zh-CN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不能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：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保证数字真实与口径正确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承担账户风控与权限判断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复算与追溯每个结论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c3"/>
          <p:cNvSpPr/>
          <p:nvPr/>
        </p:nvSpPr>
        <p:spPr>
          <a:xfrm>
            <a:off x="8128080" y="1523880"/>
            <a:ext cx="3301560" cy="292068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c3-head"/>
          <p:cNvSpPr/>
          <p:nvPr/>
        </p:nvSpPr>
        <p:spPr>
          <a:xfrm>
            <a:off x="8381880" y="1701720"/>
            <a:ext cx="2793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GOAI Agent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c3-body"/>
          <p:cNvSpPr/>
          <p:nvPr/>
        </p:nvSpPr>
        <p:spPr>
          <a:xfrm>
            <a:off x="8381880" y="2057400"/>
            <a:ext cx="2793600" cy="21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分工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LLM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解析场景、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编排工具、解释结果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601"/>
              </a:spcBef>
            </a:pPr>
            <a:r>
              <a:rPr lang="zh-CN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确定性引擎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：定价、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IV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Greeks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、成本、门控、审计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601"/>
              </a:spcBef>
            </a:pPr>
            <a:r>
              <a:rPr lang="zh-CN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异常处理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Live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不可用 →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Replay / DRAFT_ONLY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，不静默切换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agent-increments"/>
          <p:cNvSpPr/>
          <p:nvPr/>
        </p:nvSpPr>
        <p:spPr>
          <a:xfrm>
            <a:off x="762120" y="4724280"/>
            <a:ext cx="106675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Agent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增量：自然语言补全任务 → 动态选数据与模型 → 失败降级 → 只重算受影响部分 → 解释拒绝而非只给数字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quote-bar"/>
          <p:cNvSpPr/>
          <p:nvPr/>
        </p:nvSpPr>
        <p:spPr>
          <a:xfrm>
            <a:off x="762120" y="5029200"/>
            <a:ext cx="10667520" cy="431280"/>
          </a:xfrm>
          <a:prstGeom prst="rect">
            <a:avLst/>
          </a:prstGeom>
          <a:solidFill>
            <a:srgbClr val="38BDF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quote-rail"/>
          <p:cNvSpPr/>
          <p:nvPr/>
        </p:nvSpPr>
        <p:spPr>
          <a:xfrm>
            <a:off x="762120" y="5029200"/>
            <a:ext cx="50400" cy="4312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quote-label"/>
          <p:cNvSpPr/>
          <p:nvPr/>
        </p:nvSpPr>
        <p:spPr>
          <a:xfrm>
            <a:off x="939960" y="5105520"/>
            <a:ext cx="507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金句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quote-text"/>
          <p:cNvSpPr/>
          <p:nvPr/>
        </p:nvSpPr>
        <p:spPr>
          <a:xfrm>
            <a:off x="1498680" y="5092560"/>
            <a:ext cx="97786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LLM </a:t>
            </a: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说人话，引擎说真话。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Agent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的价值不是会聊天，而是把「会理解」与「会算数」接成一条可降级、可解释、可审计的任务闭环。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来源：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docs/PRD.md §1.3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为什么是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Agent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09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10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ARCHITECTURE · 09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en-US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Agent </a:t>
            </a: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只编排与解释，金融事实由受控边界产出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调用方向自上而下；写操作被隔离在只读边界之外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user-node"/>
          <p:cNvSpPr/>
          <p:nvPr/>
        </p:nvSpPr>
        <p:spPr>
          <a:xfrm>
            <a:off x="762120" y="1549440"/>
            <a:ext cx="5460480" cy="45684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user-text"/>
          <p:cNvSpPr/>
          <p:nvPr/>
        </p:nvSpPr>
        <p:spPr>
          <a:xfrm>
            <a:off x="965160" y="1638360"/>
            <a:ext cx="50796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用户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/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四面板终端（对话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链上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策略账户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事件证据）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a1"/>
          <p:cNvSpPr/>
          <p:nvPr/>
        </p:nvSpPr>
        <p:spPr>
          <a:xfrm>
            <a:off x="3429000" y="2006640"/>
            <a:ext cx="126720" cy="151920"/>
          </a:xfrm>
          <a:custGeom>
            <a:avLst/>
            <a:gdLst>
              <a:gd name="textAreaLeft" fmla="*/ 0 w 126720"/>
              <a:gd name="textAreaRight" fmla="*/ 127080 w 126720"/>
              <a:gd name="textAreaTop" fmla="*/ 0 h 151920"/>
              <a:gd name="textAreaBottom" fmla="*/ 152280 h 151920"/>
            </a:gdLst>
            <a:ahLst/>
            <a:cxnLst/>
            <a:rect l="textAreaLeft" t="textAreaTop" r="textAreaRight" b="textAreaBottom"/>
            <a:pathLst>
              <a:path w="10" h="12">
                <a:moveTo>
                  <a:pt x="5" y="0"/>
                </a:moveTo>
                <a:lnTo>
                  <a:pt x="5" y="12"/>
                </a:lnTo>
              </a:path>
            </a:pathLst>
          </a:custGeom>
          <a:noFill/>
          <a:ln cap="rnd" w="19050">
            <a:solidFill>
              <a:srgbClr val="38BDF8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agent-node"/>
          <p:cNvSpPr/>
          <p:nvPr/>
        </p:nvSpPr>
        <p:spPr>
          <a:xfrm>
            <a:off x="762120" y="2158920"/>
            <a:ext cx="5460480" cy="45684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agent-text"/>
          <p:cNvSpPr/>
          <p:nvPr/>
        </p:nvSpPr>
        <p:spPr>
          <a:xfrm>
            <a:off x="965160" y="2247840"/>
            <a:ext cx="50796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Decision Agent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（场景解析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工具编排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解释）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a2"/>
          <p:cNvSpPr/>
          <p:nvPr/>
        </p:nvSpPr>
        <p:spPr>
          <a:xfrm>
            <a:off x="3429000" y="2616120"/>
            <a:ext cx="126720" cy="151920"/>
          </a:xfrm>
          <a:custGeom>
            <a:avLst/>
            <a:gdLst>
              <a:gd name="textAreaLeft" fmla="*/ 0 w 126720"/>
              <a:gd name="textAreaRight" fmla="*/ 127080 w 126720"/>
              <a:gd name="textAreaTop" fmla="*/ 0 h 151920"/>
              <a:gd name="textAreaBottom" fmla="*/ 152280 h 151920"/>
            </a:gdLst>
            <a:ahLst/>
            <a:cxnLst/>
            <a:rect l="textAreaLeft" t="textAreaTop" r="textAreaRight" b="textAreaBottom"/>
            <a:pathLst>
              <a:path w="10" h="12">
                <a:moveTo>
                  <a:pt x="5" y="0"/>
                </a:moveTo>
                <a:lnTo>
                  <a:pt x="5" y="12"/>
                </a:lnTo>
              </a:path>
            </a:pathLst>
          </a:custGeom>
          <a:noFill/>
          <a:ln cap="rnd" w="19050">
            <a:solidFill>
              <a:srgbClr val="38BDF8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ervice-node"/>
          <p:cNvSpPr/>
          <p:nvPr/>
        </p:nvSpPr>
        <p:spPr>
          <a:xfrm>
            <a:off x="762120" y="2768760"/>
            <a:ext cx="5460480" cy="45684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ervice-text"/>
          <p:cNvSpPr/>
          <p:nvPr/>
        </p:nvSpPr>
        <p:spPr>
          <a:xfrm>
            <a:off x="965160" y="2857680"/>
            <a:ext cx="50796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DecisionInputService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（唯一只读入口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refresh_decision_inputs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a3"/>
          <p:cNvSpPr/>
          <p:nvPr/>
        </p:nvSpPr>
        <p:spPr>
          <a:xfrm>
            <a:off x="3429000" y="3225960"/>
            <a:ext cx="126720" cy="151920"/>
          </a:xfrm>
          <a:custGeom>
            <a:avLst/>
            <a:gdLst>
              <a:gd name="textAreaLeft" fmla="*/ 0 w 126720"/>
              <a:gd name="textAreaRight" fmla="*/ 127080 w 126720"/>
              <a:gd name="textAreaTop" fmla="*/ 0 h 151920"/>
              <a:gd name="textAreaBottom" fmla="*/ 152280 h 151920"/>
            </a:gdLst>
            <a:ahLst/>
            <a:cxnLst/>
            <a:rect l="textAreaLeft" t="textAreaTop" r="textAreaRight" b="textAreaBottom"/>
            <a:pathLst>
              <a:path w="10" h="12">
                <a:moveTo>
                  <a:pt x="5" y="0"/>
                </a:moveTo>
                <a:lnTo>
                  <a:pt x="5" y="12"/>
                </a:lnTo>
              </a:path>
            </a:pathLst>
          </a:custGeom>
          <a:noFill/>
          <a:ln cap="rnd" w="19050">
            <a:solidFill>
              <a:srgbClr val="38BDF8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gateway-node"/>
          <p:cNvSpPr/>
          <p:nvPr/>
        </p:nvSpPr>
        <p:spPr>
          <a:xfrm>
            <a:off x="762120" y="3378240"/>
            <a:ext cx="5460480" cy="45684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gateway-text"/>
          <p:cNvSpPr/>
          <p:nvPr/>
        </p:nvSpPr>
        <p:spPr>
          <a:xfrm>
            <a:off x="965160" y="3467160"/>
            <a:ext cx="50796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Gateway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：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FutuLiveGateway / ReplayGateway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a4"/>
          <p:cNvSpPr/>
          <p:nvPr/>
        </p:nvSpPr>
        <p:spPr>
          <a:xfrm>
            <a:off x="3429000" y="3835440"/>
            <a:ext cx="126720" cy="151920"/>
          </a:xfrm>
          <a:custGeom>
            <a:avLst/>
            <a:gdLst>
              <a:gd name="textAreaLeft" fmla="*/ 0 w 126720"/>
              <a:gd name="textAreaRight" fmla="*/ 127080 w 126720"/>
              <a:gd name="textAreaTop" fmla="*/ 0 h 151920"/>
              <a:gd name="textAreaBottom" fmla="*/ 152280 h 151920"/>
            </a:gdLst>
            <a:ahLst/>
            <a:cxnLst/>
            <a:rect l="textAreaLeft" t="textAreaTop" r="textAreaRight" b="textAreaBottom"/>
            <a:pathLst>
              <a:path w="10" h="12">
                <a:moveTo>
                  <a:pt x="5" y="0"/>
                </a:moveTo>
                <a:lnTo>
                  <a:pt x="5" y="12"/>
                </a:lnTo>
              </a:path>
            </a:pathLst>
          </a:custGeom>
          <a:noFill/>
          <a:ln cap="rnd" w="19050">
            <a:solidFill>
              <a:srgbClr val="38BDF8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engine-node"/>
          <p:cNvSpPr/>
          <p:nvPr/>
        </p:nvSpPr>
        <p:spPr>
          <a:xfrm>
            <a:off x="762120" y="3987720"/>
            <a:ext cx="5460480" cy="45684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engine-text"/>
          <p:cNvSpPr/>
          <p:nvPr/>
        </p:nvSpPr>
        <p:spPr>
          <a:xfrm>
            <a:off x="965160" y="4076640"/>
            <a:ext cx="50796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自研引擎：规格 → 定价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/IV/Greeks →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可成交成本 → 门控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a5"/>
          <p:cNvSpPr/>
          <p:nvPr/>
        </p:nvSpPr>
        <p:spPr>
          <a:xfrm>
            <a:off x="3429000" y="4444920"/>
            <a:ext cx="126720" cy="151920"/>
          </a:xfrm>
          <a:custGeom>
            <a:avLst/>
            <a:gdLst>
              <a:gd name="textAreaLeft" fmla="*/ 0 w 126720"/>
              <a:gd name="textAreaRight" fmla="*/ 127080 w 126720"/>
              <a:gd name="textAreaTop" fmla="*/ 0 h 151920"/>
              <a:gd name="textAreaBottom" fmla="*/ 152280 h 151920"/>
            </a:gdLst>
            <a:ahLst/>
            <a:cxnLst/>
            <a:rect l="textAreaLeft" t="textAreaTop" r="textAreaRight" b="textAreaBottom"/>
            <a:pathLst>
              <a:path w="10" h="12">
                <a:moveTo>
                  <a:pt x="5" y="0"/>
                </a:moveTo>
                <a:lnTo>
                  <a:pt x="5" y="12"/>
                </a:lnTo>
              </a:path>
            </a:pathLst>
          </a:custGeom>
          <a:noFill/>
          <a:ln cap="rnd" w="19050">
            <a:solidFill>
              <a:srgbClr val="38BDF8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audit-node"/>
          <p:cNvSpPr/>
          <p:nvPr/>
        </p:nvSpPr>
        <p:spPr>
          <a:xfrm>
            <a:off x="762120" y="4597560"/>
            <a:ext cx="5460480" cy="45684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audit-text"/>
          <p:cNvSpPr/>
          <p:nvPr/>
        </p:nvSpPr>
        <p:spPr>
          <a:xfrm>
            <a:off x="965160" y="4686480"/>
            <a:ext cx="50796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审计链：</a:t>
            </a:r>
            <a:r>
              <a:rPr lang="en-US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JSONL + SHA-256</a:t>
            </a:r>
            <a:r>
              <a:rPr lang="zh-CN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（决策卡 </a:t>
            </a:r>
            <a:r>
              <a:rPr lang="en-US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/ </a:t>
            </a:r>
            <a:r>
              <a:rPr lang="zh-CN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审计日志）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note1-title"/>
          <p:cNvSpPr/>
          <p:nvPr/>
        </p:nvSpPr>
        <p:spPr>
          <a:xfrm>
            <a:off x="6730920" y="1549440"/>
            <a:ext cx="4698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LLM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隔离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note1-body"/>
          <p:cNvSpPr/>
          <p:nvPr/>
        </p:nvSpPr>
        <p:spPr>
          <a:xfrm>
            <a:off x="6730920" y="1803240"/>
            <a:ext cx="46987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不接触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SDK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、账户密钥与订单工具；只能调用只读入口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note2-title"/>
          <p:cNvSpPr/>
          <p:nvPr/>
        </p:nvSpPr>
        <p:spPr>
          <a:xfrm>
            <a:off x="6730920" y="2286000"/>
            <a:ext cx="4698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失败路径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note2-body"/>
          <p:cNvSpPr/>
          <p:nvPr/>
        </p:nvSpPr>
        <p:spPr>
          <a:xfrm>
            <a:off x="6730920" y="2540160"/>
            <a:ext cx="46987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Live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不可用 → 明确进入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Replay / DRAFT_ONLY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，不静默切换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note3-title"/>
          <p:cNvSpPr/>
          <p:nvPr/>
        </p:nvSpPr>
        <p:spPr>
          <a:xfrm>
            <a:off x="6730920" y="3022560"/>
            <a:ext cx="4698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一致性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note3-body"/>
          <p:cNvSpPr/>
          <p:nvPr/>
        </p:nvSpPr>
        <p:spPr>
          <a:xfrm>
            <a:off x="6730920" y="3276720"/>
            <a:ext cx="46987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Replay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固定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as_of_utc + 60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秒一致性窗口；快照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SHA-256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校验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readonly-box"/>
          <p:cNvSpPr/>
          <p:nvPr/>
        </p:nvSpPr>
        <p:spPr>
          <a:xfrm>
            <a:off x="6603840" y="3759120"/>
            <a:ext cx="4825800" cy="914040"/>
          </a:xfrm>
          <a:prstGeom prst="rect">
            <a:avLst/>
          </a:prstGeom>
          <a:solidFill>
            <a:srgbClr val="0D1117"/>
          </a:solidFill>
          <a:ln w="19050">
            <a:solidFill>
              <a:srgbClr val="38BDF8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note4-title"/>
          <p:cNvSpPr/>
          <p:nvPr/>
        </p:nvSpPr>
        <p:spPr>
          <a:xfrm>
            <a:off x="6832440" y="3886200"/>
            <a:ext cx="4368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只读边界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note4-body"/>
          <p:cNvSpPr/>
          <p:nvPr/>
        </p:nvSpPr>
        <p:spPr>
          <a:xfrm>
            <a:off x="6832440" y="4140360"/>
            <a:ext cx="436860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Gateway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无下单、改单、撤单或解锁方法；写操作需独立确认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note5-title"/>
          <p:cNvSpPr/>
          <p:nvPr/>
        </p:nvSpPr>
        <p:spPr>
          <a:xfrm>
            <a:off x="6730920" y="4775040"/>
            <a:ext cx="4698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可复算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note5-body"/>
          <p:cNvSpPr/>
          <p:nvPr/>
        </p:nvSpPr>
        <p:spPr>
          <a:xfrm>
            <a:off x="6730920" y="5029200"/>
            <a:ext cx="46987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同一冻结输入连续运行结果一致；数字可回到引擎输入与快照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「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LLM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说人话，引擎说真话。」写操作被隔离在只读边界之外，每次运行都留审计记录。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实现：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src/gateway.py · decision_inputs.py · pricing_engine.py · decision_pipeline.py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10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11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TRUST &amp; AUDIT · 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数据分层可信，结论哈希可复核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对应赛道评审口径：数据来源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隐私保护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审计与可复算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3" name="source-table"/>
          <p:cNvGraphicFramePr/>
          <p:nvPr/>
        </p:nvGraphicFramePr>
        <p:xfrm>
          <a:off x="762120" y="1523880"/>
          <a:ext cx="7111800" cy="3200040"/>
        </p:xfrm>
        <a:graphic>
          <a:graphicData uri="http://schemas.openxmlformats.org/drawingml/2006/table">
            <a:tbl>
              <a:tblPr/>
              <a:tblGrid>
                <a:gridCol w="2275560"/>
                <a:gridCol w="2417760"/>
                <a:gridCol w="2417760"/>
              </a:tblGrid>
              <a:tr h="320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数字类型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产出者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证据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</a:tr>
              <a:tr h="576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行情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/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盘口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/ IV / OI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Futu OpenAPI /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冻结快照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快照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SHA-256 +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时间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576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理论价值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/ IV / Greeks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自研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BS +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二叉树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 bump-and-reprice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引擎版本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输入参数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</a:tr>
              <a:tr h="576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可成交成本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引擎（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bid/ask +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费用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滑点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 tick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）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成本口径注明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576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门控判定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确定性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Edge / Risk / Action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决策卡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审计记录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</a:tr>
              <a:tr h="576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自然语言理解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/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解释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LLM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不进入金融数字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344" name="chain-label"/>
          <p:cNvSpPr/>
          <p:nvPr/>
        </p:nvSpPr>
        <p:spPr>
          <a:xfrm>
            <a:off x="8128080" y="1549440"/>
            <a:ext cx="330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审计哈希链（</a:t>
            </a:r>
            <a:r>
              <a:rPr lang="en-US" sz="110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Hero 7 </a:t>
            </a:r>
            <a:r>
              <a:rPr lang="zh-CN" sz="110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条记录）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chain-text"/>
          <p:cNvSpPr/>
          <p:nvPr/>
        </p:nvSpPr>
        <p:spPr>
          <a:xfrm>
            <a:off x="8128080" y="1828800"/>
            <a:ext cx="330156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scenario_parsed → data_loaded →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engine_computed → edge_gate →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risk_gate → action_gate →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decision_card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每条链接前一条，哈希仅展示前缀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rule1-tick"/>
          <p:cNvSpPr/>
          <p:nvPr/>
        </p:nvSpPr>
        <p:spPr>
          <a:xfrm>
            <a:off x="8128080" y="3276720"/>
            <a:ext cx="15192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rule1"/>
          <p:cNvSpPr/>
          <p:nvPr/>
        </p:nvSpPr>
        <p:spPr>
          <a:xfrm>
            <a:off x="8407440" y="3124080"/>
            <a:ext cx="30222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任何数字带来源、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时间与口径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rule2-tick"/>
          <p:cNvSpPr/>
          <p:nvPr/>
        </p:nvSpPr>
        <p:spPr>
          <a:xfrm>
            <a:off x="8128080" y="3936960"/>
            <a:ext cx="15192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ule2"/>
          <p:cNvSpPr/>
          <p:nvPr/>
        </p:nvSpPr>
        <p:spPr>
          <a:xfrm>
            <a:off x="8407440" y="3784680"/>
            <a:ext cx="30222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LLM 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估算的金融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数字视为缺陷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rule3-tick"/>
          <p:cNvSpPr/>
          <p:nvPr/>
        </p:nvSpPr>
        <p:spPr>
          <a:xfrm>
            <a:off x="8128080" y="4597560"/>
            <a:ext cx="15192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rule3"/>
          <p:cNvSpPr/>
          <p:nvPr/>
        </p:nvSpPr>
        <p:spPr>
          <a:xfrm>
            <a:off x="8407440" y="4444920"/>
            <a:ext cx="30222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授权行情与原始快照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不重新分发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quote-bar"/>
          <p:cNvSpPr/>
          <p:nvPr/>
        </p:nvSpPr>
        <p:spPr>
          <a:xfrm>
            <a:off x="762120" y="5029200"/>
            <a:ext cx="10667520" cy="431280"/>
          </a:xfrm>
          <a:prstGeom prst="rect">
            <a:avLst/>
          </a:prstGeom>
          <a:solidFill>
            <a:srgbClr val="38BDF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quote-rail"/>
          <p:cNvSpPr/>
          <p:nvPr/>
        </p:nvSpPr>
        <p:spPr>
          <a:xfrm>
            <a:off x="762120" y="5029200"/>
            <a:ext cx="50400" cy="4312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quote-label"/>
          <p:cNvSpPr/>
          <p:nvPr/>
        </p:nvSpPr>
        <p:spPr>
          <a:xfrm>
            <a:off x="939960" y="5105520"/>
            <a:ext cx="507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金句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quote-text"/>
          <p:cNvSpPr/>
          <p:nvPr/>
        </p:nvSpPr>
        <p:spPr>
          <a:xfrm>
            <a:off x="1498680" y="5092560"/>
            <a:ext cx="97786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可复算，是金融数字的最低要求。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口径分离：理论价值 ≠ 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mid ≠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买入成本 ≠ 平仓价值，四者并列展示、绝不混用；审计日志 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JSONL + SHA-256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防误改。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数据：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research/audit/audit_log.jsonl · data/snapshots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（本地保存，不重新分发）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11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12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COMPETITION · 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差异不在算法，而在可信闭环：可复算、可审计、敢拒绝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对比维度：数据、数值可信、账户约束、审计溯源、允许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NO_TRADE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6" name="diff-table"/>
          <p:cNvGraphicFramePr/>
          <p:nvPr/>
        </p:nvGraphicFramePr>
        <p:xfrm>
          <a:off x="762120" y="1523880"/>
          <a:ext cx="7619760" cy="3657240"/>
        </p:xfrm>
        <a:graphic>
          <a:graphicData uri="http://schemas.openxmlformats.org/drawingml/2006/table">
            <a:tbl>
              <a:tblPr/>
              <a:tblGrid>
                <a:gridCol w="2133360"/>
                <a:gridCol w="1143000"/>
                <a:gridCol w="1143000"/>
                <a:gridCol w="1143000"/>
                <a:gridCol w="1066680"/>
                <a:gridCol w="990360"/>
              </a:tblGrid>
              <a:tr h="320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方案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数据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数值可信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账户约束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审计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NO_TRADE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</a:tr>
              <a:tr h="576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Futu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手工流程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强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中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中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576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通用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LLM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弱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弱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</a:tr>
              <a:tr h="576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固定脚本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中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强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弱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576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Moomoo Engine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强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中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中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</a:tr>
              <a:tr h="576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Moontower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中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中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GOAI</a:t>
                      </a: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（本方案）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强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强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强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强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强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</a:tr>
            </a:tbl>
          </a:graphicData>
        </a:graphic>
      </p:graphicFrame>
      <p:sp>
        <p:nvSpPr>
          <p:cNvPr id="367" name="dim-head"/>
          <p:cNvSpPr/>
          <p:nvPr/>
        </p:nvSpPr>
        <p:spPr>
          <a:xfrm>
            <a:off x="8763120" y="1523880"/>
            <a:ext cx="2666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为什么是这五个维度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dim-text"/>
          <p:cNvSpPr/>
          <p:nvPr/>
        </p:nvSpPr>
        <p:spPr>
          <a:xfrm>
            <a:off x="8763120" y="1828800"/>
            <a:ext cx="2666520" cy="21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数据：是否真实、带时间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数值：能否复算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账户：是否算现金与保证金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审计：错了能否复盘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NO_TRADE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：敢不敢拒绝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799"/>
              </a:spcBef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评审可逐项回到本方案前页证据。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quote-plate"/>
          <p:cNvSpPr/>
          <p:nvPr/>
        </p:nvSpPr>
        <p:spPr>
          <a:xfrm>
            <a:off x="8763120" y="4089240"/>
            <a:ext cx="2666520" cy="711000"/>
          </a:xfrm>
          <a:prstGeom prst="rect">
            <a:avLst/>
          </a:prstGeom>
          <a:solidFill>
            <a:srgbClr val="38BDF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quote-rail"/>
          <p:cNvSpPr/>
          <p:nvPr/>
        </p:nvSpPr>
        <p:spPr>
          <a:xfrm>
            <a:off x="8763120" y="4089240"/>
            <a:ext cx="50400" cy="7110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quote-text"/>
          <p:cNvSpPr/>
          <p:nvPr/>
        </p:nvSpPr>
        <p:spPr>
          <a:xfrm>
            <a:off x="8966160" y="4216320"/>
            <a:ext cx="23364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数据、账户、审计、拒绝——四件事做齐，才是可信终端。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护城河 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=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对话场景 → 账户约束求解 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流动性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/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事件预警 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可复核审计；竞品信息来自公开研究（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research/01-market-landscape.md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）。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来源：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research/01-market-landscape.md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（方向性判断，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2026-08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公开资料）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12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13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MARKET · WHY NOW · 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服务有认知、缺工具的期权用户，市场窗口已经打开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价值主张：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90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秒内获得可核验的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Replay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决策价值；应用就绪后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60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秒内形成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Live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决策卡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user-panel"/>
          <p:cNvSpPr/>
          <p:nvPr/>
        </p:nvSpPr>
        <p:spPr>
          <a:xfrm>
            <a:off x="762120" y="1523880"/>
            <a:ext cx="5333760" cy="335232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user-rail"/>
          <p:cNvSpPr/>
          <p:nvPr/>
        </p:nvSpPr>
        <p:spPr>
          <a:xfrm>
            <a:off x="762120" y="1523880"/>
            <a:ext cx="50400" cy="335232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user-head"/>
          <p:cNvSpPr/>
          <p:nvPr/>
        </p:nvSpPr>
        <p:spPr>
          <a:xfrm>
            <a:off x="1066680" y="1701720"/>
            <a:ext cx="4723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目标用户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user-body"/>
          <p:cNvSpPr/>
          <p:nvPr/>
        </p:nvSpPr>
        <p:spPr>
          <a:xfrm>
            <a:off x="1066680" y="2057400"/>
            <a:ext cx="4723920" cy="11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会用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Futu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、理解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Call/Put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与基本风险，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但缺少专业终端与完整量化流程的港美股期权投资者。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601"/>
              </a:spcBef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核心任务：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把「业绩将近、方向不确定、最多亏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5%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」转成完整研究任务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快速知道成本、盈亏边界、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IV crush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、流动性与账户影响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明确为什么交易、暂缓或停止，并回到原始数据与计算依据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user-kpi"/>
          <p:cNvSpPr/>
          <p:nvPr/>
        </p:nvSpPr>
        <p:spPr>
          <a:xfrm>
            <a:off x="1066680" y="3886200"/>
            <a:ext cx="47239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90s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　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Replay 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决策价值（无需 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Futu 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账户）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60s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　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Live 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决策卡（应用就绪后目标）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why1-dot"/>
          <p:cNvSpPr/>
          <p:nvPr/>
        </p:nvSpPr>
        <p:spPr>
          <a:xfrm>
            <a:off x="6603840" y="1676520"/>
            <a:ext cx="101160" cy="10116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why1-label"/>
          <p:cNvSpPr/>
          <p:nvPr/>
        </p:nvSpPr>
        <p:spPr>
          <a:xfrm>
            <a:off x="6807240" y="1625760"/>
            <a:ext cx="4622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数据基础设施成熟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why1-desc"/>
          <p:cNvSpPr/>
          <p:nvPr/>
        </p:nvSpPr>
        <p:spPr>
          <a:xfrm>
            <a:off x="6807240" y="1879560"/>
            <a:ext cx="46224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富途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OpenAPI +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官方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futuapi Skill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开放实时行情、期权链与模拟盘，个人开发者首次能构建机构式流程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why2-dot"/>
          <p:cNvSpPr/>
          <p:nvPr/>
        </p:nvSpPr>
        <p:spPr>
          <a:xfrm>
            <a:off x="6603840" y="2565360"/>
            <a:ext cx="101160" cy="10116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why2-label"/>
          <p:cNvSpPr/>
          <p:nvPr/>
        </p:nvSpPr>
        <p:spPr>
          <a:xfrm>
            <a:off x="6807240" y="2514600"/>
            <a:ext cx="4622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LLM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工具调用成熟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why2-desc"/>
          <p:cNvSpPr/>
          <p:nvPr/>
        </p:nvSpPr>
        <p:spPr>
          <a:xfrm>
            <a:off x="6807240" y="2768760"/>
            <a:ext cx="46224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自然语言场景解析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工具编排可用，但「会算数」仍需确定性引擎兜底，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Agent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层成为增量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why3-dot"/>
          <p:cNvSpPr/>
          <p:nvPr/>
        </p:nvSpPr>
        <p:spPr>
          <a:xfrm>
            <a:off x="6603840" y="3454560"/>
            <a:ext cx="101160" cy="10116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why3-label"/>
          <p:cNvSpPr/>
          <p:nvPr/>
        </p:nvSpPr>
        <p:spPr>
          <a:xfrm>
            <a:off x="6807240" y="3403440"/>
            <a:ext cx="4622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港美股期权散户化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why3-desc"/>
          <p:cNvSpPr/>
          <p:nvPr/>
        </p:nvSpPr>
        <p:spPr>
          <a:xfrm>
            <a:off x="6807240" y="3657600"/>
            <a:ext cx="46224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港股个股期权美式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实物交割与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IV crush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让「模板化工具」频繁出错，需要规则显性化的决策支持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gap-note"/>
          <p:cNvSpPr/>
          <p:nvPr/>
        </p:nvSpPr>
        <p:spPr>
          <a:xfrm>
            <a:off x="6603840" y="4267080"/>
            <a:ext cx="48258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市场缺口：</a:t>
            </a:r>
            <a:r>
              <a:rPr lang="en-US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Bloomberg </a:t>
            </a:r>
            <a:r>
              <a:rPr lang="zh-CN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式的流程能力，零售价格 </a:t>
            </a:r>
            <a:r>
              <a:rPr lang="en-US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中文优先；竞品多为单点计算器或预警，缺账户约束与审计闭环。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quote-bar"/>
          <p:cNvSpPr/>
          <p:nvPr/>
        </p:nvSpPr>
        <p:spPr>
          <a:xfrm>
            <a:off x="762120" y="5029200"/>
            <a:ext cx="10667520" cy="431280"/>
          </a:xfrm>
          <a:prstGeom prst="rect">
            <a:avLst/>
          </a:prstGeom>
          <a:solidFill>
            <a:srgbClr val="38BDF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quote-rail"/>
          <p:cNvSpPr/>
          <p:nvPr/>
        </p:nvSpPr>
        <p:spPr>
          <a:xfrm>
            <a:off x="762120" y="5029200"/>
            <a:ext cx="50400" cy="4312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quote-label"/>
          <p:cNvSpPr/>
          <p:nvPr/>
        </p:nvSpPr>
        <p:spPr>
          <a:xfrm>
            <a:off x="939960" y="5105520"/>
            <a:ext cx="507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金句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quote-text"/>
          <p:cNvSpPr/>
          <p:nvPr/>
        </p:nvSpPr>
        <p:spPr>
          <a:xfrm>
            <a:off x="1498680" y="5092560"/>
            <a:ext cx="97786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用户不缺一个计算器，缺的是一个能负责的决策流程。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切入点是业绩事件跨式：高频、规则复杂、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IV crush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后果直观；产品先把「敢说不交易」做成可验证的闭环，再扩展标的与策略。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来源：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docs/PRD.md §1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用户与痛点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research/01-market-landscape.md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13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14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TEAM · 13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三角色分工，覆盖产品、策略与安全三块硬能力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3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人团队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每个角色与项目模块一一对应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1-card"/>
          <p:cNvSpPr/>
          <p:nvPr/>
        </p:nvSpPr>
        <p:spPr>
          <a:xfrm>
            <a:off x="762120" y="1523880"/>
            <a:ext cx="3301560" cy="304776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1-badge"/>
          <p:cNvSpPr/>
          <p:nvPr/>
        </p:nvSpPr>
        <p:spPr>
          <a:xfrm>
            <a:off x="1015920" y="1803240"/>
            <a:ext cx="558360" cy="55836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1-badge-text"/>
          <p:cNvSpPr/>
          <p:nvPr/>
        </p:nvSpPr>
        <p:spPr>
          <a:xfrm>
            <a:off x="1015920" y="1955880"/>
            <a:ext cx="5583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6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1-role"/>
          <p:cNvSpPr/>
          <p:nvPr/>
        </p:nvSpPr>
        <p:spPr>
          <a:xfrm>
            <a:off x="1727280" y="1854360"/>
            <a:ext cx="208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多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Agent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工程与量化研究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1-body"/>
          <p:cNvSpPr/>
          <p:nvPr/>
        </p:nvSpPr>
        <p:spPr>
          <a:xfrm>
            <a:off x="1015920" y="2514600"/>
            <a:ext cx="2793600" cy="17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负责：数据层与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Gateway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Agent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架构、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回测与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Demo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工程、方案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PPT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601"/>
              </a:spcBef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沉淀：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futu-options-agent Skill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自研定价引擎与回测流水线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2-card"/>
          <p:cNvSpPr/>
          <p:nvPr/>
        </p:nvSpPr>
        <p:spPr>
          <a:xfrm>
            <a:off x="4444920" y="1523880"/>
            <a:ext cx="3301560" cy="304776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2-badge"/>
          <p:cNvSpPr/>
          <p:nvPr/>
        </p:nvSpPr>
        <p:spPr>
          <a:xfrm>
            <a:off x="4699080" y="1803240"/>
            <a:ext cx="558360" cy="55836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2-badge-text"/>
          <p:cNvSpPr/>
          <p:nvPr/>
        </p:nvSpPr>
        <p:spPr>
          <a:xfrm>
            <a:off x="4699080" y="1955880"/>
            <a:ext cx="5583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6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B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2-role"/>
          <p:cNvSpPr/>
          <p:nvPr/>
        </p:nvSpPr>
        <p:spPr>
          <a:xfrm>
            <a:off x="5410080" y="1854360"/>
            <a:ext cx="208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港美股期权策略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2-body"/>
          <p:cNvSpPr/>
          <p:nvPr/>
        </p:nvSpPr>
        <p:spPr>
          <a:xfrm>
            <a:off x="4699080" y="2514600"/>
            <a:ext cx="2793600" cy="17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负责：策略规则与场景、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Greeks/IV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解读、风险检查单、市场知识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601"/>
              </a:spcBef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沉淀：跨式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Hero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用例规则集、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港美股差异清单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3-card"/>
          <p:cNvSpPr/>
          <p:nvPr/>
        </p:nvSpPr>
        <p:spPr>
          <a:xfrm>
            <a:off x="8128080" y="1523880"/>
            <a:ext cx="3301560" cy="304776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3-badge"/>
          <p:cNvSpPr/>
          <p:nvPr/>
        </p:nvSpPr>
        <p:spPr>
          <a:xfrm>
            <a:off x="8381880" y="1803240"/>
            <a:ext cx="558360" cy="55836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3-badge-text"/>
          <p:cNvSpPr/>
          <p:nvPr/>
        </p:nvSpPr>
        <p:spPr>
          <a:xfrm>
            <a:off x="8381880" y="1955880"/>
            <a:ext cx="5583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6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C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3-role"/>
          <p:cNvSpPr/>
          <p:nvPr/>
        </p:nvSpPr>
        <p:spPr>
          <a:xfrm>
            <a:off x="9093240" y="1854360"/>
            <a:ext cx="208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网络安全与合规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3-body"/>
          <p:cNvSpPr/>
          <p:nvPr/>
        </p:nvSpPr>
        <p:spPr>
          <a:xfrm>
            <a:off x="8381880" y="2514600"/>
            <a:ext cx="2793600" cy="17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负责：合规与审计层、数据授权、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安全设计（防注入、密钥、哈希链）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601"/>
              </a:spcBef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沉淀：审计日志与脱敏规范、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SFC / HKEX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边界清单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map-line"/>
          <p:cNvSpPr/>
          <p:nvPr/>
        </p:nvSpPr>
        <p:spPr>
          <a:xfrm>
            <a:off x="762120" y="487692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模块对应：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A →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数据层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 Agent / Demo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　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B →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策略引擎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场景规则　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C →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合规审计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数据安全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小团队的分工正好覆盖比赛要求的三块硬能力：能跑通的任务闭环、说得清的策略依据、可复核的安全边界。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来源：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PROJECT_STATE.md §1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团队与分工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14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15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COMPLIANCE · 14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研究 </a:t>
            </a:r>
            <a:r>
              <a:rPr lang="en-US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/ </a:t>
            </a: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教育 </a:t>
            </a:r>
            <a:r>
              <a:rPr lang="en-US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/ </a:t>
            </a: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决策支持工具：不荐股、不代下单、不承诺收益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合规边界与产品铁律一一对应（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SFC Type 1/4/9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牌照边界内）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37" name="comp-table"/>
          <p:cNvGraphicFramePr/>
          <p:nvPr/>
        </p:nvGraphicFramePr>
        <p:xfrm>
          <a:off x="762120" y="1523880"/>
          <a:ext cx="10667520" cy="3375000"/>
        </p:xfrm>
        <a:graphic>
          <a:graphicData uri="http://schemas.openxmlformats.org/drawingml/2006/table">
            <a:tbl>
              <a:tblPr/>
              <a:tblGrid>
                <a:gridCol w="3200400"/>
                <a:gridCol w="7467480"/>
              </a:tblGrid>
              <a:tr h="268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边界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对应铁律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</a:tr>
              <a:tr h="616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投资建议边界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页面与材料声明非投资建议，无荐股表达、无收益承诺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616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实盘风险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比赛版本无实盘入口，不注册真实交易权限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</a:tr>
              <a:tr h="616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模拟误操作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独立确认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提交前复核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幂等；禁止自动重提、补腿、追价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616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数据授权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授权行情与原始快照不重新分发；公开材料脱敏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</a:tr>
              <a:tr h="616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LLM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幻觉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数值引擎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审计链兜底；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LLM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只做解析、编排与解释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438" name="quote-bar"/>
          <p:cNvSpPr/>
          <p:nvPr/>
        </p:nvSpPr>
        <p:spPr>
          <a:xfrm>
            <a:off x="762120" y="5029200"/>
            <a:ext cx="10667520" cy="431280"/>
          </a:xfrm>
          <a:prstGeom prst="rect">
            <a:avLst/>
          </a:prstGeom>
          <a:solidFill>
            <a:srgbClr val="38BDF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quote-rail"/>
          <p:cNvSpPr/>
          <p:nvPr/>
        </p:nvSpPr>
        <p:spPr>
          <a:xfrm>
            <a:off x="762120" y="5029200"/>
            <a:ext cx="50400" cy="4312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quote-label"/>
          <p:cNvSpPr/>
          <p:nvPr/>
        </p:nvSpPr>
        <p:spPr>
          <a:xfrm>
            <a:off x="939960" y="5105520"/>
            <a:ext cx="507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金句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quote-text"/>
          <p:cNvSpPr/>
          <p:nvPr/>
        </p:nvSpPr>
        <p:spPr>
          <a:xfrm>
            <a:off x="1498680" y="5092560"/>
            <a:ext cx="97786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合规不是免责声明，是产品边界。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PASS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的含义是「当前数据、规则与风险门通过」，不代表盈利、成交或投资建议。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来源：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research/03-boundaries-risks.md · docs/PRD.md §2.3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非目标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15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16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ROADMAP · 15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先证明可验证的决策，再接 </a:t>
            </a:r>
            <a:r>
              <a:rPr lang="en-US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Live </a:t>
            </a: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与模拟闭环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三个发布切片（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P0a → P0b → P0c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），每个都有独立验证门；对外只宣传最高已验证切片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phase1-box"/>
          <p:cNvSpPr/>
          <p:nvPr/>
        </p:nvSpPr>
        <p:spPr>
          <a:xfrm>
            <a:off x="762120" y="1523880"/>
            <a:ext cx="3301560" cy="215856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phase1-chip"/>
          <p:cNvSpPr/>
          <p:nvPr/>
        </p:nvSpPr>
        <p:spPr>
          <a:xfrm>
            <a:off x="762120" y="1523880"/>
            <a:ext cx="3301560" cy="406080"/>
          </a:xfrm>
          <a:prstGeom prst="rect">
            <a:avLst/>
          </a:prstGeom>
          <a:solidFill>
            <a:srgbClr val="16C7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hase1-chip-text"/>
          <p:cNvSpPr/>
          <p:nvPr/>
        </p:nvSpPr>
        <p:spPr>
          <a:xfrm>
            <a:off x="965160" y="1600200"/>
            <a:ext cx="29206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P0a Replay · </a:t>
            </a:r>
            <a:r>
              <a:rPr lang="zh-CN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已完成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phase1-body"/>
          <p:cNvSpPr/>
          <p:nvPr/>
        </p:nvSpPr>
        <p:spPr>
          <a:xfrm>
            <a:off x="1015920" y="2082960"/>
            <a:ext cx="2793600" cy="14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冻结快照 → 决策卡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审计链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端到端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Hero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通过（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NO_TRADE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当前对外宣传上限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phase2-box"/>
          <p:cNvSpPr/>
          <p:nvPr/>
        </p:nvSpPr>
        <p:spPr>
          <a:xfrm>
            <a:off x="4444920" y="1523880"/>
            <a:ext cx="3301560" cy="215856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phase2-chip"/>
          <p:cNvSpPr/>
          <p:nvPr/>
        </p:nvSpPr>
        <p:spPr>
          <a:xfrm>
            <a:off x="4444920" y="1523880"/>
            <a:ext cx="3301560" cy="4060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hase2-chip-text"/>
          <p:cNvSpPr/>
          <p:nvPr/>
        </p:nvSpPr>
        <p:spPr>
          <a:xfrm>
            <a:off x="4648320" y="1600200"/>
            <a:ext cx="29206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P0b Connected Read-only · </a:t>
            </a:r>
            <a:r>
              <a:rPr lang="zh-CN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开发中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phase2-body"/>
          <p:cNvSpPr/>
          <p:nvPr/>
        </p:nvSpPr>
        <p:spPr>
          <a:xfrm>
            <a:off x="4699080" y="2082960"/>
            <a:ext cx="2793600" cy="14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Live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行情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账户只读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验证：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OpenD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权限、新鲜度、降级路径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产出无副作用草稿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phase3-box"/>
          <p:cNvSpPr/>
          <p:nvPr/>
        </p:nvSpPr>
        <p:spPr>
          <a:xfrm>
            <a:off x="8128080" y="1523880"/>
            <a:ext cx="3301560" cy="215856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phase3-chip"/>
          <p:cNvSpPr/>
          <p:nvPr/>
        </p:nvSpPr>
        <p:spPr>
          <a:xfrm>
            <a:off x="8128080" y="1523880"/>
            <a:ext cx="3301560" cy="406080"/>
          </a:xfrm>
          <a:prstGeom prst="rect">
            <a:avLst/>
          </a:prstGeom>
          <a:solidFill>
            <a:srgbClr val="F5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hase3-chip-text"/>
          <p:cNvSpPr/>
          <p:nvPr/>
        </p:nvSpPr>
        <p:spPr>
          <a:xfrm>
            <a:off x="8331120" y="1600200"/>
            <a:ext cx="29206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P0c Simulation · </a:t>
            </a:r>
            <a:r>
              <a:rPr lang="zh-CN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待验证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phase3-body"/>
          <p:cNvSpPr/>
          <p:nvPr/>
        </p:nvSpPr>
        <p:spPr>
          <a:xfrm>
            <a:off x="8381880" y="2082960"/>
            <a:ext cx="2793600" cy="14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独立确认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提交前复核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幂等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异常接管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验证：无重复订单、人工接管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ph-arrow1"/>
          <p:cNvSpPr/>
          <p:nvPr/>
        </p:nvSpPr>
        <p:spPr>
          <a:xfrm>
            <a:off x="4089240" y="2590920"/>
            <a:ext cx="329760" cy="25200"/>
          </a:xfrm>
          <a:custGeom>
            <a:avLst/>
            <a:gdLst>
              <a:gd name="textAreaLeft" fmla="*/ 0 w 329760"/>
              <a:gd name="textAreaRight" fmla="*/ 330120 w 32976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26" h="2">
                <a:moveTo>
                  <a:pt x="0" y="1"/>
                </a:moveTo>
                <a:lnTo>
                  <a:pt x="26" y="1"/>
                </a:lnTo>
              </a:path>
            </a:pathLst>
          </a:custGeom>
          <a:noFill/>
          <a:ln cap="rnd" w="19050">
            <a:solidFill>
              <a:srgbClr val="38BDF8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ph-arrow2"/>
          <p:cNvSpPr/>
          <p:nvPr/>
        </p:nvSpPr>
        <p:spPr>
          <a:xfrm>
            <a:off x="7772400" y="2590920"/>
            <a:ext cx="329760" cy="25200"/>
          </a:xfrm>
          <a:custGeom>
            <a:avLst/>
            <a:gdLst>
              <a:gd name="textAreaLeft" fmla="*/ 0 w 329760"/>
              <a:gd name="textAreaRight" fmla="*/ 330120 w 32976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26" h="2">
                <a:moveTo>
                  <a:pt x="0" y="1"/>
                </a:moveTo>
                <a:lnTo>
                  <a:pt x="26" y="1"/>
                </a:lnTo>
              </a:path>
            </a:pathLst>
          </a:custGeom>
          <a:noFill/>
          <a:ln cap="rnd" w="19050">
            <a:solidFill>
              <a:srgbClr val="38BDF8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l-line"/>
          <p:cNvSpPr/>
          <p:nvPr/>
        </p:nvSpPr>
        <p:spPr>
          <a:xfrm>
            <a:off x="762120" y="45212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l-dot1"/>
          <p:cNvSpPr/>
          <p:nvPr/>
        </p:nvSpPr>
        <p:spPr>
          <a:xfrm>
            <a:off x="1397160" y="4457880"/>
            <a:ext cx="126720" cy="126720"/>
          </a:xfrm>
          <a:prstGeom prst="ellipse">
            <a:avLst/>
          </a:prstGeom>
          <a:solidFill>
            <a:srgbClr val="16C7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l1-text"/>
          <p:cNvSpPr/>
          <p:nvPr/>
        </p:nvSpPr>
        <p:spPr>
          <a:xfrm>
            <a:off x="762120" y="4699080"/>
            <a:ext cx="24127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30000"/>
              </a:lnSpc>
            </a:pPr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8.16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初赛提交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l-dot2"/>
          <p:cNvSpPr/>
          <p:nvPr/>
        </p:nvSpPr>
        <p:spPr>
          <a:xfrm>
            <a:off x="3936960" y="4457880"/>
            <a:ext cx="126720" cy="126720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l2-text"/>
          <p:cNvSpPr/>
          <p:nvPr/>
        </p:nvSpPr>
        <p:spPr>
          <a:xfrm>
            <a:off x="3238560" y="4699080"/>
            <a:ext cx="15235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30000"/>
              </a:lnSpc>
            </a:pPr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8.17–8.24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初赛评审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l-dot3"/>
          <p:cNvSpPr/>
          <p:nvPr/>
        </p:nvSpPr>
        <p:spPr>
          <a:xfrm>
            <a:off x="6858000" y="4457880"/>
            <a:ext cx="126720" cy="126720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l3-text"/>
          <p:cNvSpPr/>
          <p:nvPr/>
        </p:nvSpPr>
        <p:spPr>
          <a:xfrm>
            <a:off x="5969160" y="4699080"/>
            <a:ext cx="19047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30000"/>
              </a:lnSpc>
            </a:pPr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8.25–9.10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复赛可运行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Demo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l-dot4"/>
          <p:cNvSpPr/>
          <p:nvPr/>
        </p:nvSpPr>
        <p:spPr>
          <a:xfrm>
            <a:off x="10159920" y="4457880"/>
            <a:ext cx="126720" cy="126720"/>
          </a:xfrm>
          <a:prstGeom prst="ellipse">
            <a:avLst/>
          </a:prstGeom>
          <a:solidFill>
            <a:srgbClr val="F5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l4-text"/>
          <p:cNvSpPr/>
          <p:nvPr/>
        </p:nvSpPr>
        <p:spPr>
          <a:xfrm>
            <a:off x="9398160" y="4699080"/>
            <a:ext cx="20314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30000"/>
              </a:lnSpc>
            </a:pPr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9.22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决赛答辩（杭州）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band"/>
          <p:cNvSpPr/>
          <p:nvPr/>
        </p:nvSpPr>
        <p:spPr>
          <a:xfrm>
            <a:off x="762120" y="5384880"/>
            <a:ext cx="10667520" cy="86328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band-rail"/>
          <p:cNvSpPr/>
          <p:nvPr/>
        </p:nvSpPr>
        <p:spPr>
          <a:xfrm>
            <a:off x="762120" y="5384880"/>
            <a:ext cx="50400" cy="8632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band-text"/>
          <p:cNvSpPr/>
          <p:nvPr/>
        </p:nvSpPr>
        <p:spPr>
          <a:xfrm>
            <a:off x="1041480" y="5537160"/>
            <a:ext cx="101088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立场：先把「敢说不交易」做成系统能力，再接入实时数据。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12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让每一次期权决策可核验、可复核、敢拒绝。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GOAI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港美股期权智能终端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初赛方案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v2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16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 pitchFamily="0" charset="1"/>
        <a:ea typeface="MiSans" pitchFamily="0" charset="1"/>
        <a:cs typeface="MiSans" pitchFamily="0" charset="1"/>
      </a:majorFont>
      <a:minorFont>
        <a:latin typeface="MiSans" pitchFamily="0" charset="1"/>
        <a:ea typeface="MiSans" pitchFamily="0" charset="1"/>
        <a:cs typeface="MiSans" pitchFamily="0" charset="1"/>
      </a:minorFont>
    </a:fontScheme>
    <a:fmtScheme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Slides">
    <vt:r8>16</vt:r8>
  </property>
</Properties>
</file>