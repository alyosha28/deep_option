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style2.xml" ContentType="application/vnd.ms-office.chartstyl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olors2.xml" ContentType="application/vnd.ms-office.chartcolorstyle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charts/_rels/chart1.xml.rels><?xml version="1.0" encoding="UTF-8"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
</Relationships>
</file>

<file path=ppt/charts/_rels/chart2.xml.rels><?xml version="1.0" encoding="UTF-8"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lang="en-US" sz="1200" b="0" u="none" strike="noStrike">
                <a:solidFill>
                  <a:srgbClr val="191B1F"/>
                </a:solidFill>
                <a:uFillTx/>
                <a:latin typeface="Arial"/>
                <a:ea typeface="MiSans"/>
              </a:rPr>
              <a:t>IV crush 后 P&amp;L（HKD，方向正确情形）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上行</c:v>
                </c:pt>
              </c:strCache>
            </c:strRef>
          </c:tx>
          <c:spPr>
            <a:solidFill>
              <a:srgbClr val="C24452"/>
            </a:solidFill>
            <a:ln w="0">
              <a:noFill/>
            </a:ln>
          </c:spPr>
          <c:invertIfNegative val="0"/>
          <c:dLbls>
            <c:numFmt formatCode="0" sourceLinked="0"/>
            <c:txPr>
              <a:bodyPr wrap="square"/>
              <a:lstStyle/>
              <a:p>
                <a:pPr>
                  <a:defRPr sz="900" b="0" u="none" strike="noStrike">
                    <a:solidFill>
                      <a:srgbClr val="5A6270"/>
                    </a:solidFill>
                    <a:uFillTx/>
                    <a:latin typeface="Arial"/>
                    <a:ea typeface="MiSa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eparator>; </c:separator>
            <c:showLeaderLines val="1"/>
            <c:leaderLines>
              <c:spPr>
                <a:ln w="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-20%</c:v>
                </c:pt>
                <c:pt idx="1">
                  <c:v>-35%</c:v>
                </c:pt>
                <c:pt idx="2">
                  <c:v>-50%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-711</c:v>
                </c:pt>
                <c:pt idx="1">
                  <c:v>-820</c:v>
                </c:pt>
                <c:pt idx="2">
                  <c:v>-873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下行</c:v>
                </c:pt>
              </c:strCache>
            </c:strRef>
          </c:tx>
          <c:spPr>
            <a:solidFill>
              <a:srgbClr val="A16207"/>
            </a:solidFill>
            <a:ln w="0">
              <a:noFill/>
            </a:ln>
          </c:spPr>
          <c:invertIfNegative val="0"/>
          <c:dLbls>
            <c:numFmt formatCode="0" sourceLinked="0"/>
            <c:txPr>
              <a:bodyPr wrap="square"/>
              <a:lstStyle/>
              <a:p>
                <a:pPr>
                  <a:defRPr sz="900" b="0" u="none" strike="noStrike">
                    <a:solidFill>
                      <a:srgbClr val="5A6270"/>
                    </a:solidFill>
                    <a:uFillTx/>
                    <a:latin typeface="Arial"/>
                    <a:ea typeface="MiSa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eparator>; </c:separator>
            <c:showLeaderLines val="1"/>
            <c:leaderLines>
              <c:spPr>
                <a:ln w="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-20%</c:v>
                </c:pt>
                <c:pt idx="1">
                  <c:v>-35%</c:v>
                </c:pt>
                <c:pt idx="2">
                  <c:v>-50%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3"/>
                <c:pt idx="0">
                  <c:v>-340</c:v>
                </c:pt>
                <c:pt idx="1">
                  <c:v>-403</c:v>
                </c:pt>
                <c:pt idx="2">
                  <c:v>-422</c:v>
                </c:pt>
              </c:numCache>
            </c:numRef>
          </c:val>
        </c:ser>
        <c:gapWidth val="56"/>
        <c:overlap val="0"/>
        <c:axId val="3628909"/>
        <c:axId val="36656187"/>
      </c:barChart>
      <c:catAx>
        <c:axId val="3628909"/>
        <c:scaling>
          <c:orientation val="minMax"/>
        </c:scaling>
        <c:delete val="0"/>
        <c:axPos val="b"/>
        <c:majorGridlines>
          <c:spPr>
            <a:ln w="12600">
              <a:solidFill>
                <a:srgbClr val="000000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600">
            <a:solidFill>
              <a:srgbClr val="191B1F">
                <a:alpha val="20000"/>
              </a:srgbClr>
            </a:solidFill>
            <a:round/>
          </a:ln>
        </c:spPr>
        <c:txPr>
          <a:bodyPr/>
          <a:lstStyle/>
          <a:p>
            <a:pPr>
              <a:defRPr sz="900" b="0" u="none" strike="noStrike">
                <a:solidFill>
                  <a:srgbClr val="5A6270"/>
                </a:solidFill>
                <a:uFillTx/>
                <a:latin typeface="Arial"/>
                <a:ea typeface="MiSans"/>
              </a:defRPr>
            </a:pPr>
          </a:p>
        </c:txPr>
        <c:crossAx val="36656187"/>
        <c:crosses val="autoZero"/>
        <c:auto val="1"/>
        <c:lblAlgn val="ctr"/>
        <c:lblOffset val="100"/>
        <c:noMultiLvlLbl val="0"/>
      </c:catAx>
      <c:valAx>
        <c:axId val="36656187"/>
        <c:scaling>
          <c:orientation val="minMax"/>
          <c:max val="0"/>
          <c:min val="-900"/>
        </c:scaling>
        <c:delete val="0"/>
        <c:axPos val="l"/>
        <c:majorGridlines>
          <c:spPr>
            <a:ln w="12600">
              <a:solidFill>
                <a:srgbClr val="191B1F">
                  <a:alpha val="8000"/>
                </a:srgbClr>
              </a:solidFill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600">
            <a:solidFill>
              <a:srgbClr val="191B1F">
                <a:alpha val="20000"/>
              </a:srgbClr>
            </a:solidFill>
            <a:round/>
          </a:ln>
        </c:spPr>
        <c:txPr>
          <a:bodyPr/>
          <a:lstStyle/>
          <a:p>
            <a:pPr>
              <a:defRPr sz="900" b="0" u="none" strike="noStrike">
                <a:solidFill>
                  <a:srgbClr val="5A6270"/>
                </a:solidFill>
                <a:uFillTx/>
                <a:latin typeface="Arial"/>
                <a:ea typeface="MiSans"/>
              </a:defRPr>
            </a:pPr>
          </a:p>
        </c:txPr>
        <c:crossAx val="3628909"/>
        <c:crosses val="autoZero"/>
        <c:crossBetween val="between"/>
        <c:majorUnit val="100"/>
      </c:valAx>
      <c:spPr>
        <a:noFill/>
        <a:ln w="0">
          <a:noFill/>
        </a:ln>
      </c:spPr>
    </c:plotArea>
    <c:legend>
      <c:legendPos val="t"/>
      <c:overlay val="0"/>
      <c:spPr>
        <a:noFill/>
        <a:ln w="0">
          <a:noFill/>
        </a:ln>
      </c:spPr>
      <c:txPr>
        <a:bodyPr/>
        <a:lstStyle/>
        <a:p>
          <a:pPr>
            <a:defRPr sz="900" b="0" u="none" strike="noStrike">
              <a:solidFill>
                <a:srgbClr val="5A6270"/>
              </a:solidFill>
              <a:uFillTx/>
              <a:latin typeface="Arial"/>
              <a:ea typeface="MiSans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lang="en-US" sz="1200" b="0" u="none" strike="noStrike">
                <a:solidFill>
                  <a:srgbClr val="191B1F"/>
                </a:solidFill>
                <a:uFillTx/>
                <a:latin typeface="Arial"/>
                <a:ea typeface="MiSans"/>
              </a:rPr>
              <a:t>各持有期平均 ROI（%）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口径A（n=11）</c:v>
                </c:pt>
              </c:strCache>
            </c:strRef>
          </c:tx>
          <c:spPr>
            <a:solidFill>
              <a:srgbClr val="0E7490"/>
            </a:solidFill>
            <a:ln w="0">
              <a:noFill/>
            </a:ln>
          </c:spPr>
          <c:invertIfNegative val="0"/>
          <c:dLbls>
            <c:numFmt formatCode="0.0" sourceLinked="0"/>
            <c:txPr>
              <a:bodyPr wrap="square"/>
              <a:lstStyle/>
              <a:p>
                <a:pPr>
                  <a:defRPr sz="900" b="0" u="none" strike="noStrike">
                    <a:solidFill>
                      <a:srgbClr val="5A6270"/>
                    </a:solidFill>
                    <a:uFillTx/>
                    <a:latin typeface="Arial"/>
                    <a:ea typeface="MiSa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eparator>; </c:separator>
            <c:showLeaderLines val="1"/>
            <c:leaderLines>
              <c:spPr>
                <a:ln w="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d+1</c:v>
                </c:pt>
                <c:pt idx="1">
                  <c:v>d+2</c:v>
                </c:pt>
                <c:pt idx="2">
                  <c:v>d+5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-2.4</c:v>
                </c:pt>
                <c:pt idx="1">
                  <c:v>-7.8</c:v>
                </c:pt>
                <c:pt idx="2">
                  <c:v>21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口径B（n=19）</c:v>
                </c:pt>
              </c:strCache>
            </c:strRef>
          </c:tx>
          <c:spPr>
            <a:solidFill>
              <a:srgbClr val="A16207"/>
            </a:solidFill>
            <a:ln w="0">
              <a:noFill/>
            </a:ln>
          </c:spPr>
          <c:invertIfNegative val="0"/>
          <c:dLbls>
            <c:numFmt formatCode="0.0" sourceLinked="0"/>
            <c:txPr>
              <a:bodyPr wrap="square"/>
              <a:lstStyle/>
              <a:p>
                <a:pPr>
                  <a:defRPr sz="900" b="0" u="none" strike="noStrike">
                    <a:solidFill>
                      <a:srgbClr val="5A6270"/>
                    </a:solidFill>
                    <a:uFillTx/>
                    <a:latin typeface="Arial"/>
                    <a:ea typeface="MiSa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eparator>; </c:separator>
            <c:showLeaderLines val="1"/>
            <c:leaderLines>
              <c:spPr>
                <a:ln w="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d+1</c:v>
                </c:pt>
                <c:pt idx="1">
                  <c:v>d+2</c:v>
                </c:pt>
                <c:pt idx="2">
                  <c:v>d+5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3"/>
                <c:pt idx="0">
                  <c:v>-49.1</c:v>
                </c:pt>
                <c:pt idx="1">
                  <c:v>-47.5</c:v>
                </c:pt>
                <c:pt idx="2">
                  <c:v>-22.6</c:v>
                </c:pt>
              </c:numCache>
            </c:numRef>
          </c:val>
        </c:ser>
        <c:gapWidth val="56"/>
        <c:overlap val="0"/>
        <c:axId val="90015657"/>
        <c:axId val="79896601"/>
      </c:barChart>
      <c:catAx>
        <c:axId val="90015657"/>
        <c:scaling>
          <c:orientation val="minMax"/>
        </c:scaling>
        <c:delete val="0"/>
        <c:axPos val="b"/>
        <c:majorGridlines>
          <c:spPr>
            <a:ln w="12600">
              <a:solidFill>
                <a:srgbClr val="000000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600">
            <a:solidFill>
              <a:srgbClr val="191B1F">
                <a:alpha val="20000"/>
              </a:srgbClr>
            </a:solidFill>
            <a:round/>
          </a:ln>
        </c:spPr>
        <c:txPr>
          <a:bodyPr/>
          <a:lstStyle/>
          <a:p>
            <a:pPr>
              <a:defRPr sz="900" b="0" u="none" strike="noStrike">
                <a:solidFill>
                  <a:srgbClr val="5A6270"/>
                </a:solidFill>
                <a:uFillTx/>
                <a:latin typeface="Arial"/>
                <a:ea typeface="MiSans"/>
              </a:defRPr>
            </a:pPr>
          </a:p>
        </c:txPr>
        <c:crossAx val="79896601"/>
        <c:crosses val="autoZero"/>
        <c:auto val="1"/>
        <c:lblAlgn val="ctr"/>
        <c:lblOffset val="100"/>
        <c:noMultiLvlLbl val="0"/>
      </c:catAx>
      <c:valAx>
        <c:axId val="79896601"/>
        <c:scaling>
          <c:orientation val="minMax"/>
          <c:max val="30"/>
          <c:min val="-50"/>
        </c:scaling>
        <c:delete val="0"/>
        <c:axPos val="l"/>
        <c:majorGridlines>
          <c:spPr>
            <a:ln w="12600">
              <a:solidFill>
                <a:srgbClr val="191B1F">
                  <a:alpha val="8000"/>
                </a:srgbClr>
              </a:solidFill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600">
            <a:solidFill>
              <a:srgbClr val="191B1F">
                <a:alpha val="20000"/>
              </a:srgbClr>
            </a:solidFill>
            <a:round/>
          </a:ln>
        </c:spPr>
        <c:txPr>
          <a:bodyPr/>
          <a:lstStyle/>
          <a:p>
            <a:pPr>
              <a:defRPr sz="900" b="0" u="none" strike="noStrike">
                <a:solidFill>
                  <a:srgbClr val="5A6270"/>
                </a:solidFill>
                <a:uFillTx/>
                <a:latin typeface="Arial"/>
                <a:ea typeface="MiSans"/>
              </a:defRPr>
            </a:pPr>
          </a:p>
        </c:txPr>
        <c:crossAx val="90015657"/>
        <c:crosses val="autoZero"/>
        <c:crossBetween val="between"/>
        <c:majorUnit val="10"/>
      </c:valAx>
      <c:spPr>
        <a:noFill/>
        <a:ln w="0">
          <a:noFill/>
        </a:ln>
      </c:spPr>
    </c:plotArea>
    <c:legend>
      <c:legendPos val="t"/>
      <c:overlay val="0"/>
      <c:spPr>
        <a:noFill/>
        <a:ln w="0">
          <a:noFill/>
        </a:ln>
      </c:spPr>
      <c:txPr>
        <a:bodyPr/>
        <a:lstStyle/>
        <a:p>
          <a:pPr>
            <a:defRPr sz="900" b="0" u="none" strike="noStrike">
              <a:solidFill>
                <a:srgbClr val="5A6270"/>
              </a:solidFill>
              <a:uFillTx/>
              <a:latin typeface="Arial"/>
              <a:ea typeface="MiSans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2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单击以移动幻灯片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点击编辑备注格式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7AFB0C45-3C85-4D73-AD6F-F1CF5EA939BA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封面：纸底墨字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+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青蓝强调；右上四个关键设计，底部墨色通栏收束产品立场。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执行摘要：结论先行。数字全部可溯源，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Hero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输出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NO_TRADE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是系统能力的证明。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问题页：五个断裂点让个人投资者无法完成一次可信的期权研究。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方案页：输入一句自然语言，输出一张决策卡；五阶段闭环显式对应赛道评审口径。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产品页：四面板终端同屏展示对话、期权链流动性、策略账户与事件证据。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本页为矢量重绘，数字全部来自冻结快照，未虚构。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Hero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页：腾讯业绩跨式在冻结快照下的真实结论是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NO_TRADE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证据页一：买入跨式的期望收益不成立。左边到期情景损益，右边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IV crush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压力测试。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证据页二：历史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11–19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个财报期买入业绩跨式整体负期望；样本小，结论是证据强度不足。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为什么是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Agent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：固定计算器缺编排，通用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LLM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缺事实，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Agent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补两者的缺口。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架构页：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Agent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只编排与解释，金融事实由受控边界产出；右侧标注信任边界与失败路径。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可信与审计页：数据来源分层、可复算、哈希链与脱敏；对应赛道「数据来源与隐私保护」。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竞品页：差异不在算法，而在可信闭环。表内评价为依据公开研究的定性判断。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市场页：目标用户与为什么现在。价值主张是同一条链路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Replay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已跑通、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Live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开发中。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团队页：三角色覆盖数据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/Agent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、期权策略、合规审计，与项目模块一一对应。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合规页：研究、教育、决策支持工具；不荐股、不代下单、不承诺收益。每条边界对应产品铁律。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结尾页：路线图落在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P0a/P0b/P0c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与时间线；立场是先把「敢说不交易」做成系统能力。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单击以编辑标题文本格式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点击以编辑提纲文本格式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第二提纲级别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第三提纲级别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第四提纲级别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第五提纲级别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第六提纲级别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第七提纲级别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opbar"/>
          <p:cNvSpPr/>
          <p:nvPr/>
        </p:nvSpPr>
        <p:spPr>
          <a:xfrm>
            <a:off x="0" y="0"/>
            <a:ext cx="12191760" cy="37800"/>
          </a:xfrm>
          <a:prstGeom prst="rect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kicker"/>
          <p:cNvSpPr/>
          <p:nvPr/>
        </p:nvSpPr>
        <p:spPr>
          <a:xfrm>
            <a:off x="812880" y="355680"/>
            <a:ext cx="761976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1050" b="1" u="none" spc="201" strike="noStrike">
                <a:solidFill>
                  <a:srgbClr val="0E7490"/>
                </a:solidFill>
                <a:effectLst/>
                <a:uFillTx/>
                <a:latin typeface="Arial"/>
                <a:ea typeface="Microsoft YaHei"/>
              </a:rPr>
              <a:t>GOAI · BOUNDLESS AGENTS · FINANCE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meta"/>
          <p:cNvSpPr/>
          <p:nvPr/>
        </p:nvSpPr>
        <p:spPr>
          <a:xfrm>
            <a:off x="8889840" y="355680"/>
            <a:ext cx="248868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18000"/>
              </a:lnSpc>
            </a:pP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初赛方案 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· 2026-08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itle"/>
          <p:cNvSpPr/>
          <p:nvPr/>
        </p:nvSpPr>
        <p:spPr>
          <a:xfrm>
            <a:off x="812880" y="1041480"/>
            <a:ext cx="1056600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2000"/>
              </a:lnSpc>
            </a:pPr>
            <a:r>
              <a:rPr lang="en-US" sz="5000" b="1" u="none" strike="noStrike">
                <a:solidFill>
                  <a:srgbClr val="000000"/>
                </a:solidFill>
                <a:effectLst/>
                <a:uFillTx/>
                <a:latin typeface="Georgia"/>
                <a:ea typeface="SimSun"/>
              </a:rPr>
              <a:t>GOAI</a:t>
            </a:r>
            <a:r>
              <a:rPr lang="en-US" sz="5000" b="1" u="none" strike="noStrike">
                <a:solidFill>
                  <a:srgbClr val="191B1F"/>
                </a:solidFill>
                <a:effectLst/>
                <a:uFillTx/>
                <a:latin typeface="Georgia"/>
                <a:ea typeface="SimSun"/>
              </a:rPr>
              <a:t> </a:t>
            </a:r>
            <a:r>
              <a:rPr lang="zh-CN" sz="5000" b="1" u="none" strike="noStrike">
                <a:solidFill>
                  <a:srgbClr val="191B1F"/>
                </a:solidFill>
                <a:effectLst/>
                <a:uFillTx/>
                <a:latin typeface="Georgia"/>
                <a:ea typeface="SimSun"/>
              </a:rPr>
              <a:t>港美股期权智能终端</a:t>
            </a:r>
            <a:endParaRPr lang="en-US" sz="5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2000"/>
              </a:lnSpc>
              <a:spcBef>
                <a:spcPts val="1199"/>
              </a:spcBef>
            </a:pPr>
            <a:r>
              <a:rPr lang="zh-CN" sz="2200" b="1" u="none" strike="noStrike">
                <a:solidFill>
                  <a:srgbClr val="000000"/>
                </a:solidFill>
                <a:effectLst/>
                <a:uFillTx/>
                <a:latin typeface="Microsoft YaHei"/>
                <a:ea typeface="Microsoft YaHei"/>
              </a:rPr>
              <a:t>把观点变成一张可核验的决策卡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kp-head-rule"/>
          <p:cNvSpPr/>
          <p:nvPr/>
        </p:nvSpPr>
        <p:spPr>
          <a:xfrm>
            <a:off x="812880" y="2819520"/>
            <a:ext cx="10566000" cy="12240"/>
          </a:xfrm>
          <a:custGeom>
            <a:avLst/>
            <a:gdLst>
              <a:gd name="textAreaLeft" fmla="*/ 0 w 10566000"/>
              <a:gd name="textAreaRight" fmla="*/ 10566360 w 1056600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32" h="1">
                <a:moveTo>
                  <a:pt x="0" y="0"/>
                </a:moveTo>
                <a:lnTo>
                  <a:pt x="832" y="0"/>
                </a:lnTo>
              </a:path>
            </a:pathLst>
          </a:custGeom>
          <a:noFill/>
          <a:ln cap="rnd" w="12700">
            <a:solidFill>
              <a:srgbClr val="191B1F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kp-head"/>
          <p:cNvSpPr/>
          <p:nvPr/>
        </p:nvSpPr>
        <p:spPr>
          <a:xfrm>
            <a:off x="812880" y="2997360"/>
            <a:ext cx="380952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2000"/>
              </a:lnSpc>
            </a:pPr>
            <a:r>
              <a:rPr lang="zh-CN" sz="1100" b="1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四个关键设计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n1"/>
          <p:cNvSpPr/>
          <p:nvPr/>
        </p:nvSpPr>
        <p:spPr>
          <a:xfrm>
            <a:off x="812880" y="3352680"/>
            <a:ext cx="55836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2100" b="1" u="none" strike="noStrike">
                <a:solidFill>
                  <a:srgbClr val="0E7490"/>
                </a:solidFill>
                <a:effectLst/>
                <a:uFillTx/>
                <a:latin typeface="Georgia"/>
                <a:ea typeface="Georgia"/>
              </a:rPr>
              <a:t>01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c1"/>
          <p:cNvSpPr/>
          <p:nvPr/>
        </p:nvSpPr>
        <p:spPr>
          <a:xfrm>
            <a:off x="1473120" y="3327480"/>
            <a:ext cx="45716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2000"/>
              </a:lnSpc>
            </a:pPr>
            <a:r>
              <a:rPr lang="zh-CN" sz="1100" b="1" u="none" strike="noStrike">
                <a:solidFill>
                  <a:srgbClr val="191B1F"/>
                </a:solidFill>
                <a:effectLst/>
                <a:uFillTx/>
                <a:latin typeface="Arial"/>
                <a:ea typeface="Microsoft YaHei"/>
              </a:rPr>
              <a:t>金融数字不由 </a:t>
            </a:r>
            <a:r>
              <a:rPr lang="en-US" sz="1100" b="1" u="none" strike="noStrike">
                <a:solidFill>
                  <a:srgbClr val="191B1F"/>
                </a:solidFill>
                <a:effectLst/>
                <a:uFillTx/>
                <a:latin typeface="Arial"/>
                <a:ea typeface="Microsoft YaHei"/>
              </a:rPr>
              <a:t>LLM </a:t>
            </a:r>
            <a:r>
              <a:rPr lang="zh-CN" sz="1100" b="1" u="none" strike="noStrike">
                <a:solidFill>
                  <a:srgbClr val="191B1F"/>
                </a:solidFill>
                <a:effectLst/>
                <a:uFillTx/>
                <a:latin typeface="Arial"/>
                <a:ea typeface="Microsoft YaHei"/>
              </a:rPr>
              <a:t>产出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c1p"/>
          <p:cNvSpPr/>
          <p:nvPr/>
        </p:nvSpPr>
        <p:spPr>
          <a:xfrm>
            <a:off x="1473120" y="3632040"/>
            <a:ext cx="457164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行情、定价、成本、门控逐项可复算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n2"/>
          <p:cNvSpPr/>
          <p:nvPr/>
        </p:nvSpPr>
        <p:spPr>
          <a:xfrm>
            <a:off x="6095880" y="3352680"/>
            <a:ext cx="55836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2100" b="1" u="none" strike="noStrike">
                <a:solidFill>
                  <a:srgbClr val="0E7490"/>
                </a:solidFill>
                <a:effectLst/>
                <a:uFillTx/>
                <a:latin typeface="Georgia"/>
                <a:ea typeface="Georgia"/>
              </a:rPr>
              <a:t>02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c2"/>
          <p:cNvSpPr/>
          <p:nvPr/>
        </p:nvSpPr>
        <p:spPr>
          <a:xfrm>
            <a:off x="6756480" y="3327480"/>
            <a:ext cx="46224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2000"/>
              </a:lnSpc>
            </a:pPr>
            <a:r>
              <a:rPr lang="en-US" sz="1100" b="1" u="none" strike="noStrike">
                <a:solidFill>
                  <a:srgbClr val="191B1F"/>
                </a:solidFill>
                <a:effectLst/>
                <a:uFillTx/>
                <a:latin typeface="Arial"/>
                <a:ea typeface="Microsoft YaHei"/>
              </a:rPr>
              <a:t>Edge / Risk / Action </a:t>
            </a:r>
            <a:r>
              <a:rPr lang="zh-CN" sz="1100" b="1" u="none" strike="noStrike">
                <a:solidFill>
                  <a:srgbClr val="191B1F"/>
                </a:solidFill>
                <a:effectLst/>
                <a:uFillTx/>
                <a:latin typeface="Arial"/>
                <a:ea typeface="Microsoft YaHei"/>
              </a:rPr>
              <a:t>硬门一票否决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c2p"/>
          <p:cNvSpPr/>
          <p:nvPr/>
        </p:nvSpPr>
        <p:spPr>
          <a:xfrm>
            <a:off x="6756480" y="3632040"/>
            <a:ext cx="462240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允许 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NO_TRADE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，不为展示下单调低门槛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n3"/>
          <p:cNvSpPr/>
          <p:nvPr/>
        </p:nvSpPr>
        <p:spPr>
          <a:xfrm>
            <a:off x="812880" y="4317840"/>
            <a:ext cx="55836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2100" b="1" u="none" strike="noStrike">
                <a:solidFill>
                  <a:srgbClr val="0E7490"/>
                </a:solidFill>
                <a:effectLst/>
                <a:uFillTx/>
                <a:latin typeface="Georgia"/>
                <a:ea typeface="Georgia"/>
              </a:rPr>
              <a:t>03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c3"/>
          <p:cNvSpPr/>
          <p:nvPr/>
        </p:nvSpPr>
        <p:spPr>
          <a:xfrm>
            <a:off x="1473120" y="4292640"/>
            <a:ext cx="45716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2000"/>
              </a:lnSpc>
            </a:pPr>
            <a:r>
              <a:rPr lang="zh-CN" sz="1100" b="1" u="none" strike="noStrike">
                <a:solidFill>
                  <a:srgbClr val="191B1F"/>
                </a:solidFill>
                <a:effectLst/>
                <a:uFillTx/>
                <a:latin typeface="Arial"/>
                <a:ea typeface="Microsoft YaHei"/>
              </a:rPr>
              <a:t>每条证据可溯源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c3p"/>
          <p:cNvSpPr/>
          <p:nvPr/>
        </p:nvSpPr>
        <p:spPr>
          <a:xfrm>
            <a:off x="1473120" y="4597560"/>
            <a:ext cx="457164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来源、时间、快照哈希与审计链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n4"/>
          <p:cNvSpPr/>
          <p:nvPr/>
        </p:nvSpPr>
        <p:spPr>
          <a:xfrm>
            <a:off x="6095880" y="4317840"/>
            <a:ext cx="55836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2100" b="1" u="none" strike="noStrike">
                <a:solidFill>
                  <a:srgbClr val="0E7490"/>
                </a:solidFill>
                <a:effectLst/>
                <a:uFillTx/>
                <a:latin typeface="Georgia"/>
                <a:ea typeface="Georgia"/>
              </a:rPr>
              <a:t>04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c4"/>
          <p:cNvSpPr/>
          <p:nvPr/>
        </p:nvSpPr>
        <p:spPr>
          <a:xfrm>
            <a:off x="6756480" y="4292640"/>
            <a:ext cx="46224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2000"/>
              </a:lnSpc>
            </a:pPr>
            <a:r>
              <a:rPr lang="zh-CN" sz="1100" b="1" u="none" strike="noStrike">
                <a:solidFill>
                  <a:srgbClr val="191B1F"/>
                </a:solidFill>
                <a:effectLst/>
                <a:uFillTx/>
                <a:latin typeface="Arial"/>
                <a:ea typeface="Microsoft YaHei"/>
              </a:rPr>
              <a:t>比赛版本无实盘入口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c4p"/>
          <p:cNvSpPr/>
          <p:nvPr/>
        </p:nvSpPr>
        <p:spPr>
          <a:xfrm>
            <a:off x="6756480" y="4597560"/>
            <a:ext cx="462240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模拟动作必须用户独立确认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band"/>
          <p:cNvSpPr/>
          <p:nvPr/>
        </p:nvSpPr>
        <p:spPr>
          <a:xfrm>
            <a:off x="0" y="5740560"/>
            <a:ext cx="12191760" cy="1117080"/>
          </a:xfrm>
          <a:prstGeom prst="rect">
            <a:avLst/>
          </a:prstGeom>
          <a:solidFill>
            <a:srgbClr val="191B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band-quote"/>
          <p:cNvSpPr/>
          <p:nvPr/>
        </p:nvSpPr>
        <p:spPr>
          <a:xfrm>
            <a:off x="812880" y="5892840"/>
            <a:ext cx="1056600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3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Georgia"/>
                <a:ea typeface="SimSun"/>
              </a:rPr>
              <a:t>“</a:t>
            </a:r>
            <a:r>
              <a:rPr lang="zh-CN" sz="1350" b="1" u="none" strike="noStrike">
                <a:solidFill>
                  <a:srgbClr val="F7F4ED"/>
                </a:solidFill>
                <a:effectLst/>
                <a:uFillTx/>
                <a:latin typeface="Georgia"/>
                <a:ea typeface="SimSun"/>
              </a:rPr>
              <a:t>不猜涨跌，把每一次期权决策变得可核验、可复核、敢拒绝。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band-facts"/>
          <p:cNvSpPr/>
          <p:nvPr/>
        </p:nvSpPr>
        <p:spPr>
          <a:xfrm>
            <a:off x="812880" y="6273720"/>
            <a:ext cx="1056600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18000"/>
              </a:lnSpc>
            </a:pPr>
            <a:r>
              <a:rPr lang="en-US" sz="950" b="0" u="none" strike="noStrike">
                <a:solidFill>
                  <a:srgbClr val="C8CBD2"/>
                </a:solidFill>
                <a:effectLst/>
                <a:uFillTx/>
                <a:latin typeface="Arial"/>
                <a:ea typeface="Microsoft YaHei"/>
              </a:rPr>
              <a:t>4 </a:t>
            </a:r>
            <a:r>
              <a:rPr lang="zh-CN" sz="950" b="0" u="none" strike="noStrike">
                <a:solidFill>
                  <a:srgbClr val="C8CBD2"/>
                </a:solidFill>
                <a:effectLst/>
                <a:uFillTx/>
                <a:latin typeface="Arial"/>
                <a:ea typeface="Microsoft YaHei"/>
              </a:rPr>
              <a:t>种合法输出状态　</a:t>
            </a:r>
            <a:r>
              <a:rPr lang="en-US" sz="950" b="0" u="none" strike="noStrike">
                <a:solidFill>
                  <a:srgbClr val="C8CBD2"/>
                </a:solidFill>
                <a:effectLst/>
                <a:uFillTx/>
                <a:latin typeface="Arial"/>
                <a:ea typeface="Microsoft YaHei"/>
              </a:rPr>
              <a:t>·</a:t>
            </a:r>
            <a:r>
              <a:rPr lang="zh-CN" sz="950" b="0" u="none" strike="noStrike">
                <a:solidFill>
                  <a:srgbClr val="C8CBD2"/>
                </a:solidFill>
                <a:effectLst/>
                <a:uFillTx/>
                <a:latin typeface="Arial"/>
                <a:ea typeface="Microsoft YaHei"/>
              </a:rPr>
              <a:t>　</a:t>
            </a:r>
            <a:r>
              <a:rPr lang="en-US" sz="950" b="0" u="none" strike="noStrike">
                <a:solidFill>
                  <a:srgbClr val="C8CBD2"/>
                </a:solidFill>
                <a:effectLst/>
                <a:uFillTx/>
                <a:latin typeface="Arial"/>
                <a:ea typeface="Microsoft YaHei"/>
              </a:rPr>
              <a:t>100% </a:t>
            </a:r>
            <a:r>
              <a:rPr lang="zh-CN" sz="950" b="0" u="none" strike="noStrike">
                <a:solidFill>
                  <a:srgbClr val="C8CBD2"/>
                </a:solidFill>
                <a:effectLst/>
                <a:uFillTx/>
                <a:latin typeface="Arial"/>
                <a:ea typeface="Microsoft YaHei"/>
              </a:rPr>
              <a:t>关键数字溯源　</a:t>
            </a:r>
            <a:r>
              <a:rPr lang="en-US" sz="950" b="0" u="none" strike="noStrike">
                <a:solidFill>
                  <a:srgbClr val="C8CBD2"/>
                </a:solidFill>
                <a:effectLst/>
                <a:uFillTx/>
                <a:latin typeface="Arial"/>
                <a:ea typeface="Microsoft YaHei"/>
              </a:rPr>
              <a:t>·</a:t>
            </a:r>
            <a:r>
              <a:rPr lang="zh-CN" sz="950" b="0" u="none" strike="noStrike">
                <a:solidFill>
                  <a:srgbClr val="C8CBD2"/>
                </a:solidFill>
                <a:effectLst/>
                <a:uFillTx/>
                <a:latin typeface="Arial"/>
                <a:ea typeface="Microsoft YaHei"/>
              </a:rPr>
              <a:t>　</a:t>
            </a:r>
            <a:r>
              <a:rPr lang="en-US" sz="950" b="0" u="none" strike="noStrike">
                <a:solidFill>
                  <a:srgbClr val="C8CBD2"/>
                </a:solidFill>
                <a:effectLst/>
                <a:uFillTx/>
                <a:latin typeface="Arial"/>
                <a:ea typeface="Microsoft YaHei"/>
              </a:rPr>
              <a:t>0 </a:t>
            </a:r>
            <a:r>
              <a:rPr lang="zh-CN" sz="950" b="0" u="none" strike="noStrike">
                <a:solidFill>
                  <a:srgbClr val="C8CBD2"/>
                </a:solidFill>
                <a:effectLst/>
                <a:uFillTx/>
                <a:latin typeface="Arial"/>
                <a:ea typeface="Microsoft YaHei"/>
              </a:rPr>
              <a:t>实盘入口　</a:t>
            </a:r>
            <a:r>
              <a:rPr lang="en-US" sz="950" b="0" u="none" strike="noStrike">
                <a:solidFill>
                  <a:srgbClr val="C8CBD2"/>
                </a:solidFill>
                <a:effectLst/>
                <a:uFillTx/>
                <a:latin typeface="Arial"/>
                <a:ea typeface="Microsoft YaHei"/>
              </a:rPr>
              <a:t>·</a:t>
            </a:r>
            <a:r>
              <a:rPr lang="zh-CN" sz="950" b="0" u="none" strike="noStrike">
                <a:solidFill>
                  <a:srgbClr val="C8CBD2"/>
                </a:solidFill>
                <a:effectLst/>
                <a:uFillTx/>
                <a:latin typeface="Arial"/>
                <a:ea typeface="Microsoft YaHei"/>
              </a:rPr>
              <a:t>　</a:t>
            </a:r>
            <a:r>
              <a:rPr lang="en-US" sz="950" b="0" u="none" strike="noStrike">
                <a:solidFill>
                  <a:srgbClr val="C8CBD2"/>
                </a:solidFill>
                <a:effectLst/>
                <a:uFillTx/>
                <a:latin typeface="Arial"/>
                <a:ea typeface="Microsoft YaHei"/>
              </a:rPr>
              <a:t>P0a </a:t>
            </a:r>
            <a:r>
              <a:rPr lang="zh-CN" sz="950" b="0" u="none" strike="noStrike">
                <a:solidFill>
                  <a:srgbClr val="C8CBD2"/>
                </a:solidFill>
                <a:effectLst/>
                <a:uFillTx/>
                <a:latin typeface="Arial"/>
                <a:ea typeface="Microsoft YaHei"/>
              </a:rPr>
              <a:t>端到端已验证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band-meta"/>
          <p:cNvSpPr/>
          <p:nvPr/>
        </p:nvSpPr>
        <p:spPr>
          <a:xfrm>
            <a:off x="812880" y="6553080"/>
            <a:ext cx="1056600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18000"/>
              </a:lnSpc>
            </a:pPr>
            <a:r>
              <a:rPr lang="en-US" sz="950" b="0" u="none" strike="noStrike">
                <a:solidFill>
                  <a:srgbClr val="9CA3AF"/>
                </a:solidFill>
                <a:effectLst/>
                <a:uFillTx/>
                <a:latin typeface="Arial"/>
                <a:ea typeface="Microsoft YaHei"/>
              </a:rPr>
              <a:t>GOAI </a:t>
            </a:r>
            <a:r>
              <a:rPr lang="zh-CN" sz="950" b="0" u="none" strike="noStrike">
                <a:solidFill>
                  <a:srgbClr val="9CA3AF"/>
                </a:solidFill>
                <a:effectLst/>
                <a:uFillTx/>
                <a:latin typeface="Arial"/>
                <a:ea typeface="Microsoft YaHei"/>
              </a:rPr>
              <a:t>港美股期权智能终端 </a:t>
            </a:r>
            <a:r>
              <a:rPr lang="en-US" sz="950" b="0" u="none" strike="noStrike">
                <a:solidFill>
                  <a:srgbClr val="9CA3AF"/>
                </a:solidFill>
                <a:effectLst/>
                <a:uFillTx/>
                <a:latin typeface="Arial"/>
                <a:ea typeface="Microsoft YaHei"/>
              </a:rPr>
              <a:t>· </a:t>
            </a:r>
            <a:r>
              <a:rPr lang="zh-CN" sz="950" b="0" u="none" strike="noStrike">
                <a:solidFill>
                  <a:srgbClr val="9CA3AF"/>
                </a:solidFill>
                <a:effectLst/>
                <a:uFillTx/>
                <a:latin typeface="Arial"/>
                <a:ea typeface="Microsoft YaHei"/>
              </a:rPr>
              <a:t>初赛方案 </a:t>
            </a:r>
            <a:r>
              <a:rPr lang="en-US" sz="950" b="0" u="none" strike="noStrike">
                <a:solidFill>
                  <a:srgbClr val="9CA3AF"/>
                </a:solidFill>
                <a:effectLst/>
                <a:uFillTx/>
                <a:latin typeface="Arial"/>
                <a:ea typeface="Microsoft YaHei"/>
              </a:rPr>
              <a:t>· 2026-08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fill="hold" nodeType="after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0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34" presetClass="entr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120"/>
                            </p:stCondLst>
                            <p:childTnLst>
                              <p:par>
                                <p:cTn id="19" presetID="22" presetClass="entr" fill="hold" nodeType="after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2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4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20"/>
                            </p:stCondLst>
                            <p:childTnLst>
                              <p:par>
                                <p:cTn id="26" presetID="10" presetClass="entr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8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1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4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900"/>
                            </p:stCondLst>
                            <p:childTnLst>
                              <p:par>
                                <p:cTn id="36" presetID="10" presetClass="entr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8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4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210"/>
                            </p:stCondLst>
                            <p:childTnLst>
                              <p:par>
                                <p:cTn id="46" presetID="10" presetClass="entr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8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1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4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520"/>
                            </p:stCondLst>
                            <p:childTnLst>
                              <p:par>
                                <p:cTn id="56" presetID="10" presetClass="entr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8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61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64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830"/>
                            </p:stCondLst>
                            <p:childTnLst>
                              <p:par>
                                <p:cTn id="66" presetID="22" presetClass="entr" fill="hold" nodeType="after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6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1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4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orner"/>
          <p:cNvSpPr/>
          <p:nvPr/>
        </p:nvSpPr>
        <p:spPr>
          <a:xfrm>
            <a:off x="10058400" y="152280"/>
            <a:ext cx="1320480" cy="73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20000"/>
              </a:lnSpc>
            </a:pPr>
            <a:r>
              <a:rPr lang="en-US" sz="4800" b="0" i="1" u="none" strike="noStrike">
                <a:solidFill>
                  <a:srgbClr val="D9D3C6"/>
                </a:solidFill>
                <a:effectLst/>
                <a:uFillTx/>
                <a:latin typeface="Georgia"/>
                <a:ea typeface="Georgia"/>
              </a:rPr>
              <a:t>02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ick"/>
          <p:cNvSpPr/>
          <p:nvPr/>
        </p:nvSpPr>
        <p:spPr>
          <a:xfrm>
            <a:off x="812880" y="558720"/>
            <a:ext cx="279000" cy="25200"/>
          </a:xfrm>
          <a:prstGeom prst="rect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9440" rIns="90000" bIns="-19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kicker"/>
          <p:cNvSpPr/>
          <p:nvPr/>
        </p:nvSpPr>
        <p:spPr>
          <a:xfrm>
            <a:off x="1219320" y="457200"/>
            <a:ext cx="761976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1050" b="1" u="none" spc="201" strike="noStrike">
                <a:solidFill>
                  <a:srgbClr val="0E7490"/>
                </a:solidFill>
                <a:effectLst/>
                <a:uFillTx/>
                <a:latin typeface="Arial"/>
                <a:ea typeface="Microsoft YaHei"/>
              </a:rPr>
              <a:t>EXECUTIVE SUMMARY · 01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itle"/>
          <p:cNvSpPr/>
          <p:nvPr/>
        </p:nvSpPr>
        <p:spPr>
          <a:xfrm>
            <a:off x="812880" y="711360"/>
            <a:ext cx="1056600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2000"/>
              </a:lnSpc>
            </a:pPr>
            <a:r>
              <a:rPr lang="zh-CN" sz="2600" b="1" u="none" strike="noStrike">
                <a:solidFill>
                  <a:srgbClr val="191B1F"/>
                </a:solidFill>
                <a:effectLst/>
                <a:uFillTx/>
                <a:latin typeface="Georgia"/>
                <a:ea typeface="SimSun"/>
              </a:rPr>
              <a:t>结论先行：数字可信、结论可拒绝的期权研究 </a:t>
            </a:r>
            <a:r>
              <a:rPr lang="en-US" sz="2600" b="1" u="none" strike="noStrike">
                <a:solidFill>
                  <a:srgbClr val="191B1F"/>
                </a:solidFill>
                <a:effectLst/>
                <a:uFillTx/>
                <a:latin typeface="Georgia"/>
                <a:ea typeface="SimSun"/>
              </a:rPr>
              <a:t>Agent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tandfirst"/>
          <p:cNvSpPr/>
          <p:nvPr/>
        </p:nvSpPr>
        <p:spPr>
          <a:xfrm>
            <a:off x="812880" y="1270080"/>
            <a:ext cx="10566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11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腾讯业绩跨式（</a:t>
            </a:r>
            <a:r>
              <a:rPr lang="en-US" sz="11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HK.00700</a:t>
            </a:r>
            <a:r>
              <a:rPr lang="zh-CN" sz="11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）已端到端跑通，输出 </a:t>
            </a:r>
            <a:r>
              <a:rPr lang="en-US" sz="11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NO_TRADE——</a:t>
            </a:r>
            <a:r>
              <a:rPr lang="zh-CN" sz="11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拒绝本身就是系统能力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header-rule"/>
          <p:cNvSpPr/>
          <p:nvPr/>
        </p:nvSpPr>
        <p:spPr>
          <a:xfrm>
            <a:off x="812880" y="1574640"/>
            <a:ext cx="10566000" cy="12240"/>
          </a:xfrm>
          <a:custGeom>
            <a:avLst/>
            <a:gdLst>
              <a:gd name="textAreaLeft" fmla="*/ 0 w 10566000"/>
              <a:gd name="textAreaRight" fmla="*/ 10566360 w 1056600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32" h="1">
                <a:moveTo>
                  <a:pt x="0" y="0"/>
                </a:moveTo>
                <a:lnTo>
                  <a:pt x="832" y="0"/>
                </a:lnTo>
              </a:path>
            </a:pathLst>
          </a:custGeom>
          <a:noFill/>
          <a:ln cap="rnd" w="12700">
            <a:solidFill>
              <a:srgbClr val="191B1F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j1-num"/>
          <p:cNvSpPr/>
          <p:nvPr/>
        </p:nvSpPr>
        <p:spPr>
          <a:xfrm>
            <a:off x="812880" y="1854360"/>
            <a:ext cx="50760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1800" b="1" u="none" strike="noStrike">
                <a:solidFill>
                  <a:srgbClr val="0E7490"/>
                </a:solidFill>
                <a:effectLst/>
                <a:uFillTx/>
                <a:latin typeface="Georgia"/>
                <a:ea typeface="Georgia"/>
              </a:rPr>
              <a:t>01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j1-claim"/>
          <p:cNvSpPr/>
          <p:nvPr/>
        </p:nvSpPr>
        <p:spPr>
          <a:xfrm>
            <a:off x="1422360" y="1854360"/>
            <a:ext cx="482580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zh-CN" sz="1300" b="1" u="none" strike="noStrike">
                <a:solidFill>
                  <a:srgbClr val="191B1F"/>
                </a:solidFill>
                <a:effectLst/>
                <a:uFillTx/>
                <a:latin typeface="Georgia"/>
                <a:ea typeface="SimSun"/>
              </a:rPr>
              <a:t>场景解析只补必要字段，未知不编造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j1-proof"/>
          <p:cNvSpPr/>
          <p:nvPr/>
        </p:nvSpPr>
        <p:spPr>
          <a:xfrm>
            <a:off x="1422360" y="2133720"/>
            <a:ext cx="482580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一句自然语言补全标的、期限、账户与风险预算，缺失字段明确保留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j2-num"/>
          <p:cNvSpPr/>
          <p:nvPr/>
        </p:nvSpPr>
        <p:spPr>
          <a:xfrm>
            <a:off x="812880" y="2590920"/>
            <a:ext cx="50760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1800" b="1" u="none" strike="noStrike">
                <a:solidFill>
                  <a:srgbClr val="0E7490"/>
                </a:solidFill>
                <a:effectLst/>
                <a:uFillTx/>
                <a:latin typeface="Georgia"/>
                <a:ea typeface="Georgia"/>
              </a:rPr>
              <a:t>02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j2-claim"/>
          <p:cNvSpPr/>
          <p:nvPr/>
        </p:nvSpPr>
        <p:spPr>
          <a:xfrm>
            <a:off x="1422360" y="2590920"/>
            <a:ext cx="482580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zh-CN" sz="1300" b="1" u="none" strike="noStrike">
                <a:solidFill>
                  <a:srgbClr val="191B1F"/>
                </a:solidFill>
                <a:effectLst/>
                <a:uFillTx/>
                <a:latin typeface="Georgia"/>
                <a:ea typeface="SimSun"/>
              </a:rPr>
              <a:t>金融数字不由 </a:t>
            </a:r>
            <a:r>
              <a:rPr lang="en-US" sz="1300" b="1" u="none" strike="noStrike">
                <a:solidFill>
                  <a:srgbClr val="191B1F"/>
                </a:solidFill>
                <a:effectLst/>
                <a:uFillTx/>
                <a:latin typeface="Georgia"/>
                <a:ea typeface="SimSun"/>
              </a:rPr>
              <a:t>LLM </a:t>
            </a:r>
            <a:r>
              <a:rPr lang="zh-CN" sz="1300" b="1" u="none" strike="noStrike">
                <a:solidFill>
                  <a:srgbClr val="191B1F"/>
                </a:solidFill>
                <a:effectLst/>
                <a:uFillTx/>
                <a:latin typeface="Georgia"/>
                <a:ea typeface="SimSun"/>
              </a:rPr>
              <a:t>产出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j2-proof"/>
          <p:cNvSpPr/>
          <p:nvPr/>
        </p:nvSpPr>
        <p:spPr>
          <a:xfrm>
            <a:off x="1422360" y="2870280"/>
            <a:ext cx="482580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行情、定价、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Greeks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、成本与门控来自 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Futu / 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冻结快照 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/ 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自研引擎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j3-num"/>
          <p:cNvSpPr/>
          <p:nvPr/>
        </p:nvSpPr>
        <p:spPr>
          <a:xfrm>
            <a:off x="812880" y="3327480"/>
            <a:ext cx="50760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1800" b="1" u="none" strike="noStrike">
                <a:solidFill>
                  <a:srgbClr val="0E7490"/>
                </a:solidFill>
                <a:effectLst/>
                <a:uFillTx/>
                <a:latin typeface="Georgia"/>
                <a:ea typeface="Georgia"/>
              </a:rPr>
              <a:t>03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j3-claim"/>
          <p:cNvSpPr/>
          <p:nvPr/>
        </p:nvSpPr>
        <p:spPr>
          <a:xfrm>
            <a:off x="1422360" y="3327480"/>
            <a:ext cx="482580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zh-CN" sz="1300" b="1" u="none" strike="noStrike">
                <a:solidFill>
                  <a:srgbClr val="191B1F"/>
                </a:solidFill>
                <a:effectLst/>
                <a:uFillTx/>
                <a:latin typeface="Georgia"/>
                <a:ea typeface="SimSun"/>
              </a:rPr>
              <a:t>三道硬门一票否决，允许 </a:t>
            </a:r>
            <a:r>
              <a:rPr lang="en-US" sz="1300" b="1" u="none" strike="noStrike">
                <a:solidFill>
                  <a:srgbClr val="191B1F"/>
                </a:solidFill>
                <a:effectLst/>
                <a:uFillTx/>
                <a:latin typeface="Georgia"/>
                <a:ea typeface="SimSun"/>
              </a:rPr>
              <a:t>NO_TRADE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j3-proof"/>
          <p:cNvSpPr/>
          <p:nvPr/>
        </p:nvSpPr>
        <p:spPr>
          <a:xfrm>
            <a:off x="1422360" y="3606840"/>
            <a:ext cx="482580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Edge / Risk / Action 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任一不通过即拒绝，不为展示下单调低门槛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j4-num"/>
          <p:cNvSpPr/>
          <p:nvPr/>
        </p:nvSpPr>
        <p:spPr>
          <a:xfrm>
            <a:off x="812880" y="4064040"/>
            <a:ext cx="50760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1800" b="1" u="none" strike="noStrike">
                <a:solidFill>
                  <a:srgbClr val="0E7490"/>
                </a:solidFill>
                <a:effectLst/>
                <a:uFillTx/>
                <a:latin typeface="Georgia"/>
                <a:ea typeface="Georgia"/>
              </a:rPr>
              <a:t>04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j4-claim"/>
          <p:cNvSpPr/>
          <p:nvPr/>
        </p:nvSpPr>
        <p:spPr>
          <a:xfrm>
            <a:off x="1422360" y="4064040"/>
            <a:ext cx="482580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zh-CN" sz="1300" b="1" u="none" strike="noStrike">
                <a:solidFill>
                  <a:srgbClr val="191B1F"/>
                </a:solidFill>
                <a:effectLst/>
                <a:uFillTx/>
                <a:latin typeface="Georgia"/>
                <a:ea typeface="SimSun"/>
              </a:rPr>
              <a:t>证据可复核：来源 </a:t>
            </a:r>
            <a:r>
              <a:rPr lang="en-US" sz="1300" b="1" u="none" strike="noStrike">
                <a:solidFill>
                  <a:srgbClr val="191B1F"/>
                </a:solidFill>
                <a:effectLst/>
                <a:uFillTx/>
                <a:latin typeface="Georgia"/>
                <a:ea typeface="SimSun"/>
              </a:rPr>
              <a:t>+ </a:t>
            </a:r>
            <a:r>
              <a:rPr lang="zh-CN" sz="1300" b="1" u="none" strike="noStrike">
                <a:solidFill>
                  <a:srgbClr val="191B1F"/>
                </a:solidFill>
                <a:effectLst/>
                <a:uFillTx/>
                <a:latin typeface="Georgia"/>
                <a:ea typeface="SimSun"/>
              </a:rPr>
              <a:t>时间 </a:t>
            </a:r>
            <a:r>
              <a:rPr lang="en-US" sz="1300" b="1" u="none" strike="noStrike">
                <a:solidFill>
                  <a:srgbClr val="191B1F"/>
                </a:solidFill>
                <a:effectLst/>
                <a:uFillTx/>
                <a:latin typeface="Georgia"/>
                <a:ea typeface="SimSun"/>
              </a:rPr>
              <a:t>+ </a:t>
            </a:r>
            <a:r>
              <a:rPr lang="zh-CN" sz="1300" b="1" u="none" strike="noStrike">
                <a:solidFill>
                  <a:srgbClr val="191B1F"/>
                </a:solidFill>
                <a:effectLst/>
                <a:uFillTx/>
                <a:latin typeface="Georgia"/>
                <a:ea typeface="SimSun"/>
              </a:rPr>
              <a:t>审计哈希链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j4-proof"/>
          <p:cNvSpPr/>
          <p:nvPr/>
        </p:nvSpPr>
        <p:spPr>
          <a:xfrm>
            <a:off x="1422360" y="4343400"/>
            <a:ext cx="482580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决策卡逐条列出 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claim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、数据模式、快照 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SHA-256 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与审计链记录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j5-num"/>
          <p:cNvSpPr/>
          <p:nvPr/>
        </p:nvSpPr>
        <p:spPr>
          <a:xfrm>
            <a:off x="812880" y="4800600"/>
            <a:ext cx="50760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1800" b="1" u="none" strike="noStrike">
                <a:solidFill>
                  <a:srgbClr val="0E7490"/>
                </a:solidFill>
                <a:effectLst/>
                <a:uFillTx/>
                <a:latin typeface="Georgia"/>
                <a:ea typeface="Georgia"/>
              </a:rPr>
              <a:t>05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j5-claim"/>
          <p:cNvSpPr/>
          <p:nvPr/>
        </p:nvSpPr>
        <p:spPr>
          <a:xfrm>
            <a:off x="1422360" y="4800600"/>
            <a:ext cx="482580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zh-CN" sz="1300" b="1" u="none" strike="noStrike">
                <a:solidFill>
                  <a:srgbClr val="191B1F"/>
                </a:solidFill>
                <a:effectLst/>
                <a:uFillTx/>
                <a:latin typeface="Georgia"/>
                <a:ea typeface="SimSun"/>
              </a:rPr>
              <a:t>动作边界最小化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j5-proof"/>
          <p:cNvSpPr/>
          <p:nvPr/>
        </p:nvSpPr>
        <p:spPr>
          <a:xfrm>
            <a:off x="1422360" y="5079960"/>
            <a:ext cx="482580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比赛版本无实盘入口；模拟动作必须由用户独立确认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verdict-plate"/>
          <p:cNvSpPr/>
          <p:nvPr/>
        </p:nvSpPr>
        <p:spPr>
          <a:xfrm>
            <a:off x="7061040" y="1727280"/>
            <a:ext cx="4317480" cy="3504960"/>
          </a:xfrm>
          <a:prstGeom prst="rect">
            <a:avLst/>
          </a:prstGeom>
          <a:solidFill>
            <a:srgbClr val="F0EADF"/>
          </a:solidFill>
          <a:ln w="12700">
            <a:solidFill>
              <a:srgbClr val="191B1F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verdict-rail"/>
          <p:cNvSpPr/>
          <p:nvPr/>
        </p:nvSpPr>
        <p:spPr>
          <a:xfrm>
            <a:off x="7061040" y="1727280"/>
            <a:ext cx="37800" cy="3504960"/>
          </a:xfrm>
          <a:prstGeom prst="rect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verdict-label"/>
          <p:cNvSpPr/>
          <p:nvPr/>
        </p:nvSpPr>
        <p:spPr>
          <a:xfrm>
            <a:off x="7264440" y="1905120"/>
            <a:ext cx="391140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zh-CN" sz="950" b="1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当前 </a:t>
            </a:r>
            <a:r>
              <a:rPr lang="en-US" sz="950" b="1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Hero </a:t>
            </a:r>
            <a:r>
              <a:rPr lang="zh-CN" sz="950" b="1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结论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verdict-num"/>
          <p:cNvSpPr/>
          <p:nvPr/>
        </p:nvSpPr>
        <p:spPr>
          <a:xfrm>
            <a:off x="7264440" y="2133720"/>
            <a:ext cx="3911400" cy="58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3600" b="1" u="none" strike="noStrike">
                <a:solidFill>
                  <a:srgbClr val="0E7490"/>
                </a:solidFill>
                <a:effectLst/>
                <a:uFillTx/>
                <a:latin typeface="Georgia"/>
                <a:ea typeface="Georgia"/>
              </a:rPr>
              <a:t>NO_TRADE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verdict-rule"/>
          <p:cNvSpPr/>
          <p:nvPr/>
        </p:nvSpPr>
        <p:spPr>
          <a:xfrm>
            <a:off x="7264440" y="2819520"/>
            <a:ext cx="3911400" cy="12240"/>
          </a:xfrm>
          <a:custGeom>
            <a:avLst/>
            <a:gdLst>
              <a:gd name="textAreaLeft" fmla="*/ 0 w 3911400"/>
              <a:gd name="textAreaRight" fmla="*/ 3911760 w 391140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308" h="1">
                <a:moveTo>
                  <a:pt x="0" y="0"/>
                </a:moveTo>
                <a:lnTo>
                  <a:pt x="308" y="0"/>
                </a:lnTo>
              </a:path>
            </a:pathLst>
          </a:custGeom>
          <a:noFill/>
          <a:ln cap="rnd" w="12700">
            <a:solidFill>
              <a:srgbClr val="191B1F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verdict-text"/>
          <p:cNvSpPr/>
          <p:nvPr/>
        </p:nvSpPr>
        <p:spPr>
          <a:xfrm>
            <a:off x="7264440" y="2946240"/>
            <a:ext cx="3911400" cy="116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2000"/>
              </a:lnSpc>
            </a:pPr>
            <a:r>
              <a:rPr lang="zh-CN" sz="1100" b="0" u="none" strike="noStrike">
                <a:solidFill>
                  <a:srgbClr val="191B1F"/>
                </a:solidFill>
                <a:effectLst/>
                <a:uFillTx/>
                <a:latin typeface="Arial"/>
                <a:ea typeface="Microsoft YaHei"/>
              </a:rPr>
              <a:t>预期波动 </a:t>
            </a:r>
            <a:r>
              <a:rPr lang="en-US" sz="1100" b="0" u="none" strike="noStrike">
                <a:solidFill>
                  <a:srgbClr val="191B1F"/>
                </a:solidFill>
                <a:effectLst/>
                <a:uFillTx/>
                <a:latin typeface="Arial"/>
                <a:ea typeface="Microsoft YaHei"/>
              </a:rPr>
              <a:t>3.92% &lt; </a:t>
            </a:r>
            <a:r>
              <a:rPr lang="zh-CN" sz="1100" b="0" u="none" strike="noStrike">
                <a:solidFill>
                  <a:srgbClr val="191B1F"/>
                </a:solidFill>
                <a:effectLst/>
                <a:uFillTx/>
                <a:latin typeface="Arial"/>
                <a:ea typeface="Microsoft YaHei"/>
              </a:rPr>
              <a:t>盈亏平衡 </a:t>
            </a:r>
            <a:r>
              <a:rPr lang="en-US" sz="1100" b="0" u="none" strike="noStrike">
                <a:solidFill>
                  <a:srgbClr val="191B1F"/>
                </a:solidFill>
                <a:effectLst/>
                <a:uFillTx/>
                <a:latin typeface="Arial"/>
                <a:ea typeface="Microsoft YaHei"/>
              </a:rPr>
              <a:t>4.41%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2000"/>
              </a:lnSpc>
            </a:pPr>
            <a:r>
              <a:rPr lang="zh-CN" sz="1100" b="0" u="none" strike="noStrike">
                <a:solidFill>
                  <a:srgbClr val="191B1F"/>
                </a:solidFill>
                <a:effectLst/>
                <a:uFillTx/>
                <a:latin typeface="Arial"/>
                <a:ea typeface="Microsoft YaHei"/>
              </a:rPr>
              <a:t>历史回测负期望，</a:t>
            </a:r>
            <a:r>
              <a:rPr lang="en-US" sz="1100" b="0" u="none" strike="noStrike">
                <a:solidFill>
                  <a:srgbClr val="191B1F"/>
                </a:solidFill>
                <a:effectLst/>
                <a:uFillTx/>
                <a:latin typeface="Arial"/>
                <a:ea typeface="Microsoft YaHei"/>
              </a:rPr>
              <a:t>IV crush </a:t>
            </a:r>
            <a:r>
              <a:rPr lang="zh-CN" sz="1100" b="0" u="none" strike="noStrike">
                <a:solidFill>
                  <a:srgbClr val="191B1F"/>
                </a:solidFill>
                <a:effectLst/>
                <a:uFillTx/>
                <a:latin typeface="Arial"/>
                <a:ea typeface="Microsoft YaHei"/>
              </a:rPr>
              <a:t>情景转负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2000"/>
              </a:lnSpc>
              <a:spcBef>
                <a:spcPts val="601"/>
              </a:spcBef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P0a Replay </a:t>
            </a:r>
            <a:r>
              <a:rPr lang="zh-CN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已端到端跑通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quote-rail"/>
          <p:cNvSpPr/>
          <p:nvPr/>
        </p:nvSpPr>
        <p:spPr>
          <a:xfrm>
            <a:off x="812880" y="5511960"/>
            <a:ext cx="37800" cy="583920"/>
          </a:xfrm>
          <a:prstGeom prst="rect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quote-text"/>
          <p:cNvSpPr/>
          <p:nvPr/>
        </p:nvSpPr>
        <p:spPr>
          <a:xfrm>
            <a:off x="1015920" y="5715000"/>
            <a:ext cx="1015956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Georgia"/>
                <a:ea typeface="SimSun"/>
              </a:rPr>
              <a:t>“</a:t>
            </a:r>
            <a:r>
              <a:rPr lang="zh-CN" sz="1350" b="1" u="none" strike="noStrike">
                <a:solidFill>
                  <a:srgbClr val="191B1F"/>
                </a:solidFill>
                <a:effectLst/>
                <a:uFillTx/>
                <a:latin typeface="Georgia"/>
                <a:ea typeface="SimSun"/>
              </a:rPr>
              <a:t>敢说 </a:t>
            </a:r>
            <a:r>
              <a:rPr lang="en-US" sz="1350" b="1" u="none" strike="noStrike">
                <a:solidFill>
                  <a:srgbClr val="191B1F"/>
                </a:solidFill>
                <a:effectLst/>
                <a:uFillTx/>
                <a:latin typeface="Georgia"/>
                <a:ea typeface="SimSun"/>
              </a:rPr>
              <a:t>NO_TRADE</a:t>
            </a:r>
            <a:r>
              <a:rPr lang="zh-CN" sz="1350" b="1" u="none" strike="noStrike">
                <a:solidFill>
                  <a:srgbClr val="191B1F"/>
                </a:solidFill>
                <a:effectLst/>
                <a:uFillTx/>
                <a:latin typeface="Georgia"/>
                <a:ea typeface="SimSun"/>
              </a:rPr>
              <a:t>，比能下单更需要系统能力。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akeaway-rule"/>
          <p:cNvSpPr/>
          <p:nvPr/>
        </p:nvSpPr>
        <p:spPr>
          <a:xfrm>
            <a:off x="812880" y="6222960"/>
            <a:ext cx="10566000" cy="12240"/>
          </a:xfrm>
          <a:custGeom>
            <a:avLst/>
            <a:gdLst>
              <a:gd name="textAreaLeft" fmla="*/ 0 w 10566000"/>
              <a:gd name="textAreaRight" fmla="*/ 10566360 w 1056600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32" h="1">
                <a:moveTo>
                  <a:pt x="0" y="0"/>
                </a:moveTo>
                <a:lnTo>
                  <a:pt x="832" y="0"/>
                </a:lnTo>
              </a:path>
            </a:pathLst>
          </a:custGeom>
          <a:noFill/>
          <a:ln cap="rnd" w="12700">
            <a:solidFill>
              <a:srgbClr val="191B1F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akeaway-text"/>
          <p:cNvSpPr/>
          <p:nvPr/>
        </p:nvSpPr>
        <p:spPr>
          <a:xfrm>
            <a:off x="812880" y="6261120"/>
            <a:ext cx="105660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2000"/>
              </a:lnSpc>
            </a:pPr>
            <a:r>
              <a:rPr lang="zh-CN" sz="10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四种输出状态都是合法结论；系统不为展示下单而调低门槛，每次运行产出结论、依据、成本、数据模式与唯一可用下一步。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footer-rule"/>
          <p:cNvSpPr/>
          <p:nvPr/>
        </p:nvSpPr>
        <p:spPr>
          <a:xfrm>
            <a:off x="812880" y="6654960"/>
            <a:ext cx="10566000" cy="12240"/>
          </a:xfrm>
          <a:custGeom>
            <a:avLst/>
            <a:gdLst>
              <a:gd name="textAreaLeft" fmla="*/ 0 w 10566000"/>
              <a:gd name="textAreaRight" fmla="*/ 10566360 w 1056600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32" h="1">
                <a:moveTo>
                  <a:pt x="0" y="0"/>
                </a:moveTo>
                <a:lnTo>
                  <a:pt x="832" y="0"/>
                </a:lnTo>
              </a:path>
            </a:pathLst>
          </a:custGeom>
          <a:noFill/>
          <a:ln cap="rnd" w="12700">
            <a:solidFill>
              <a:srgbClr val="191B1F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footer-left"/>
          <p:cNvSpPr/>
          <p:nvPr/>
        </p:nvSpPr>
        <p:spPr>
          <a:xfrm>
            <a:off x="812880" y="6616800"/>
            <a:ext cx="825480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数据：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data/decision_card_2026-08-12.json · audit_log.jsonl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（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7 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条哈希链）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footer-right"/>
          <p:cNvSpPr/>
          <p:nvPr/>
        </p:nvSpPr>
        <p:spPr>
          <a:xfrm>
            <a:off x="8940960" y="6616800"/>
            <a:ext cx="243792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18000"/>
              </a:lnSpc>
            </a:pP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02 / 16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  <p:timing>
    <p:tnLst>
      <p:par>
        <p:cTn id="78" dur="indefinite" restart="never" nodeType="tmRoot">
          <p:childTnLst>
            <p:seq>
              <p:cTn id="79" dur="indefinite" nodeType="mainSeq">
                <p:childTnLst>
                  <p:par>
                    <p:cTn id="80" fill="hold">
                      <p:stCondLst>
                        <p:cond delay="0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84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fill="hold" nodeType="with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87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90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400"/>
                            </p:stCondLst>
                            <p:childTnLst>
                              <p:par>
                                <p:cTn id="92" presetID="34" presetClass="entr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94" dur="4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9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930"/>
                            </p:stCondLst>
                            <p:childTnLst>
                              <p:par>
                                <p:cTn id="99" presetID="22" presetClass="entr" fill="hold" nodeType="after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101" dur="3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1280"/>
                            </p:stCondLst>
                            <p:childTnLst>
                              <p:par>
                                <p:cTn id="103" presetID="10" presetClass="entr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05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08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11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640"/>
                            </p:stCondLst>
                            <p:childTnLst>
                              <p:par>
                                <p:cTn id="113" presetID="10" presetClass="entr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15" dur="2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18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1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1940"/>
                            </p:stCondLst>
                            <p:childTnLst>
                              <p:par>
                                <p:cTn id="123" presetID="10" presetClass="entr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5" dur="2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8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31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2240"/>
                            </p:stCondLst>
                            <p:childTnLst>
                              <p:par>
                                <p:cTn id="133" presetID="10" presetClass="entr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35" dur="2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38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41" dur="3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2540"/>
                            </p:stCondLst>
                            <p:childTnLst>
                              <p:par>
                                <p:cTn id="143" presetID="10" presetClass="entr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45" dur="2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48" dur="3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51" dur="3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2840"/>
                            </p:stCondLst>
                            <p:childTnLst>
                              <p:par>
                                <p:cTn id="153" presetID="23" presetClass="entr" fill="hold" nodeType="afterEffect" presetSubtype="16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55" dur="4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56" dur="4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57" dur="4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58" dur="4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61" dur="2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64" dur="2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67" dur="3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70" dur="2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73" dur="3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3390"/>
                            </p:stCondLst>
                            <p:childTnLst>
                              <p:par>
                                <p:cTn id="175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77" dur="3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80" dur="3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>
                            <p:stCondLst>
                              <p:cond delay="3740"/>
                            </p:stCondLst>
                            <p:childTnLst>
                              <p:par>
                                <p:cTn id="182" presetID="22" presetClass="entr" fill="hold" nodeType="after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184" dur="3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87" dur="3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4040"/>
                            </p:stCondLst>
                            <p:childTnLst>
                              <p:par>
                                <p:cTn id="189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91" dur="2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94" dur="2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97" dur="2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corner"/>
          <p:cNvSpPr/>
          <p:nvPr/>
        </p:nvSpPr>
        <p:spPr>
          <a:xfrm>
            <a:off x="10058400" y="152280"/>
            <a:ext cx="1320480" cy="73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20000"/>
              </a:lnSpc>
            </a:pPr>
            <a:r>
              <a:rPr lang="en-US" sz="4800" b="0" i="1" u="none" strike="noStrike">
                <a:solidFill>
                  <a:srgbClr val="D9D3C6"/>
                </a:solidFill>
                <a:effectLst/>
                <a:uFillTx/>
                <a:latin typeface="Georgia"/>
                <a:ea typeface="Georgia"/>
              </a:rPr>
              <a:t>03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ick"/>
          <p:cNvSpPr/>
          <p:nvPr/>
        </p:nvSpPr>
        <p:spPr>
          <a:xfrm>
            <a:off x="812880" y="558720"/>
            <a:ext cx="279000" cy="25200"/>
          </a:xfrm>
          <a:prstGeom prst="rect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9440" rIns="90000" bIns="-19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kicker"/>
          <p:cNvSpPr/>
          <p:nvPr/>
        </p:nvSpPr>
        <p:spPr>
          <a:xfrm>
            <a:off x="1219320" y="457200"/>
            <a:ext cx="761976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1050" b="1" u="none" spc="201" strike="noStrike">
                <a:solidFill>
                  <a:srgbClr val="0E7490"/>
                </a:solidFill>
                <a:effectLst/>
                <a:uFillTx/>
                <a:latin typeface="Arial"/>
                <a:ea typeface="Microsoft YaHei"/>
              </a:rPr>
              <a:t>PROBLEM · 02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itle"/>
          <p:cNvSpPr/>
          <p:nvPr/>
        </p:nvSpPr>
        <p:spPr>
          <a:xfrm>
            <a:off x="812880" y="711360"/>
            <a:ext cx="1056600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2000"/>
              </a:lnSpc>
            </a:pPr>
            <a:r>
              <a:rPr lang="zh-CN" sz="2600" b="1" u="none" strike="noStrike">
                <a:solidFill>
                  <a:srgbClr val="191B1F"/>
                </a:solidFill>
                <a:effectLst/>
                <a:uFillTx/>
                <a:latin typeface="Georgia"/>
                <a:ea typeface="SimSun"/>
              </a:rPr>
              <a:t>五个断裂点，让个人投资者做不了一次可信的期权研究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tandfirst"/>
          <p:cNvSpPr/>
          <p:nvPr/>
        </p:nvSpPr>
        <p:spPr>
          <a:xfrm>
            <a:off x="812880" y="1270080"/>
            <a:ext cx="10566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11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对标现状：</a:t>
            </a:r>
            <a:r>
              <a:rPr lang="en-US" sz="11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Futu </a:t>
            </a:r>
            <a:r>
              <a:rPr lang="zh-CN" sz="11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手工流程 </a:t>
            </a:r>
            <a:r>
              <a:rPr lang="en-US" sz="11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· </a:t>
            </a:r>
            <a:r>
              <a:rPr lang="zh-CN" sz="11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通用 </a:t>
            </a:r>
            <a:r>
              <a:rPr lang="en-US" sz="11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LLM · </a:t>
            </a:r>
            <a:r>
              <a:rPr lang="zh-CN" sz="11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固定脚本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header-rule"/>
          <p:cNvSpPr/>
          <p:nvPr/>
        </p:nvSpPr>
        <p:spPr>
          <a:xfrm>
            <a:off x="812880" y="1574640"/>
            <a:ext cx="10566000" cy="12240"/>
          </a:xfrm>
          <a:custGeom>
            <a:avLst/>
            <a:gdLst>
              <a:gd name="textAreaLeft" fmla="*/ 0 w 10566000"/>
              <a:gd name="textAreaRight" fmla="*/ 10566360 w 1056600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32" h="1">
                <a:moveTo>
                  <a:pt x="0" y="0"/>
                </a:moveTo>
                <a:lnTo>
                  <a:pt x="832" y="0"/>
                </a:lnTo>
              </a:path>
            </a:pathLst>
          </a:custGeom>
          <a:noFill/>
          <a:ln cap="rnd" w="12700">
            <a:solidFill>
              <a:srgbClr val="191B1F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2" name="pain-table"/>
          <p:cNvGraphicFramePr/>
          <p:nvPr/>
        </p:nvGraphicFramePr>
        <p:xfrm>
          <a:off x="812880" y="1778040"/>
          <a:ext cx="7111800" cy="3403080"/>
        </p:xfrm>
        <a:graphic>
          <a:graphicData uri="http://schemas.openxmlformats.org/drawingml/2006/table">
            <a:tbl>
              <a:tblPr/>
              <a:tblGrid>
                <a:gridCol w="2986920"/>
                <a:gridCol w="4124880"/>
              </a:tblGrid>
              <a:tr h="3402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1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断裂点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91B1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1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后果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91B1F"/>
                      </a:solidFill>
                      <a:prstDash val="solid"/>
                    </a:lnB>
                    <a:noFill/>
                  </a:tcPr>
                </a:tc>
              </a:tr>
              <a:tr h="61236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行情、规则、账户分散在多页面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91B1F">
                          <a:alpha val="32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研究靠手工拼接，易漏规格与费用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91B1F">
                          <a:alpha val="32"/>
                        </a:srgbClr>
                      </a:solidFill>
                      <a:prstDash val="solid"/>
                    </a:lnB>
                    <a:noFill/>
                  </a:tcPr>
                </a:tc>
              </a:tr>
              <a:tr h="61236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理论价被当成成交价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91B1F">
                          <a:alpha val="32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忽略 </a:t>
                      </a:r>
                      <a:r>
                        <a:rPr lang="en-US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bid/ask</a:t>
                      </a:r>
                      <a:r>
                        <a:rPr lang="zh-CN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、滑点与 </a:t>
                      </a:r>
                      <a:r>
                        <a:rPr lang="en-US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tick</a:t>
                      </a:r>
                      <a:r>
                        <a:rPr lang="zh-CN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，盈亏边界失真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91B1F">
                          <a:alpha val="32"/>
                        </a:srgbClr>
                      </a:solidFill>
                      <a:prstDash val="solid"/>
                    </a:lnB>
                    <a:noFill/>
                  </a:tcPr>
                </a:tc>
              </a:tr>
              <a:tr h="61236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港美股规则差异大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91B1F">
                          <a:alpha val="32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美式</a:t>
                      </a:r>
                      <a:r>
                        <a:rPr lang="en-US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/</a:t>
                      </a:r>
                      <a:r>
                        <a:rPr lang="zh-CN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欧式、实物</a:t>
                      </a:r>
                      <a:r>
                        <a:rPr lang="en-US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/</a:t>
                      </a:r>
                      <a:r>
                        <a:rPr lang="zh-CN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现金交割混用模板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91B1F">
                          <a:alpha val="32"/>
                        </a:srgbClr>
                      </a:solidFill>
                      <a:prstDash val="solid"/>
                    </a:lnB>
                    <a:noFill/>
                  </a:tcPr>
                </a:tc>
              </a:tr>
              <a:tr h="61236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通用 </a:t>
                      </a:r>
                      <a:r>
                        <a:rPr lang="en-US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LLM </a:t>
                      </a:r>
                      <a:r>
                        <a:rPr lang="zh-CN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会编造数字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91B1F">
                          <a:alpha val="32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无法承担账户风控与交易权限判断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91B1F">
                          <a:alpha val="32"/>
                        </a:srgbClr>
                      </a:solidFill>
                      <a:prstDash val="solid"/>
                    </a:lnB>
                    <a:noFill/>
                  </a:tcPr>
                </a:tc>
              </a:tr>
              <a:tr h="61236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结论没有审计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91B1F">
                          <a:alpha val="32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错后无法复盘，也无法向他人复核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91B1F">
                          <a:alpha val="32"/>
                        </a:srgb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3" name="result-label"/>
          <p:cNvSpPr/>
          <p:nvPr/>
        </p:nvSpPr>
        <p:spPr>
          <a:xfrm>
            <a:off x="8128080" y="1828800"/>
            <a:ext cx="325080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zh-CN" sz="950" b="1" u="none" strike="noStrike">
                <a:solidFill>
                  <a:srgbClr val="C24452"/>
                </a:solidFill>
                <a:effectLst/>
                <a:uFillTx/>
                <a:latin typeface="Arial"/>
                <a:ea typeface="Microsoft YaHei"/>
              </a:rPr>
              <a:t>结果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result-text"/>
          <p:cNvSpPr/>
          <p:nvPr/>
        </p:nvSpPr>
        <p:spPr>
          <a:xfrm>
            <a:off x="8128080" y="2031840"/>
            <a:ext cx="3250800" cy="86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1800" b="1" u="none" strike="noStrike">
                <a:solidFill>
                  <a:srgbClr val="191B1F"/>
                </a:solidFill>
                <a:effectLst/>
                <a:uFillTx/>
                <a:latin typeface="Georgia"/>
                <a:ea typeface="SimSun"/>
              </a:rPr>
              <a:t>要么不敢决策，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zh-CN" sz="1800" b="1" u="none" strike="noStrike">
                <a:solidFill>
                  <a:srgbClr val="191B1F"/>
                </a:solidFill>
                <a:effectLst/>
                <a:uFillTx/>
                <a:latin typeface="Georgia"/>
                <a:ea typeface="SimSun"/>
              </a:rPr>
              <a:t>要么在错误口径上决策。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result-rule"/>
          <p:cNvSpPr/>
          <p:nvPr/>
        </p:nvSpPr>
        <p:spPr>
          <a:xfrm>
            <a:off x="8128080" y="3022560"/>
            <a:ext cx="3250800" cy="12240"/>
          </a:xfrm>
          <a:custGeom>
            <a:avLst/>
            <a:gdLst>
              <a:gd name="textAreaLeft" fmla="*/ 0 w 3250800"/>
              <a:gd name="textAreaRight" fmla="*/ 3251160 w 325080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256" h="1">
                <a:moveTo>
                  <a:pt x="0" y="0"/>
                </a:moveTo>
                <a:lnTo>
                  <a:pt x="256" y="0"/>
                </a:lnTo>
              </a:path>
            </a:pathLst>
          </a:custGeom>
          <a:noFill/>
          <a:ln cap="rnd" w="12700">
            <a:solidFill>
              <a:srgbClr val="191B1F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quote-plate"/>
          <p:cNvSpPr/>
          <p:nvPr/>
        </p:nvSpPr>
        <p:spPr>
          <a:xfrm>
            <a:off x="8128080" y="3200400"/>
            <a:ext cx="3250800" cy="1218960"/>
          </a:xfrm>
          <a:prstGeom prst="rect">
            <a:avLst/>
          </a:prstGeom>
          <a:solidFill>
            <a:srgbClr val="E3F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quote-rail"/>
          <p:cNvSpPr/>
          <p:nvPr/>
        </p:nvSpPr>
        <p:spPr>
          <a:xfrm>
            <a:off x="8128080" y="3200400"/>
            <a:ext cx="37800" cy="1218960"/>
          </a:xfrm>
          <a:prstGeom prst="rect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quote-text"/>
          <p:cNvSpPr/>
          <p:nvPr/>
        </p:nvSpPr>
        <p:spPr>
          <a:xfrm>
            <a:off x="8331120" y="3352680"/>
            <a:ext cx="28443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Georgia"/>
                <a:ea typeface="SimSun"/>
              </a:rPr>
              <a:t>“</a:t>
            </a:r>
            <a:r>
              <a:rPr lang="zh-CN" sz="1250" b="1" u="none" strike="noStrike">
                <a:solidFill>
                  <a:srgbClr val="191B1F"/>
                </a:solidFill>
                <a:effectLst/>
                <a:uFillTx/>
                <a:latin typeface="Georgia"/>
                <a:ea typeface="SimSun"/>
              </a:rPr>
              <a:t>不解决可信问题，再多工具也只是更快地犯错。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gap-note"/>
          <p:cNvSpPr/>
          <p:nvPr/>
        </p:nvSpPr>
        <p:spPr>
          <a:xfrm>
            <a:off x="8128080" y="4597560"/>
            <a:ext cx="3250800" cy="55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研究缺口：一条让数字可信、结论可拒绝的完整期权研究闭环。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akeaway-rule"/>
          <p:cNvSpPr/>
          <p:nvPr/>
        </p:nvSpPr>
        <p:spPr>
          <a:xfrm>
            <a:off x="812880" y="5562720"/>
            <a:ext cx="10566000" cy="12240"/>
          </a:xfrm>
          <a:custGeom>
            <a:avLst/>
            <a:gdLst>
              <a:gd name="textAreaLeft" fmla="*/ 0 w 10566000"/>
              <a:gd name="textAreaRight" fmla="*/ 10566360 w 1056600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32" h="1">
                <a:moveTo>
                  <a:pt x="0" y="0"/>
                </a:moveTo>
                <a:lnTo>
                  <a:pt x="832" y="0"/>
                </a:lnTo>
              </a:path>
            </a:pathLst>
          </a:custGeom>
          <a:noFill/>
          <a:ln cap="rnd" w="12700">
            <a:solidFill>
              <a:srgbClr val="191B1F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akeaway-text"/>
          <p:cNvSpPr/>
          <p:nvPr/>
        </p:nvSpPr>
        <p:spPr>
          <a:xfrm>
            <a:off x="812880" y="5600880"/>
            <a:ext cx="105660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2000"/>
              </a:lnSpc>
            </a:pPr>
            <a:r>
              <a:rPr lang="zh-CN" sz="10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问题本质不是缺工具，而是缺一条「数字可信、结论可拒绝」的完整链路。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footer-rule"/>
          <p:cNvSpPr/>
          <p:nvPr/>
        </p:nvSpPr>
        <p:spPr>
          <a:xfrm>
            <a:off x="812880" y="6654960"/>
            <a:ext cx="10566000" cy="12240"/>
          </a:xfrm>
          <a:custGeom>
            <a:avLst/>
            <a:gdLst>
              <a:gd name="textAreaLeft" fmla="*/ 0 w 10566000"/>
              <a:gd name="textAreaRight" fmla="*/ 10566360 w 1056600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32" h="1">
                <a:moveTo>
                  <a:pt x="0" y="0"/>
                </a:moveTo>
                <a:lnTo>
                  <a:pt x="832" y="0"/>
                </a:lnTo>
              </a:path>
            </a:pathLst>
          </a:custGeom>
          <a:noFill/>
          <a:ln cap="rnd" w="12700">
            <a:solidFill>
              <a:srgbClr val="191B1F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footer-left"/>
          <p:cNvSpPr/>
          <p:nvPr/>
        </p:nvSpPr>
        <p:spPr>
          <a:xfrm>
            <a:off x="812880" y="6616800"/>
            <a:ext cx="825480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来源：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docs/PRD.md §1.2 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当前痛点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footer-right"/>
          <p:cNvSpPr/>
          <p:nvPr/>
        </p:nvSpPr>
        <p:spPr>
          <a:xfrm>
            <a:off x="8940960" y="6616800"/>
            <a:ext cx="243792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18000"/>
              </a:lnSpc>
            </a:pP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03 / 16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  <p:timing>
    <p:tnLst>
      <p:par>
        <p:cTn id="198" dur="indefinite" restart="never" nodeType="tmRoot">
          <p:childTnLst>
            <p:seq>
              <p:cTn id="199" dur="indefinite" nodeType="mainSeq">
                <p:childTnLst>
                  <p:par>
                    <p:cTn id="200" fill="hold">
                      <p:stCondLst>
                        <p:cond delay="0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04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22" presetClass="entr" fill="hold" nodeType="with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207" dur="2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10" dur="3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>
                            <p:stCondLst>
                              <p:cond delay="400"/>
                            </p:stCondLst>
                            <p:childTnLst>
                              <p:par>
                                <p:cTn id="212" presetID="34" presetClass="entr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14" dur="45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5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17" dur="3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8" fill="hold">
                            <p:stCondLst>
                              <p:cond delay="930"/>
                            </p:stCondLst>
                            <p:childTnLst>
                              <p:par>
                                <p:cTn id="219" presetID="22" presetClass="entr" fill="hold" nodeType="after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221" dur="3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2" fill="hold">
                            <p:stCondLst>
                              <p:cond delay="1280"/>
                            </p:stCondLst>
                            <p:childTnLst>
                              <p:par>
                                <p:cTn id="223" presetID="10" presetClass="entr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25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6" fill="hold">
                            <p:stCondLst>
                              <p:cond delay="1740"/>
                            </p:stCondLst>
                            <p:childTnLst>
                              <p:par>
                                <p:cTn id="227" presetID="10" presetClass="entr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29" dur="2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34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32" dur="35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3" presetID="22" presetClass="entr" fill="hold" nodeType="with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235" dur="2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6" fill="hold">
                            <p:stCondLst>
                              <p:cond delay="2090"/>
                            </p:stCondLst>
                            <p:childTnLst>
                              <p:par>
                                <p:cTn id="237" presetID="10" presetClass="entr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39" dur="3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0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42" dur="25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45" dur="3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6" fill="hold">
                            <p:stCondLst>
                              <p:cond delay="2500"/>
                            </p:stCondLst>
                            <p:childTnLst>
                              <p:par>
                                <p:cTn id="247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49" dur="3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0" fill="hold">
                            <p:stCondLst>
                              <p:cond delay="2800"/>
                            </p:stCondLst>
                            <p:childTnLst>
                              <p:par>
                                <p:cTn id="251" presetID="22" presetClass="entr" fill="hold" nodeType="after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253" dur="3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56" dur="3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7" fill="hold">
                            <p:stCondLst>
                              <p:cond delay="3100"/>
                            </p:stCondLst>
                            <p:childTnLst>
                              <p:par>
                                <p:cTn id="258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60" dur="2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1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63" dur="25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4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66" dur="25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corner"/>
          <p:cNvSpPr/>
          <p:nvPr/>
        </p:nvSpPr>
        <p:spPr>
          <a:xfrm>
            <a:off x="10058400" y="152280"/>
            <a:ext cx="1320480" cy="73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20000"/>
              </a:lnSpc>
            </a:pPr>
            <a:r>
              <a:rPr lang="en-US" sz="4800" b="0" i="1" u="none" strike="noStrike">
                <a:solidFill>
                  <a:srgbClr val="D9D3C6"/>
                </a:solidFill>
                <a:effectLst/>
                <a:uFillTx/>
                <a:latin typeface="Georgia"/>
                <a:ea typeface="Georgia"/>
              </a:rPr>
              <a:t>04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ick"/>
          <p:cNvSpPr/>
          <p:nvPr/>
        </p:nvSpPr>
        <p:spPr>
          <a:xfrm>
            <a:off x="812880" y="558720"/>
            <a:ext cx="279000" cy="25200"/>
          </a:xfrm>
          <a:prstGeom prst="rect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9440" rIns="90000" bIns="-19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kicker"/>
          <p:cNvSpPr/>
          <p:nvPr/>
        </p:nvSpPr>
        <p:spPr>
          <a:xfrm>
            <a:off x="1219320" y="457200"/>
            <a:ext cx="761976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1050" b="1" u="none" spc="201" strike="noStrike">
                <a:solidFill>
                  <a:srgbClr val="0E7490"/>
                </a:solidFill>
                <a:effectLst/>
                <a:uFillTx/>
                <a:latin typeface="Arial"/>
                <a:ea typeface="Microsoft YaHei"/>
              </a:rPr>
              <a:t>SOLUTION · 03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itle"/>
          <p:cNvSpPr/>
          <p:nvPr/>
        </p:nvSpPr>
        <p:spPr>
          <a:xfrm>
            <a:off x="812880" y="711360"/>
            <a:ext cx="1056600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2000"/>
              </a:lnSpc>
            </a:pPr>
            <a:r>
              <a:rPr lang="zh-CN" sz="2600" b="1" u="none" strike="noStrike">
                <a:solidFill>
                  <a:srgbClr val="191B1F"/>
                </a:solidFill>
                <a:effectLst/>
                <a:uFillTx/>
                <a:latin typeface="Georgia"/>
                <a:ea typeface="SimSun"/>
              </a:rPr>
              <a:t>从一句自然语言到一张决策卡：五阶段任务闭环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tandfirst"/>
          <p:cNvSpPr/>
          <p:nvPr/>
        </p:nvSpPr>
        <p:spPr>
          <a:xfrm>
            <a:off x="812880" y="1270080"/>
            <a:ext cx="10566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11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输入示例：「腾讯业绩快到了，方向不确定。账户 </a:t>
            </a:r>
            <a:r>
              <a:rPr lang="en-US" sz="11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10 </a:t>
            </a:r>
            <a:r>
              <a:rPr lang="zh-CN" sz="11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万港币，单笔最多亏 </a:t>
            </a:r>
            <a:r>
              <a:rPr lang="en-US" sz="11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5%</a:t>
            </a:r>
            <a:r>
              <a:rPr lang="zh-CN" sz="11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，帮我看看跨式。」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header-rule"/>
          <p:cNvSpPr/>
          <p:nvPr/>
        </p:nvSpPr>
        <p:spPr>
          <a:xfrm>
            <a:off x="812880" y="1574640"/>
            <a:ext cx="10566000" cy="12240"/>
          </a:xfrm>
          <a:custGeom>
            <a:avLst/>
            <a:gdLst>
              <a:gd name="textAreaLeft" fmla="*/ 0 w 10566000"/>
              <a:gd name="textAreaRight" fmla="*/ 10566360 w 1056600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32" h="1">
                <a:moveTo>
                  <a:pt x="0" y="0"/>
                </a:moveTo>
                <a:lnTo>
                  <a:pt x="832" y="0"/>
                </a:lnTo>
              </a:path>
            </a:pathLst>
          </a:custGeom>
          <a:noFill/>
          <a:ln cap="rnd" w="12700">
            <a:solidFill>
              <a:srgbClr val="191B1F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1-num"/>
          <p:cNvSpPr/>
          <p:nvPr/>
        </p:nvSpPr>
        <p:spPr>
          <a:xfrm>
            <a:off x="812880" y="1803240"/>
            <a:ext cx="55836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2000" b="1" u="none" strike="noStrike">
                <a:solidFill>
                  <a:srgbClr val="0E7490"/>
                </a:solidFill>
                <a:effectLst/>
                <a:uFillTx/>
                <a:latin typeface="Georgia"/>
                <a:ea typeface="Georgia"/>
              </a:rPr>
              <a:t>01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1-label"/>
          <p:cNvSpPr/>
          <p:nvPr/>
        </p:nvSpPr>
        <p:spPr>
          <a:xfrm>
            <a:off x="812880" y="2158920"/>
            <a:ext cx="192996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zh-CN" sz="1350" b="1" u="none" strike="noStrike">
                <a:solidFill>
                  <a:srgbClr val="191B1F"/>
                </a:solidFill>
                <a:effectLst/>
                <a:uFillTx/>
                <a:latin typeface="Georgia"/>
                <a:ea typeface="SimSun"/>
              </a:rPr>
              <a:t>场景解析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1-cap"/>
          <p:cNvSpPr/>
          <p:nvPr/>
        </p:nvSpPr>
        <p:spPr>
          <a:xfrm>
            <a:off x="812880" y="2438280"/>
            <a:ext cx="192996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只补必要字段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ar1"/>
          <p:cNvSpPr/>
          <p:nvPr/>
        </p:nvSpPr>
        <p:spPr>
          <a:xfrm>
            <a:off x="2768760" y="2286000"/>
            <a:ext cx="177480" cy="25200"/>
          </a:xfrm>
          <a:custGeom>
            <a:avLst/>
            <a:gdLst>
              <a:gd name="textAreaLeft" fmla="*/ 0 w 177480"/>
              <a:gd name="textAreaRight" fmla="*/ 177840 w 177480"/>
              <a:gd name="textAreaTop" fmla="*/ 0 h 25200"/>
              <a:gd name="textAreaBottom" fmla="*/ 25560 h 25200"/>
            </a:gdLst>
            <a:ahLst/>
            <a:cxnLst/>
            <a:rect l="textAreaLeft" t="textAreaTop" r="textAreaRight" b="textAreaBottom"/>
            <a:pathLst>
              <a:path w="14" h="2">
                <a:moveTo>
                  <a:pt x="0" y="1"/>
                </a:moveTo>
                <a:lnTo>
                  <a:pt x="14" y="1"/>
                </a:lnTo>
              </a:path>
            </a:pathLst>
          </a:custGeom>
          <a:noFill/>
          <a:ln cap="rnd" w="15875">
            <a:solidFill>
              <a:srgbClr val="0E7490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tIns="-19440" rIns="90000" bIns="-194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2-num"/>
          <p:cNvSpPr/>
          <p:nvPr/>
        </p:nvSpPr>
        <p:spPr>
          <a:xfrm>
            <a:off x="2971800" y="1803240"/>
            <a:ext cx="55836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2000" b="1" u="none" strike="noStrike">
                <a:solidFill>
                  <a:srgbClr val="0E7490"/>
                </a:solidFill>
                <a:effectLst/>
                <a:uFillTx/>
                <a:latin typeface="Georgia"/>
                <a:ea typeface="Georgia"/>
              </a:rPr>
              <a:t>02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2-label"/>
          <p:cNvSpPr/>
          <p:nvPr/>
        </p:nvSpPr>
        <p:spPr>
          <a:xfrm>
            <a:off x="2971800" y="2158920"/>
            <a:ext cx="192996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zh-CN" sz="1350" b="1" u="none" strike="noStrike">
                <a:solidFill>
                  <a:srgbClr val="191B1F"/>
                </a:solidFill>
                <a:effectLst/>
                <a:uFillTx/>
                <a:latin typeface="Georgia"/>
                <a:ea typeface="SimSun"/>
              </a:rPr>
              <a:t>数据 </a:t>
            </a:r>
            <a:r>
              <a:rPr lang="en-US" sz="1350" b="1" u="none" strike="noStrike">
                <a:solidFill>
                  <a:srgbClr val="191B1F"/>
                </a:solidFill>
                <a:effectLst/>
                <a:uFillTx/>
                <a:latin typeface="Georgia"/>
                <a:ea typeface="SimSun"/>
              </a:rPr>
              <a:t>/ </a:t>
            </a:r>
            <a:r>
              <a:rPr lang="zh-CN" sz="1350" b="1" u="none" strike="noStrike">
                <a:solidFill>
                  <a:srgbClr val="191B1F"/>
                </a:solidFill>
                <a:effectLst/>
                <a:uFillTx/>
                <a:latin typeface="Georgia"/>
                <a:ea typeface="SimSun"/>
              </a:rPr>
              <a:t>冻结快照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2-cap"/>
          <p:cNvSpPr/>
          <p:nvPr/>
        </p:nvSpPr>
        <p:spPr>
          <a:xfrm>
            <a:off x="2971800" y="2438280"/>
            <a:ext cx="192996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Live 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或 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Replay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，固定 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as_of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ar2"/>
          <p:cNvSpPr/>
          <p:nvPr/>
        </p:nvSpPr>
        <p:spPr>
          <a:xfrm>
            <a:off x="4927680" y="2286000"/>
            <a:ext cx="177480" cy="25200"/>
          </a:xfrm>
          <a:custGeom>
            <a:avLst/>
            <a:gdLst>
              <a:gd name="textAreaLeft" fmla="*/ 0 w 177480"/>
              <a:gd name="textAreaRight" fmla="*/ 177840 w 177480"/>
              <a:gd name="textAreaTop" fmla="*/ 0 h 25200"/>
              <a:gd name="textAreaBottom" fmla="*/ 25560 h 25200"/>
            </a:gdLst>
            <a:ahLst/>
            <a:cxnLst/>
            <a:rect l="textAreaLeft" t="textAreaTop" r="textAreaRight" b="textAreaBottom"/>
            <a:pathLst>
              <a:path w="14" h="2">
                <a:moveTo>
                  <a:pt x="0" y="1"/>
                </a:moveTo>
                <a:lnTo>
                  <a:pt x="14" y="1"/>
                </a:lnTo>
              </a:path>
            </a:pathLst>
          </a:custGeom>
          <a:noFill/>
          <a:ln cap="rnd" w="15875">
            <a:solidFill>
              <a:srgbClr val="0E7490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tIns="-19440" rIns="90000" bIns="-194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3-num"/>
          <p:cNvSpPr/>
          <p:nvPr/>
        </p:nvSpPr>
        <p:spPr>
          <a:xfrm>
            <a:off x="5130720" y="1803240"/>
            <a:ext cx="55836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2000" b="1" u="none" strike="noStrike">
                <a:solidFill>
                  <a:srgbClr val="0E7490"/>
                </a:solidFill>
                <a:effectLst/>
                <a:uFillTx/>
                <a:latin typeface="Georgia"/>
                <a:ea typeface="Georgia"/>
              </a:rPr>
              <a:t>03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3-label"/>
          <p:cNvSpPr/>
          <p:nvPr/>
        </p:nvSpPr>
        <p:spPr>
          <a:xfrm>
            <a:off x="5130720" y="2158920"/>
            <a:ext cx="192996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zh-CN" sz="1350" b="1" u="none" strike="noStrike">
                <a:solidFill>
                  <a:srgbClr val="191B1F"/>
                </a:solidFill>
                <a:effectLst/>
                <a:uFillTx/>
                <a:latin typeface="Georgia"/>
                <a:ea typeface="SimSun"/>
              </a:rPr>
              <a:t>引擎计算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3-cap"/>
          <p:cNvSpPr/>
          <p:nvPr/>
        </p:nvSpPr>
        <p:spPr>
          <a:xfrm>
            <a:off x="5130720" y="2438280"/>
            <a:ext cx="192996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BS / 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二叉树 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/ 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成本口径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ar3"/>
          <p:cNvSpPr/>
          <p:nvPr/>
        </p:nvSpPr>
        <p:spPr>
          <a:xfrm>
            <a:off x="7086600" y="2286000"/>
            <a:ext cx="177480" cy="25200"/>
          </a:xfrm>
          <a:custGeom>
            <a:avLst/>
            <a:gdLst>
              <a:gd name="textAreaLeft" fmla="*/ 0 w 177480"/>
              <a:gd name="textAreaRight" fmla="*/ 177840 w 177480"/>
              <a:gd name="textAreaTop" fmla="*/ 0 h 25200"/>
              <a:gd name="textAreaBottom" fmla="*/ 25560 h 25200"/>
            </a:gdLst>
            <a:ahLst/>
            <a:cxnLst/>
            <a:rect l="textAreaLeft" t="textAreaTop" r="textAreaRight" b="textAreaBottom"/>
            <a:pathLst>
              <a:path w="14" h="2">
                <a:moveTo>
                  <a:pt x="0" y="1"/>
                </a:moveTo>
                <a:lnTo>
                  <a:pt x="14" y="1"/>
                </a:lnTo>
              </a:path>
            </a:pathLst>
          </a:custGeom>
          <a:noFill/>
          <a:ln cap="rnd" w="15875">
            <a:solidFill>
              <a:srgbClr val="0E7490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tIns="-19440" rIns="90000" bIns="-194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4-num"/>
          <p:cNvSpPr/>
          <p:nvPr/>
        </p:nvSpPr>
        <p:spPr>
          <a:xfrm>
            <a:off x="7289640" y="1803240"/>
            <a:ext cx="55836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2000" b="1" u="none" strike="noStrike">
                <a:solidFill>
                  <a:srgbClr val="0E7490"/>
                </a:solidFill>
                <a:effectLst/>
                <a:uFillTx/>
                <a:latin typeface="Georgia"/>
                <a:ea typeface="Georgia"/>
              </a:rPr>
              <a:t>04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4-label"/>
          <p:cNvSpPr/>
          <p:nvPr/>
        </p:nvSpPr>
        <p:spPr>
          <a:xfrm>
            <a:off x="7289640" y="2158920"/>
            <a:ext cx="192996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zh-CN" sz="1350" b="1" u="none" strike="noStrike">
                <a:solidFill>
                  <a:srgbClr val="191B1F"/>
                </a:solidFill>
                <a:effectLst/>
                <a:uFillTx/>
                <a:latin typeface="Georgia"/>
                <a:ea typeface="SimSun"/>
              </a:rPr>
              <a:t>门控判定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4-cap"/>
          <p:cNvSpPr/>
          <p:nvPr/>
        </p:nvSpPr>
        <p:spPr>
          <a:xfrm>
            <a:off x="7289640" y="2438280"/>
            <a:ext cx="192996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Edge / Risk / Action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ar4"/>
          <p:cNvSpPr/>
          <p:nvPr/>
        </p:nvSpPr>
        <p:spPr>
          <a:xfrm>
            <a:off x="9245520" y="2286000"/>
            <a:ext cx="177480" cy="25200"/>
          </a:xfrm>
          <a:custGeom>
            <a:avLst/>
            <a:gdLst>
              <a:gd name="textAreaLeft" fmla="*/ 0 w 177480"/>
              <a:gd name="textAreaRight" fmla="*/ 177840 w 177480"/>
              <a:gd name="textAreaTop" fmla="*/ 0 h 25200"/>
              <a:gd name="textAreaBottom" fmla="*/ 25560 h 25200"/>
            </a:gdLst>
            <a:ahLst/>
            <a:cxnLst/>
            <a:rect l="textAreaLeft" t="textAreaTop" r="textAreaRight" b="textAreaBottom"/>
            <a:pathLst>
              <a:path w="14" h="2">
                <a:moveTo>
                  <a:pt x="0" y="1"/>
                </a:moveTo>
                <a:lnTo>
                  <a:pt x="14" y="1"/>
                </a:lnTo>
              </a:path>
            </a:pathLst>
          </a:custGeom>
          <a:noFill/>
          <a:ln cap="rnd" w="15875">
            <a:solidFill>
              <a:srgbClr val="0E7490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tIns="-19440" rIns="90000" bIns="-194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5-num"/>
          <p:cNvSpPr/>
          <p:nvPr/>
        </p:nvSpPr>
        <p:spPr>
          <a:xfrm>
            <a:off x="9448920" y="1803240"/>
            <a:ext cx="55836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2000" b="1" u="none" strike="noStrike">
                <a:solidFill>
                  <a:srgbClr val="0E7490"/>
                </a:solidFill>
                <a:effectLst/>
                <a:uFillTx/>
                <a:latin typeface="Georgia"/>
                <a:ea typeface="Georgia"/>
              </a:rPr>
              <a:t>05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5-label"/>
          <p:cNvSpPr/>
          <p:nvPr/>
        </p:nvSpPr>
        <p:spPr>
          <a:xfrm>
            <a:off x="9448920" y="2158920"/>
            <a:ext cx="192996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zh-CN" sz="1350" b="1" u="none" strike="noStrike">
                <a:solidFill>
                  <a:srgbClr val="191B1F"/>
                </a:solidFill>
                <a:effectLst/>
                <a:uFillTx/>
                <a:latin typeface="Georgia"/>
                <a:ea typeface="SimSun"/>
              </a:rPr>
              <a:t>决策卡 </a:t>
            </a:r>
            <a:r>
              <a:rPr lang="en-US" sz="1350" b="1" u="none" strike="noStrike">
                <a:solidFill>
                  <a:srgbClr val="191B1F"/>
                </a:solidFill>
                <a:effectLst/>
                <a:uFillTx/>
                <a:latin typeface="Georgia"/>
                <a:ea typeface="SimSun"/>
              </a:rPr>
              <a:t>+ </a:t>
            </a:r>
            <a:r>
              <a:rPr lang="zh-CN" sz="1350" b="1" u="none" strike="noStrike">
                <a:solidFill>
                  <a:srgbClr val="191B1F"/>
                </a:solidFill>
                <a:effectLst/>
                <a:uFillTx/>
                <a:latin typeface="Georgia"/>
                <a:ea typeface="SimSun"/>
              </a:rPr>
              <a:t>审计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s5-cap"/>
          <p:cNvSpPr/>
          <p:nvPr/>
        </p:nvSpPr>
        <p:spPr>
          <a:xfrm>
            <a:off x="9448920" y="2438280"/>
            <a:ext cx="192996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证据 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+ 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审计链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loop-rule"/>
          <p:cNvSpPr/>
          <p:nvPr/>
        </p:nvSpPr>
        <p:spPr>
          <a:xfrm>
            <a:off x="812880" y="2997360"/>
            <a:ext cx="10566000" cy="12240"/>
          </a:xfrm>
          <a:custGeom>
            <a:avLst/>
            <a:gdLst>
              <a:gd name="textAreaLeft" fmla="*/ 0 w 10566000"/>
              <a:gd name="textAreaRight" fmla="*/ 10566360 w 1056600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32" h="1">
                <a:moveTo>
                  <a:pt x="0" y="0"/>
                </a:moveTo>
                <a:lnTo>
                  <a:pt x="832" y="0"/>
                </a:lnTo>
              </a:path>
            </a:pathLst>
          </a:custGeom>
          <a:noFill/>
          <a:ln cap="rnd" w="12700">
            <a:solidFill>
              <a:srgbClr val="191B1F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loop-head"/>
          <p:cNvSpPr/>
          <p:nvPr/>
        </p:nvSpPr>
        <p:spPr>
          <a:xfrm>
            <a:off x="812880" y="3124080"/>
            <a:ext cx="634968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2000"/>
              </a:lnSpc>
            </a:pPr>
            <a:r>
              <a:rPr lang="zh-CN" sz="1100" b="1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任务闭环 </a:t>
            </a:r>
            <a:r>
              <a:rPr lang="en-US" sz="1100" b="1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· </a:t>
            </a:r>
            <a:r>
              <a:rPr lang="zh-CN" sz="1100" b="1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对应赛道评审口径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loop-chips"/>
          <p:cNvSpPr/>
          <p:nvPr/>
        </p:nvSpPr>
        <p:spPr>
          <a:xfrm>
            <a:off x="812880" y="3378240"/>
            <a:ext cx="10566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用户输入 → 任务理解 → 流程编排 → 知识库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/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工具调用 → 结果交付 → 异常处理 → 效果验证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tates-head"/>
          <p:cNvSpPr/>
          <p:nvPr/>
        </p:nvSpPr>
        <p:spPr>
          <a:xfrm>
            <a:off x="812880" y="3835440"/>
            <a:ext cx="507960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2000"/>
              </a:lnSpc>
            </a:pPr>
            <a:r>
              <a:rPr lang="zh-CN" sz="1100" b="1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四种合法输出状态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t1-label"/>
          <p:cNvSpPr/>
          <p:nvPr/>
        </p:nvSpPr>
        <p:spPr>
          <a:xfrm>
            <a:off x="812880" y="4114800"/>
            <a:ext cx="247608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2000"/>
              </a:lnSpc>
            </a:pPr>
            <a:r>
              <a:rPr lang="en-US" sz="1100" b="1" u="none" strike="noStrike">
                <a:solidFill>
                  <a:srgbClr val="A16207"/>
                </a:solidFill>
                <a:effectLst/>
                <a:uFillTx/>
                <a:latin typeface="Arial"/>
                <a:ea typeface="Microsoft YaHei"/>
              </a:rPr>
              <a:t>NO_TRADE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t1-desc"/>
          <p:cNvSpPr/>
          <p:nvPr/>
        </p:nvSpPr>
        <p:spPr>
          <a:xfrm>
            <a:off x="812880" y="4394160"/>
            <a:ext cx="247608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成本与证据不支持交易，明确拒绝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vline1"/>
          <p:cNvSpPr/>
          <p:nvPr/>
        </p:nvSpPr>
        <p:spPr>
          <a:xfrm>
            <a:off x="3454560" y="4165560"/>
            <a:ext cx="12240" cy="659880"/>
          </a:xfrm>
          <a:custGeom>
            <a:avLst/>
            <a:gdLst>
              <a:gd name="textAreaLeft" fmla="*/ 0 w 12240"/>
              <a:gd name="textAreaRight" fmla="*/ 12600 w 12240"/>
              <a:gd name="textAreaTop" fmla="*/ 0 h 659880"/>
              <a:gd name="textAreaBottom" fmla="*/ 660240 h 659880"/>
            </a:gdLst>
            <a:ahLst/>
            <a:cxnLst/>
            <a:rect l="textAreaLeft" t="textAreaTop" r="textAreaRight" b="textAreaBottom"/>
            <a:pathLst>
              <a:path w="1" h="52">
                <a:moveTo>
                  <a:pt x="0" y="0"/>
                </a:moveTo>
                <a:lnTo>
                  <a:pt x="0" y="52"/>
                </a:lnTo>
              </a:path>
            </a:pathLst>
          </a:custGeom>
          <a:noFill/>
          <a:ln cap="rnd" w="12700">
            <a:solidFill>
              <a:srgbClr val="191B1F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t2-label"/>
          <p:cNvSpPr/>
          <p:nvPr/>
        </p:nvSpPr>
        <p:spPr>
          <a:xfrm>
            <a:off x="3645000" y="4114800"/>
            <a:ext cx="247608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2000"/>
              </a:lnSpc>
            </a:pPr>
            <a:r>
              <a:rPr lang="en-US" sz="1100" b="1" u="none" strike="noStrike">
                <a:solidFill>
                  <a:srgbClr val="C24452"/>
                </a:solidFill>
                <a:effectLst/>
                <a:uFillTx/>
                <a:latin typeface="Arial"/>
                <a:ea typeface="Microsoft YaHei"/>
              </a:rPr>
              <a:t>BLOCK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t2-desc"/>
          <p:cNvSpPr/>
          <p:nvPr/>
        </p:nvSpPr>
        <p:spPr>
          <a:xfrm>
            <a:off x="3645000" y="4394160"/>
            <a:ext cx="247608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数据、规格或风险硬门未通过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vline2"/>
          <p:cNvSpPr/>
          <p:nvPr/>
        </p:nvSpPr>
        <p:spPr>
          <a:xfrm>
            <a:off x="6286680" y="4165560"/>
            <a:ext cx="12240" cy="659880"/>
          </a:xfrm>
          <a:custGeom>
            <a:avLst/>
            <a:gdLst>
              <a:gd name="textAreaLeft" fmla="*/ 0 w 12240"/>
              <a:gd name="textAreaRight" fmla="*/ 12600 w 12240"/>
              <a:gd name="textAreaTop" fmla="*/ 0 h 659880"/>
              <a:gd name="textAreaBottom" fmla="*/ 660240 h 659880"/>
            </a:gdLst>
            <a:ahLst/>
            <a:cxnLst/>
            <a:rect l="textAreaLeft" t="textAreaTop" r="textAreaRight" b="textAreaBottom"/>
            <a:pathLst>
              <a:path w="1" h="52">
                <a:moveTo>
                  <a:pt x="0" y="0"/>
                </a:moveTo>
                <a:lnTo>
                  <a:pt x="0" y="52"/>
                </a:lnTo>
              </a:path>
            </a:pathLst>
          </a:custGeom>
          <a:noFill/>
          <a:ln cap="rnd" w="12700">
            <a:solidFill>
              <a:srgbClr val="191B1F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t3-label"/>
          <p:cNvSpPr/>
          <p:nvPr/>
        </p:nvSpPr>
        <p:spPr>
          <a:xfrm>
            <a:off x="6477120" y="4114800"/>
            <a:ext cx="247608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2000"/>
              </a:lnSpc>
            </a:pPr>
            <a:r>
              <a:rPr lang="en-US" sz="1100" b="1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DRAFT_ONLY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t3-desc"/>
          <p:cNvSpPr/>
          <p:nvPr/>
        </p:nvSpPr>
        <p:spPr>
          <a:xfrm>
            <a:off x="6477120" y="4394160"/>
            <a:ext cx="247608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可研究并生成草稿，不能提交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vline3"/>
          <p:cNvSpPr/>
          <p:nvPr/>
        </p:nvSpPr>
        <p:spPr>
          <a:xfrm>
            <a:off x="9118440" y="4165560"/>
            <a:ext cx="12240" cy="659880"/>
          </a:xfrm>
          <a:custGeom>
            <a:avLst/>
            <a:gdLst>
              <a:gd name="textAreaLeft" fmla="*/ 0 w 12240"/>
              <a:gd name="textAreaRight" fmla="*/ 12600 w 12240"/>
              <a:gd name="textAreaTop" fmla="*/ 0 h 659880"/>
              <a:gd name="textAreaBottom" fmla="*/ 660240 h 659880"/>
            </a:gdLst>
            <a:ahLst/>
            <a:cxnLst/>
            <a:rect l="textAreaLeft" t="textAreaTop" r="textAreaRight" b="textAreaBottom"/>
            <a:pathLst>
              <a:path w="1" h="52">
                <a:moveTo>
                  <a:pt x="0" y="0"/>
                </a:moveTo>
                <a:lnTo>
                  <a:pt x="0" y="52"/>
                </a:lnTo>
              </a:path>
            </a:pathLst>
          </a:custGeom>
          <a:noFill/>
          <a:ln cap="rnd" w="12700">
            <a:solidFill>
              <a:srgbClr val="191B1F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t4-label"/>
          <p:cNvSpPr/>
          <p:nvPr/>
        </p:nvSpPr>
        <p:spPr>
          <a:xfrm>
            <a:off x="9309240" y="4114800"/>
            <a:ext cx="206964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2000"/>
              </a:lnSpc>
            </a:pPr>
            <a:r>
              <a:rPr lang="en-US" sz="1100" b="1" u="none" strike="noStrike">
                <a:solidFill>
                  <a:srgbClr val="0E7C54"/>
                </a:solidFill>
                <a:effectLst/>
                <a:uFillTx/>
                <a:latin typeface="Arial"/>
                <a:ea typeface="Microsoft YaHei"/>
              </a:rPr>
              <a:t>READY_FOR_CONFIRMATION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t4-desc"/>
          <p:cNvSpPr/>
          <p:nvPr/>
        </p:nvSpPr>
        <p:spPr>
          <a:xfrm>
            <a:off x="9309240" y="4394160"/>
            <a:ext cx="206964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客观门通过，待用户确认模拟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quote-rail"/>
          <p:cNvSpPr/>
          <p:nvPr/>
        </p:nvSpPr>
        <p:spPr>
          <a:xfrm>
            <a:off x="812880" y="5511960"/>
            <a:ext cx="37800" cy="583920"/>
          </a:xfrm>
          <a:prstGeom prst="rect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quote-text"/>
          <p:cNvSpPr/>
          <p:nvPr/>
        </p:nvSpPr>
        <p:spPr>
          <a:xfrm>
            <a:off x="1015920" y="5715000"/>
            <a:ext cx="1015956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Georgia"/>
                <a:ea typeface="SimSun"/>
              </a:rPr>
              <a:t>“</a:t>
            </a:r>
            <a:r>
              <a:rPr lang="zh-CN" sz="1350" b="1" u="none" strike="noStrike">
                <a:solidFill>
                  <a:srgbClr val="191B1F"/>
                </a:solidFill>
                <a:effectLst/>
                <a:uFillTx/>
                <a:latin typeface="Georgia"/>
                <a:ea typeface="SimSun"/>
              </a:rPr>
              <a:t>敢拒绝，才值得被信任。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akeaway-rule"/>
          <p:cNvSpPr/>
          <p:nvPr/>
        </p:nvSpPr>
        <p:spPr>
          <a:xfrm>
            <a:off x="812880" y="6222960"/>
            <a:ext cx="10566000" cy="12240"/>
          </a:xfrm>
          <a:custGeom>
            <a:avLst/>
            <a:gdLst>
              <a:gd name="textAreaLeft" fmla="*/ 0 w 10566000"/>
              <a:gd name="textAreaRight" fmla="*/ 10566360 w 1056600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32" h="1">
                <a:moveTo>
                  <a:pt x="0" y="0"/>
                </a:moveTo>
                <a:lnTo>
                  <a:pt x="832" y="0"/>
                </a:lnTo>
              </a:path>
            </a:pathLst>
          </a:custGeom>
          <a:noFill/>
          <a:ln cap="rnd" w="12700">
            <a:solidFill>
              <a:srgbClr val="191B1F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akeaway-text"/>
          <p:cNvSpPr/>
          <p:nvPr/>
        </p:nvSpPr>
        <p:spPr>
          <a:xfrm>
            <a:off x="812880" y="6261120"/>
            <a:ext cx="105660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2000"/>
              </a:lnSpc>
            </a:pPr>
            <a:r>
              <a:rPr lang="zh-CN" sz="10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输出不追求下单：</a:t>
            </a:r>
            <a:r>
              <a:rPr lang="en-US" sz="10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NO_TRADE</a:t>
            </a:r>
            <a:r>
              <a:rPr lang="zh-CN" sz="10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、</a:t>
            </a:r>
            <a:r>
              <a:rPr lang="en-US" sz="10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BLOCK </a:t>
            </a:r>
            <a:r>
              <a:rPr lang="zh-CN" sz="10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与 </a:t>
            </a:r>
            <a:r>
              <a:rPr lang="en-US" sz="10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DRAFT_ONLY </a:t>
            </a:r>
            <a:r>
              <a:rPr lang="zh-CN" sz="10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都是合法结论；每次运行产出结论、依据、成本、数据模式与唯一可用下一步。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footer-rule"/>
          <p:cNvSpPr/>
          <p:nvPr/>
        </p:nvSpPr>
        <p:spPr>
          <a:xfrm>
            <a:off x="812880" y="6654960"/>
            <a:ext cx="10566000" cy="12240"/>
          </a:xfrm>
          <a:custGeom>
            <a:avLst/>
            <a:gdLst>
              <a:gd name="textAreaLeft" fmla="*/ 0 w 10566000"/>
              <a:gd name="textAreaRight" fmla="*/ 10566360 w 1056600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32" h="1">
                <a:moveTo>
                  <a:pt x="0" y="0"/>
                </a:moveTo>
                <a:lnTo>
                  <a:pt x="832" y="0"/>
                </a:lnTo>
              </a:path>
            </a:pathLst>
          </a:custGeom>
          <a:noFill/>
          <a:ln cap="rnd" w="12700">
            <a:solidFill>
              <a:srgbClr val="191B1F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footer-left"/>
          <p:cNvSpPr/>
          <p:nvPr/>
        </p:nvSpPr>
        <p:spPr>
          <a:xfrm>
            <a:off x="812880" y="6616800"/>
            <a:ext cx="825480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来源：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docs/PRD.md §3 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核心用户旅程 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· 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赛道要求：任务闭环七环节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footer-right"/>
          <p:cNvSpPr/>
          <p:nvPr/>
        </p:nvSpPr>
        <p:spPr>
          <a:xfrm>
            <a:off x="8940960" y="6616800"/>
            <a:ext cx="243792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18000"/>
              </a:lnSpc>
            </a:pP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04 / 16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  <p:timing>
    <p:tnLst>
      <p:par>
        <p:cTn id="267" dur="indefinite" restart="never" nodeType="tmRoot">
          <p:childTnLst>
            <p:seq>
              <p:cTn id="268" dur="indefinite" nodeType="mainSeq">
                <p:childTnLst>
                  <p:par>
                    <p:cTn id="269" fill="hold">
                      <p:stCondLst>
                        <p:cond delay="0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73" dur="4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4" presetID="22" presetClass="entr" fill="hold" nodeType="with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276" dur="25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7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79" dur="3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0" fill="hold">
                            <p:stCondLst>
                              <p:cond delay="400"/>
                            </p:stCondLst>
                            <p:childTnLst>
                              <p:par>
                                <p:cTn id="281" presetID="34" presetClass="entr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83" dur="45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4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86" dur="3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7" fill="hold">
                            <p:stCondLst>
                              <p:cond delay="930"/>
                            </p:stCondLst>
                            <p:childTnLst>
                              <p:par>
                                <p:cTn id="288" presetID="22" presetClass="entr" fill="hold" nodeType="after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290" dur="35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1" fill="hold">
                            <p:stCondLst>
                              <p:cond delay="1280"/>
                            </p:stCondLst>
                            <p:childTnLst>
                              <p:par>
                                <p:cTn id="292" presetID="10" presetClass="entr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94" dur="3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5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97" dur="3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8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00" dur="25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1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03" dur="2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4" fill="hold">
                            <p:stCondLst>
                              <p:cond delay="1640"/>
                            </p:stCondLst>
                            <p:childTnLst>
                              <p:par>
                                <p:cTn id="305" presetID="10" presetClass="entr" fill="hold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07" dur="2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8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10" dur="3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1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13" dur="25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4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16" dur="2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7" fill="hold">
                            <p:stCondLst>
                              <p:cond delay="1940"/>
                            </p:stCondLst>
                            <p:childTnLst>
                              <p:par>
                                <p:cTn id="318" presetID="10" presetClass="entr" fill="hold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20" dur="2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1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23" dur="3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4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26" dur="25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7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29" dur="2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0" fill="hold">
                            <p:stCondLst>
                              <p:cond delay="2240"/>
                            </p:stCondLst>
                            <p:childTnLst>
                              <p:par>
                                <p:cTn id="331" presetID="10" presetClass="entr" fill="hold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33" dur="2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4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36" dur="3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7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39" dur="25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0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42" dur="2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3" fill="hold">
                            <p:stCondLst>
                              <p:cond delay="2540"/>
                            </p:stCondLst>
                            <p:childTnLst>
                              <p:par>
                                <p:cTn id="344" presetID="10" presetClass="entr" fill="hold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46" dur="25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7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49" dur="3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0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52" dur="25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3" fill="hold">
                            <p:stCondLst>
                              <p:cond delay="2840"/>
                            </p:stCondLst>
                            <p:childTnLst>
                              <p:par>
                                <p:cTn id="354" presetID="22" presetClass="entr" fill="hold" nodeType="after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356" dur="3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7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59" dur="25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0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62" dur="3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3" fill="hold">
                            <p:stCondLst>
                              <p:cond delay="3140"/>
                            </p:stCondLst>
                            <p:childTnLst>
                              <p:par>
                                <p:cTn id="364" presetID="10" presetClass="entr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66" dur="25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7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69" dur="25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0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72" dur="25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3" fill="hold">
                            <p:stCondLst>
                              <p:cond delay="3450"/>
                            </p:stCondLst>
                            <p:childTnLst>
                              <p:par>
                                <p:cTn id="374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76" dur="2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7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79" dur="25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0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82" dur="25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3" fill="hold">
                            <p:stCondLst>
                              <p:cond delay="3700"/>
                            </p:stCondLst>
                            <p:childTnLst>
                              <p:par>
                                <p:cTn id="384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86" dur="2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7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89" dur="25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0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92" dur="25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3" fill="hold">
                            <p:stCondLst>
                              <p:cond delay="3950"/>
                            </p:stCondLst>
                            <p:childTnLst>
                              <p:par>
                                <p:cTn id="394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96" dur="2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7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99" dur="25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0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02" dur="25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3" fill="hold">
                            <p:stCondLst>
                              <p:cond delay="4200"/>
                            </p:stCondLst>
                            <p:childTnLst>
                              <p:par>
                                <p:cTn id="404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06" dur="3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7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09" dur="35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0" fill="hold">
                            <p:stCondLst>
                              <p:cond delay="4550"/>
                            </p:stCondLst>
                            <p:childTnLst>
                              <p:par>
                                <p:cTn id="411" presetID="22" presetClass="entr" fill="hold" nodeType="after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413" dur="3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4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16" dur="3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7" fill="hold">
                            <p:stCondLst>
                              <p:cond delay="4850"/>
                            </p:stCondLst>
                            <p:childTnLst>
                              <p:par>
                                <p:cTn id="418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20" dur="2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1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23" dur="25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4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26" dur="25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corner"/>
          <p:cNvSpPr/>
          <p:nvPr/>
        </p:nvSpPr>
        <p:spPr>
          <a:xfrm>
            <a:off x="10058400" y="152280"/>
            <a:ext cx="1320480" cy="73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20000"/>
              </a:lnSpc>
            </a:pPr>
            <a:r>
              <a:rPr lang="en-US" sz="4800" b="0" i="1" u="none" strike="noStrike">
                <a:solidFill>
                  <a:srgbClr val="D9D3C6"/>
                </a:solidFill>
                <a:effectLst/>
                <a:uFillTx/>
                <a:latin typeface="Georgia"/>
                <a:ea typeface="Georgia"/>
              </a:rPr>
              <a:t>05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ick"/>
          <p:cNvSpPr/>
          <p:nvPr/>
        </p:nvSpPr>
        <p:spPr>
          <a:xfrm>
            <a:off x="812880" y="558720"/>
            <a:ext cx="279000" cy="25200"/>
          </a:xfrm>
          <a:prstGeom prst="rect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9440" rIns="90000" bIns="-19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kicker"/>
          <p:cNvSpPr/>
          <p:nvPr/>
        </p:nvSpPr>
        <p:spPr>
          <a:xfrm>
            <a:off x="1219320" y="457200"/>
            <a:ext cx="761976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1050" b="1" u="none" spc="201" strike="noStrike">
                <a:solidFill>
                  <a:srgbClr val="0E7490"/>
                </a:solidFill>
                <a:effectLst/>
                <a:uFillTx/>
                <a:latin typeface="Arial"/>
                <a:ea typeface="Microsoft YaHei"/>
              </a:rPr>
              <a:t>PRODUCT · 04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itle"/>
          <p:cNvSpPr/>
          <p:nvPr/>
        </p:nvSpPr>
        <p:spPr>
          <a:xfrm>
            <a:off x="812880" y="711360"/>
            <a:ext cx="1056600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2000"/>
              </a:lnSpc>
            </a:pPr>
            <a:r>
              <a:rPr lang="zh-CN" sz="2600" b="1" u="none" strike="noStrike">
                <a:solidFill>
                  <a:srgbClr val="191B1F"/>
                </a:solidFill>
                <a:effectLst/>
                <a:uFillTx/>
                <a:latin typeface="Georgia"/>
                <a:ea typeface="SimSun"/>
              </a:rPr>
              <a:t>四面板终端：对话、流动性、账户、证据同屏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standfirst"/>
          <p:cNvSpPr/>
          <p:nvPr/>
        </p:nvSpPr>
        <p:spPr>
          <a:xfrm>
            <a:off x="812880" y="1270080"/>
            <a:ext cx="10566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11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参考 </a:t>
            </a:r>
            <a:r>
              <a:rPr lang="en-US" sz="11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UI </a:t>
            </a:r>
            <a:r>
              <a:rPr lang="zh-CN" sz="11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矢量重绘 </a:t>
            </a:r>
            <a:r>
              <a:rPr lang="en-US" sz="11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· </a:t>
            </a:r>
            <a:r>
              <a:rPr lang="zh-CN" sz="11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数字来自 </a:t>
            </a:r>
            <a:r>
              <a:rPr lang="en-US" sz="11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2026-08-08 </a:t>
            </a:r>
            <a:r>
              <a:rPr lang="zh-CN" sz="11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冻结快照（仅 </a:t>
            </a:r>
            <a:r>
              <a:rPr lang="en-US" sz="11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ATM 480 </a:t>
            </a:r>
            <a:r>
              <a:rPr lang="zh-CN" sz="11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合约）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header-rule"/>
          <p:cNvSpPr/>
          <p:nvPr/>
        </p:nvSpPr>
        <p:spPr>
          <a:xfrm>
            <a:off x="812880" y="1574640"/>
            <a:ext cx="10566000" cy="12240"/>
          </a:xfrm>
          <a:custGeom>
            <a:avLst/>
            <a:gdLst>
              <a:gd name="textAreaLeft" fmla="*/ 0 w 10566000"/>
              <a:gd name="textAreaRight" fmla="*/ 10566360 w 1056600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32" h="1">
                <a:moveTo>
                  <a:pt x="0" y="0"/>
                </a:moveTo>
                <a:lnTo>
                  <a:pt x="832" y="0"/>
                </a:lnTo>
              </a:path>
            </a:pathLst>
          </a:custGeom>
          <a:noFill/>
          <a:ln cap="rnd" w="12700">
            <a:solidFill>
              <a:srgbClr val="191B1F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window"/>
          <p:cNvSpPr/>
          <p:nvPr/>
        </p:nvSpPr>
        <p:spPr>
          <a:xfrm>
            <a:off x="812880" y="1727280"/>
            <a:ext cx="7111800" cy="3352320"/>
          </a:xfrm>
          <a:prstGeom prst="rect">
            <a:avLst/>
          </a:prstGeom>
          <a:solidFill>
            <a:srgbClr val="F0EADF"/>
          </a:solidFill>
          <a:ln w="12700">
            <a:solidFill>
              <a:srgbClr val="191B1F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win-bar"/>
          <p:cNvSpPr/>
          <p:nvPr/>
        </p:nvSpPr>
        <p:spPr>
          <a:xfrm>
            <a:off x="812880" y="1727280"/>
            <a:ext cx="7111800" cy="329760"/>
          </a:xfrm>
          <a:prstGeom prst="rect">
            <a:avLst/>
          </a:prstGeom>
          <a:solidFill>
            <a:srgbClr val="191B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win-dot1"/>
          <p:cNvSpPr/>
          <p:nvPr/>
        </p:nvSpPr>
        <p:spPr>
          <a:xfrm>
            <a:off x="965160" y="1841400"/>
            <a:ext cx="88560" cy="88560"/>
          </a:xfrm>
          <a:prstGeom prst="ellipse">
            <a:avLst/>
          </a:prstGeom>
          <a:solidFill>
            <a:srgbClr val="C244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17640" rIns="90000" bIns="17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win-dot2"/>
          <p:cNvSpPr/>
          <p:nvPr/>
        </p:nvSpPr>
        <p:spPr>
          <a:xfrm>
            <a:off x="1130400" y="1841400"/>
            <a:ext cx="88560" cy="88560"/>
          </a:xfrm>
          <a:prstGeom prst="ellipse">
            <a:avLst/>
          </a:prstGeom>
          <a:solidFill>
            <a:srgbClr val="A1620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17640" rIns="90000" bIns="17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win-dot3"/>
          <p:cNvSpPr/>
          <p:nvPr/>
        </p:nvSpPr>
        <p:spPr>
          <a:xfrm>
            <a:off x="1295280" y="1841400"/>
            <a:ext cx="88560" cy="88560"/>
          </a:xfrm>
          <a:prstGeom prst="ellipse">
            <a:avLst/>
          </a:prstGeom>
          <a:solidFill>
            <a:srgbClr val="0E7C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17640" rIns="90000" bIns="17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win-title"/>
          <p:cNvSpPr/>
          <p:nvPr/>
        </p:nvSpPr>
        <p:spPr>
          <a:xfrm>
            <a:off x="1498680" y="1803240"/>
            <a:ext cx="622260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en-US" sz="950" b="0" u="none" strike="noStrike">
                <a:solidFill>
                  <a:srgbClr val="F7F4ED"/>
                </a:solidFill>
                <a:effectLst/>
                <a:uFillTx/>
                <a:latin typeface="Arial"/>
                <a:ea typeface="Microsoft YaHei"/>
              </a:rPr>
              <a:t>GOAI · </a:t>
            </a:r>
            <a:r>
              <a:rPr lang="zh-CN" sz="950" b="0" u="none" strike="noStrike">
                <a:solidFill>
                  <a:srgbClr val="F7F4ED"/>
                </a:solidFill>
                <a:effectLst/>
                <a:uFillTx/>
                <a:latin typeface="Arial"/>
                <a:ea typeface="Microsoft YaHei"/>
              </a:rPr>
              <a:t>腾讯业绩跨式 </a:t>
            </a:r>
            <a:r>
              <a:rPr lang="en-US" sz="950" b="0" u="none" strike="noStrike">
                <a:solidFill>
                  <a:srgbClr val="F7F4ED"/>
                </a:solidFill>
                <a:effectLst/>
                <a:uFillTx/>
                <a:latin typeface="Arial"/>
                <a:ea typeface="Microsoft YaHei"/>
              </a:rPr>
              <a:t>· REPLAY / FROZEN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win-vrule"/>
          <p:cNvSpPr/>
          <p:nvPr/>
        </p:nvSpPr>
        <p:spPr>
          <a:xfrm>
            <a:off x="4368960" y="2057400"/>
            <a:ext cx="12240" cy="3022200"/>
          </a:xfrm>
          <a:custGeom>
            <a:avLst/>
            <a:gdLst>
              <a:gd name="textAreaLeft" fmla="*/ 0 w 12240"/>
              <a:gd name="textAreaRight" fmla="*/ 12600 w 12240"/>
              <a:gd name="textAreaTop" fmla="*/ 0 h 3022200"/>
              <a:gd name="textAreaBottom" fmla="*/ 3022560 h 3022200"/>
            </a:gdLst>
            <a:ahLst/>
            <a:cxnLst/>
            <a:rect l="textAreaLeft" t="textAreaTop" r="textAreaRight" b="textAreaBottom"/>
            <a:pathLst>
              <a:path w="1" h="238">
                <a:moveTo>
                  <a:pt x="0" y="0"/>
                </a:moveTo>
                <a:lnTo>
                  <a:pt x="0" y="238"/>
                </a:lnTo>
              </a:path>
            </a:pathLst>
          </a:custGeom>
          <a:noFill/>
          <a:ln cap="rnd" w="12700">
            <a:solidFill>
              <a:srgbClr val="191B1F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win-hrule"/>
          <p:cNvSpPr/>
          <p:nvPr/>
        </p:nvSpPr>
        <p:spPr>
          <a:xfrm>
            <a:off x="812880" y="3568680"/>
            <a:ext cx="7111800" cy="12240"/>
          </a:xfrm>
          <a:custGeom>
            <a:avLst/>
            <a:gdLst>
              <a:gd name="textAreaLeft" fmla="*/ 0 w 7111800"/>
              <a:gd name="textAreaRight" fmla="*/ 7112160 w 711180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560" h="1">
                <a:moveTo>
                  <a:pt x="0" y="0"/>
                </a:moveTo>
                <a:lnTo>
                  <a:pt x="560" y="0"/>
                </a:lnTo>
              </a:path>
            </a:pathLst>
          </a:custGeom>
          <a:noFill/>
          <a:ln cap="rnd" w="12700">
            <a:solidFill>
              <a:srgbClr val="191B1F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l-head"/>
          <p:cNvSpPr/>
          <p:nvPr/>
        </p:nvSpPr>
        <p:spPr>
          <a:xfrm>
            <a:off x="965160" y="2158920"/>
            <a:ext cx="228564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zh-CN" sz="950" b="1" u="none" strike="noStrike">
                <a:solidFill>
                  <a:srgbClr val="0E7490"/>
                </a:solidFill>
                <a:effectLst/>
                <a:uFillTx/>
                <a:latin typeface="Arial"/>
                <a:ea typeface="Microsoft YaHei"/>
              </a:rPr>
              <a:t>对话与任务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l-bubble"/>
          <p:cNvSpPr/>
          <p:nvPr/>
        </p:nvSpPr>
        <p:spPr>
          <a:xfrm>
            <a:off x="965160" y="2413080"/>
            <a:ext cx="3098520" cy="431280"/>
          </a:xfrm>
          <a:prstGeom prst="rect">
            <a:avLst/>
          </a:prstGeom>
          <a:solidFill>
            <a:srgbClr val="E3F2F6"/>
          </a:solidFill>
          <a:ln w="12700">
            <a:solidFill>
              <a:srgbClr val="191B1F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l-bubble-text"/>
          <p:cNvSpPr/>
          <p:nvPr/>
        </p:nvSpPr>
        <p:spPr>
          <a:xfrm>
            <a:off x="1092240" y="2489040"/>
            <a:ext cx="284436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zh-CN" sz="950" b="0" u="none" strike="noStrike">
                <a:solidFill>
                  <a:srgbClr val="191B1F"/>
                </a:solidFill>
                <a:effectLst/>
                <a:uFillTx/>
                <a:latin typeface="Arial"/>
                <a:ea typeface="Microsoft YaHei"/>
              </a:rPr>
              <a:t>腾讯业绩快到了，方向不确定。帮我看看跨式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l-chips"/>
          <p:cNvSpPr/>
          <p:nvPr/>
        </p:nvSpPr>
        <p:spPr>
          <a:xfrm>
            <a:off x="965160" y="2946240"/>
            <a:ext cx="309852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zh-CN" sz="950" b="0" u="none" strike="noStrike">
                <a:solidFill>
                  <a:srgbClr val="0E7490"/>
                </a:solidFill>
                <a:effectLst/>
                <a:uFillTx/>
                <a:latin typeface="Arial"/>
                <a:ea typeface="Microsoft YaHei"/>
              </a:rPr>
              <a:t>标的 </a:t>
            </a:r>
            <a:r>
              <a:rPr lang="en-US" sz="950" b="0" u="none" strike="noStrike">
                <a:solidFill>
                  <a:srgbClr val="0E7490"/>
                </a:solidFill>
                <a:effectLst/>
                <a:uFillTx/>
                <a:latin typeface="Arial"/>
                <a:ea typeface="Microsoft YaHei"/>
              </a:rPr>
              <a:t>00700 · </a:t>
            </a:r>
            <a:r>
              <a:rPr lang="zh-CN" sz="950" b="0" u="none" strike="noStrike">
                <a:solidFill>
                  <a:srgbClr val="0E7490"/>
                </a:solidFill>
                <a:effectLst/>
                <a:uFillTx/>
                <a:latin typeface="Arial"/>
                <a:ea typeface="Microsoft YaHei"/>
              </a:rPr>
              <a:t>到期 </a:t>
            </a:r>
            <a:r>
              <a:rPr lang="en-US" sz="950" b="0" u="none" strike="noStrike">
                <a:solidFill>
                  <a:srgbClr val="0E7490"/>
                </a:solidFill>
                <a:effectLst/>
                <a:uFillTx/>
                <a:latin typeface="Arial"/>
                <a:ea typeface="Microsoft YaHei"/>
              </a:rPr>
              <a:t>8.14 · </a:t>
            </a:r>
            <a:r>
              <a:rPr lang="zh-CN" sz="950" b="0" u="none" strike="noStrike">
                <a:solidFill>
                  <a:srgbClr val="0E7490"/>
                </a:solidFill>
                <a:effectLst/>
                <a:uFillTx/>
                <a:latin typeface="Arial"/>
                <a:ea typeface="Microsoft YaHei"/>
              </a:rPr>
              <a:t>预算 </a:t>
            </a:r>
            <a:r>
              <a:rPr lang="en-US" sz="950" b="0" u="none" strike="noStrike">
                <a:solidFill>
                  <a:srgbClr val="0E7490"/>
                </a:solidFill>
                <a:effectLst/>
                <a:uFillTx/>
                <a:latin typeface="Arial"/>
                <a:ea typeface="Microsoft YaHei"/>
              </a:rPr>
              <a:t>5%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8000"/>
              </a:lnSpc>
            </a:pPr>
            <a:r>
              <a:rPr lang="zh-CN" sz="950" b="0" u="none" strike="noStrike">
                <a:solidFill>
                  <a:srgbClr val="0E7490"/>
                </a:solidFill>
                <a:effectLst/>
                <a:uFillTx/>
                <a:latin typeface="Arial"/>
                <a:ea typeface="Microsoft YaHei"/>
              </a:rPr>
              <a:t>现金 </a:t>
            </a:r>
            <a:r>
              <a:rPr lang="en-US" sz="950" b="0" u="none" strike="noStrike">
                <a:solidFill>
                  <a:srgbClr val="0E7490"/>
                </a:solidFill>
                <a:effectLst/>
                <a:uFillTx/>
                <a:latin typeface="Arial"/>
                <a:ea typeface="Microsoft YaHei"/>
              </a:rPr>
              <a:t>100,000 HKD · </a:t>
            </a:r>
            <a:r>
              <a:rPr lang="zh-CN" sz="950" b="0" u="none" strike="noStrike">
                <a:solidFill>
                  <a:srgbClr val="0E7490"/>
                </a:solidFill>
                <a:effectLst/>
                <a:uFillTx/>
                <a:latin typeface="Arial"/>
                <a:ea typeface="Microsoft YaHei"/>
              </a:rPr>
              <a:t>观点 不确定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r-head"/>
          <p:cNvSpPr/>
          <p:nvPr/>
        </p:nvSpPr>
        <p:spPr>
          <a:xfrm>
            <a:off x="4521240" y="2158920"/>
            <a:ext cx="228564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zh-CN" sz="950" b="1" u="none" strike="noStrike">
                <a:solidFill>
                  <a:srgbClr val="0E7490"/>
                </a:solidFill>
                <a:effectLst/>
                <a:uFillTx/>
                <a:latin typeface="Arial"/>
                <a:ea typeface="Microsoft YaHei"/>
              </a:rPr>
              <a:t>期权链与流动性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r-rows"/>
          <p:cNvSpPr/>
          <p:nvPr/>
        </p:nvSpPr>
        <p:spPr>
          <a:xfrm>
            <a:off x="4521240" y="2413080"/>
            <a:ext cx="3250800" cy="65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en-US" sz="950" b="0" u="none" strike="noStrike">
                <a:solidFill>
                  <a:srgbClr val="191B1F"/>
                </a:solidFill>
                <a:effectLst/>
                <a:uFillTx/>
                <a:latin typeface="Arial"/>
                <a:ea typeface="Microsoft YaHei"/>
              </a:rPr>
              <a:t>480C bid 9.79 / ask 10.75 · IV 43.0% · OI 854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8000"/>
              </a:lnSpc>
            </a:pPr>
            <a:r>
              <a:rPr lang="en-US" sz="950" b="0" u="none" strike="noStrike">
                <a:solidFill>
                  <a:srgbClr val="191B1F"/>
                </a:solidFill>
                <a:effectLst/>
                <a:uFillTx/>
                <a:latin typeface="Arial"/>
                <a:ea typeface="Microsoft YaHei"/>
              </a:rPr>
              <a:t>480P bid 10.33 / ask 11.32 · IV 41.6% · OI 1,744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8000"/>
              </a:lnSpc>
            </a:pPr>
            <a:r>
              <a:rPr lang="zh-CN" sz="95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价差 </a:t>
            </a:r>
            <a:r>
              <a:rPr lang="en-US" sz="95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9.3% / 9.1% · </a:t>
            </a:r>
            <a:r>
              <a:rPr lang="zh-CN" sz="95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报价 </a:t>
            </a:r>
            <a:r>
              <a:rPr lang="en-US" sz="95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11:56 </a:t>
            </a:r>
            <a:r>
              <a:rPr lang="zh-CN" sz="95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冻结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r-tag"/>
          <p:cNvSpPr/>
          <p:nvPr/>
        </p:nvSpPr>
        <p:spPr>
          <a:xfrm>
            <a:off x="4521240" y="3174840"/>
            <a:ext cx="325080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zh-CN" sz="950" b="1" u="none" strike="noStrike">
                <a:solidFill>
                  <a:srgbClr val="A16207"/>
                </a:solidFill>
                <a:effectLst/>
                <a:uFillTx/>
                <a:latin typeface="Arial"/>
                <a:ea typeface="Microsoft YaHei"/>
              </a:rPr>
              <a:t>主到期流动性弱于次到期（</a:t>
            </a:r>
            <a:r>
              <a:rPr lang="en-US" sz="950" b="1" u="none" strike="noStrike">
                <a:solidFill>
                  <a:srgbClr val="A16207"/>
                </a:solidFill>
                <a:effectLst/>
                <a:uFillTx/>
                <a:latin typeface="Arial"/>
                <a:ea typeface="Microsoft YaHei"/>
              </a:rPr>
              <a:t>8.28</a:t>
            </a:r>
            <a:r>
              <a:rPr lang="zh-CN" sz="950" b="1" u="none" strike="noStrike">
                <a:solidFill>
                  <a:srgbClr val="A16207"/>
                </a:solidFill>
                <a:effectLst/>
                <a:uFillTx/>
                <a:latin typeface="Arial"/>
                <a:ea typeface="Microsoft YaHei"/>
              </a:rPr>
              <a:t>）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bl-head"/>
          <p:cNvSpPr/>
          <p:nvPr/>
        </p:nvSpPr>
        <p:spPr>
          <a:xfrm>
            <a:off x="965160" y="3670200"/>
            <a:ext cx="228564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zh-CN" sz="950" b="1" u="none" strike="noStrike">
                <a:solidFill>
                  <a:srgbClr val="0E7490"/>
                </a:solidFill>
                <a:effectLst/>
                <a:uFillTx/>
                <a:latin typeface="Arial"/>
                <a:ea typeface="Microsoft YaHei"/>
              </a:rPr>
              <a:t>策略与账户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bl-num1"/>
          <p:cNvSpPr/>
          <p:nvPr/>
        </p:nvSpPr>
        <p:spPr>
          <a:xfrm>
            <a:off x="965160" y="3936960"/>
            <a:ext cx="13968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1700" b="1" u="none" strike="noStrike">
                <a:solidFill>
                  <a:srgbClr val="191B1F"/>
                </a:solidFill>
                <a:effectLst/>
                <a:uFillTx/>
                <a:latin typeface="Georgia"/>
                <a:ea typeface="Georgia"/>
              </a:rPr>
              <a:t>4,414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bl-num1-label"/>
          <p:cNvSpPr/>
          <p:nvPr/>
        </p:nvSpPr>
        <p:spPr>
          <a:xfrm>
            <a:off x="965160" y="4267080"/>
            <a:ext cx="165060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成本 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HKD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（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ask 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口径）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bl-num2"/>
          <p:cNvSpPr/>
          <p:nvPr/>
        </p:nvSpPr>
        <p:spPr>
          <a:xfrm>
            <a:off x="2870280" y="3936960"/>
            <a:ext cx="13968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1700" b="1" u="none" strike="noStrike">
                <a:solidFill>
                  <a:srgbClr val="191B1F"/>
                </a:solidFill>
                <a:effectLst/>
                <a:uFillTx/>
                <a:latin typeface="Georgia"/>
                <a:ea typeface="Georgia"/>
              </a:rPr>
              <a:t>458.9–501.1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bl-num2-label"/>
          <p:cNvSpPr/>
          <p:nvPr/>
        </p:nvSpPr>
        <p:spPr>
          <a:xfrm>
            <a:off x="2870280" y="4267080"/>
            <a:ext cx="177768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盈亏平衡区间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bl-budget-track"/>
          <p:cNvSpPr/>
          <p:nvPr/>
        </p:nvSpPr>
        <p:spPr>
          <a:xfrm>
            <a:off x="965160" y="4572000"/>
            <a:ext cx="3098520" cy="101160"/>
          </a:xfrm>
          <a:prstGeom prst="rect">
            <a:avLst/>
          </a:prstGeom>
          <a:solidFill>
            <a:srgbClr val="191B1F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bl-budget-fill"/>
          <p:cNvSpPr/>
          <p:nvPr/>
        </p:nvSpPr>
        <p:spPr>
          <a:xfrm>
            <a:off x="965160" y="4572000"/>
            <a:ext cx="2742840" cy="101160"/>
          </a:xfrm>
          <a:prstGeom prst="rect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bl-budget-note"/>
          <p:cNvSpPr/>
          <p:nvPr/>
        </p:nvSpPr>
        <p:spPr>
          <a:xfrm>
            <a:off x="965160" y="4724280"/>
            <a:ext cx="309852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预算 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5,000 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占用 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88% · 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最大亏损 ≤ 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5%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br-head"/>
          <p:cNvSpPr/>
          <p:nvPr/>
        </p:nvSpPr>
        <p:spPr>
          <a:xfrm>
            <a:off x="4521240" y="3670200"/>
            <a:ext cx="228564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zh-CN" sz="950" b="1" u="none" strike="noStrike">
                <a:solidFill>
                  <a:srgbClr val="0E7490"/>
                </a:solidFill>
                <a:effectLst/>
                <a:uFillTx/>
                <a:latin typeface="Arial"/>
                <a:ea typeface="Microsoft YaHei"/>
              </a:rPr>
              <a:t>事件与证据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br-rows"/>
          <p:cNvSpPr/>
          <p:nvPr/>
        </p:nvSpPr>
        <p:spPr>
          <a:xfrm>
            <a:off x="4521240" y="3936960"/>
            <a:ext cx="3250800" cy="65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zh-CN" sz="950" b="0" u="none" strike="noStrike">
                <a:solidFill>
                  <a:srgbClr val="191B1F"/>
                </a:solidFill>
                <a:effectLst/>
                <a:uFillTx/>
                <a:latin typeface="Arial"/>
                <a:ea typeface="Microsoft YaHei"/>
              </a:rPr>
              <a:t>业绩 </a:t>
            </a:r>
            <a:r>
              <a:rPr lang="en-US" sz="950" b="0" u="none" strike="noStrike">
                <a:solidFill>
                  <a:srgbClr val="191B1F"/>
                </a:solidFill>
                <a:effectLst/>
                <a:uFillTx/>
                <a:latin typeface="Arial"/>
                <a:ea typeface="Microsoft YaHei"/>
              </a:rPr>
              <a:t>8.12 · </a:t>
            </a:r>
            <a:r>
              <a:rPr lang="zh-CN" sz="950" b="0" u="none" strike="noStrike">
                <a:solidFill>
                  <a:srgbClr val="191B1F"/>
                </a:solidFill>
                <a:effectLst/>
                <a:uFillTx/>
                <a:latin typeface="Arial"/>
                <a:ea typeface="Microsoft YaHei"/>
              </a:rPr>
              <a:t>预期波动 </a:t>
            </a:r>
            <a:r>
              <a:rPr lang="en-US" sz="950" b="0" u="none" strike="noStrike">
                <a:solidFill>
                  <a:srgbClr val="191B1F"/>
                </a:solidFill>
                <a:effectLst/>
                <a:uFillTx/>
                <a:latin typeface="Arial"/>
                <a:ea typeface="Microsoft YaHei"/>
              </a:rPr>
              <a:t>3.92%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8000"/>
              </a:lnSpc>
            </a:pPr>
            <a:r>
              <a:rPr lang="en-US" sz="950" b="0" u="none" strike="noStrike">
                <a:solidFill>
                  <a:srgbClr val="191B1F"/>
                </a:solidFill>
                <a:effectLst/>
                <a:uFillTx/>
                <a:latin typeface="Arial"/>
                <a:ea typeface="Microsoft YaHei"/>
              </a:rPr>
              <a:t>IV 37.4% · IV Rank 72.9 · Pct 85.3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8000"/>
              </a:lnSpc>
            </a:pPr>
            <a:r>
              <a:rPr lang="en-US" sz="95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IV crush </a:t>
            </a:r>
            <a:r>
              <a:rPr lang="zh-CN" sz="95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风险显著</a:t>
            </a:r>
            <a:r>
              <a:rPr lang="en-US" sz="950" b="0" u="none" strike="noStrike">
                <a:solidFill>
                  <a:srgbClr val="191B1F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lang="en-US" sz="950" b="0" u="none" strike="noStrike">
                <a:solidFill>
                  <a:srgbClr val="191B1F"/>
                </a:solidFill>
                <a:effectLst/>
                <a:uFillTx/>
                <a:latin typeface="Arial"/>
                <a:ea typeface="Microsoft YaHei"/>
              </a:rPr>
              <a:t>· pin/assignment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br-source"/>
          <p:cNvSpPr/>
          <p:nvPr/>
        </p:nvSpPr>
        <p:spPr>
          <a:xfrm>
            <a:off x="4521240" y="4673520"/>
            <a:ext cx="325080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zh-CN" sz="9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来源 </a:t>
            </a:r>
            <a:r>
              <a:rPr lang="en-US" sz="9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futuapi/OpenD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8000"/>
              </a:lnSpc>
            </a:pPr>
            <a:r>
              <a:rPr lang="zh-CN" sz="9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快照 </a:t>
            </a:r>
            <a:r>
              <a:rPr lang="en-US" sz="9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SHA-256 cf567c59…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p1-num"/>
          <p:cNvSpPr/>
          <p:nvPr/>
        </p:nvSpPr>
        <p:spPr>
          <a:xfrm>
            <a:off x="8128080" y="1778040"/>
            <a:ext cx="40608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1500" b="1" u="none" strike="noStrike">
                <a:solidFill>
                  <a:srgbClr val="0E7490"/>
                </a:solidFill>
                <a:effectLst/>
                <a:uFillTx/>
                <a:latin typeface="Georgia"/>
                <a:ea typeface="Georgia"/>
              </a:rPr>
              <a:t>01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p1-label"/>
          <p:cNvSpPr/>
          <p:nvPr/>
        </p:nvSpPr>
        <p:spPr>
          <a:xfrm>
            <a:off x="8610480" y="1752480"/>
            <a:ext cx="2768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2000"/>
              </a:lnSpc>
            </a:pPr>
            <a:r>
              <a:rPr lang="zh-CN" sz="1100" b="1" u="none" strike="noStrike">
                <a:solidFill>
                  <a:srgbClr val="191B1F"/>
                </a:solidFill>
                <a:effectLst/>
                <a:uFillTx/>
                <a:latin typeface="Arial"/>
                <a:ea typeface="Microsoft YaHei"/>
              </a:rPr>
              <a:t>对话与任务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p1-desc"/>
          <p:cNvSpPr/>
          <p:nvPr/>
        </p:nvSpPr>
        <p:spPr>
          <a:xfrm>
            <a:off x="8610480" y="1981080"/>
            <a:ext cx="276840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场景摘要、必要追问、当前阶段与暂停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/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修改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/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停止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p2-num"/>
          <p:cNvSpPr/>
          <p:nvPr/>
        </p:nvSpPr>
        <p:spPr>
          <a:xfrm>
            <a:off x="8128080" y="2489040"/>
            <a:ext cx="40608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1500" b="1" u="none" strike="noStrike">
                <a:solidFill>
                  <a:srgbClr val="0E7490"/>
                </a:solidFill>
                <a:effectLst/>
                <a:uFillTx/>
                <a:latin typeface="Georgia"/>
                <a:ea typeface="Georgia"/>
              </a:rPr>
              <a:t>02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p2-label"/>
          <p:cNvSpPr/>
          <p:nvPr/>
        </p:nvSpPr>
        <p:spPr>
          <a:xfrm>
            <a:off x="8610480" y="2463840"/>
            <a:ext cx="2768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2000"/>
              </a:lnSpc>
            </a:pPr>
            <a:r>
              <a:rPr lang="zh-CN" sz="1100" b="1" u="none" strike="noStrike">
                <a:solidFill>
                  <a:srgbClr val="191B1F"/>
                </a:solidFill>
                <a:effectLst/>
                <a:uFillTx/>
                <a:latin typeface="Arial"/>
                <a:ea typeface="Microsoft YaHei"/>
              </a:rPr>
              <a:t>期权链与流动性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p2-desc"/>
          <p:cNvSpPr/>
          <p:nvPr/>
        </p:nvSpPr>
        <p:spPr>
          <a:xfrm>
            <a:off x="8610480" y="2692440"/>
            <a:ext cx="276840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行权价、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bid/ask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、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IV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、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OI 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与成交量、报价新鲜度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p3-num"/>
          <p:cNvSpPr/>
          <p:nvPr/>
        </p:nvSpPr>
        <p:spPr>
          <a:xfrm>
            <a:off x="8128080" y="3200400"/>
            <a:ext cx="40608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1500" b="1" u="none" strike="noStrike">
                <a:solidFill>
                  <a:srgbClr val="0E7490"/>
                </a:solidFill>
                <a:effectLst/>
                <a:uFillTx/>
                <a:latin typeface="Georgia"/>
                <a:ea typeface="Georgia"/>
              </a:rPr>
              <a:t>03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p3-label"/>
          <p:cNvSpPr/>
          <p:nvPr/>
        </p:nvSpPr>
        <p:spPr>
          <a:xfrm>
            <a:off x="8610480" y="3174840"/>
            <a:ext cx="2768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2000"/>
              </a:lnSpc>
            </a:pPr>
            <a:r>
              <a:rPr lang="zh-CN" sz="1100" b="1" u="none" strike="noStrike">
                <a:solidFill>
                  <a:srgbClr val="191B1F"/>
                </a:solidFill>
                <a:effectLst/>
                <a:uFillTx/>
                <a:latin typeface="Arial"/>
                <a:ea typeface="Microsoft YaHei"/>
              </a:rPr>
              <a:t>策略与账户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p3-desc"/>
          <p:cNvSpPr/>
          <p:nvPr/>
        </p:nvSpPr>
        <p:spPr>
          <a:xfrm>
            <a:off x="8610480" y="3403440"/>
            <a:ext cx="276840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方案、成本、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Greeks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、损益图与风险预算剩余缓冲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p4-num"/>
          <p:cNvSpPr/>
          <p:nvPr/>
        </p:nvSpPr>
        <p:spPr>
          <a:xfrm>
            <a:off x="8128080" y="3911760"/>
            <a:ext cx="40608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1500" b="1" u="none" strike="noStrike">
                <a:solidFill>
                  <a:srgbClr val="0E7490"/>
                </a:solidFill>
                <a:effectLst/>
                <a:uFillTx/>
                <a:latin typeface="Georgia"/>
                <a:ea typeface="Georgia"/>
              </a:rPr>
              <a:t>04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p4-label"/>
          <p:cNvSpPr/>
          <p:nvPr/>
        </p:nvSpPr>
        <p:spPr>
          <a:xfrm>
            <a:off x="8610480" y="3886200"/>
            <a:ext cx="2768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2000"/>
              </a:lnSpc>
            </a:pPr>
            <a:r>
              <a:rPr lang="zh-CN" sz="1100" b="1" u="none" strike="noStrike">
                <a:solidFill>
                  <a:srgbClr val="191B1F"/>
                </a:solidFill>
                <a:effectLst/>
                <a:uFillTx/>
                <a:latin typeface="Arial"/>
                <a:ea typeface="Microsoft YaHei"/>
              </a:rPr>
              <a:t>事件与证据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p4-desc"/>
          <p:cNvSpPr/>
          <p:nvPr/>
        </p:nvSpPr>
        <p:spPr>
          <a:xfrm>
            <a:off x="8610480" y="4114800"/>
            <a:ext cx="276840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业绩、股息、公司行动、关键 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claim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、来源与审计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p-note"/>
          <p:cNvSpPr/>
          <p:nvPr/>
        </p:nvSpPr>
        <p:spPr>
          <a:xfrm>
            <a:off x="8128080" y="4673520"/>
            <a:ext cx="3250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en-US" sz="950" b="0" u="none" strike="noStrike">
                <a:solidFill>
                  <a:srgbClr val="A16207"/>
                </a:solidFill>
                <a:effectLst/>
                <a:uFillTx/>
                <a:latin typeface="Arial"/>
                <a:ea typeface="Microsoft YaHei"/>
              </a:rPr>
              <a:t>Live </a:t>
            </a:r>
            <a:r>
              <a:rPr lang="zh-CN" sz="950" b="0" u="none" strike="noStrike">
                <a:solidFill>
                  <a:srgbClr val="A16207"/>
                </a:solidFill>
                <a:effectLst/>
                <a:uFillTx/>
                <a:latin typeface="Arial"/>
                <a:ea typeface="Microsoft YaHei"/>
              </a:rPr>
              <a:t>数据、对话编排与模拟确认为复赛接入项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quote-rail"/>
          <p:cNvSpPr/>
          <p:nvPr/>
        </p:nvSpPr>
        <p:spPr>
          <a:xfrm>
            <a:off x="812880" y="5511960"/>
            <a:ext cx="37800" cy="583920"/>
          </a:xfrm>
          <a:prstGeom prst="rect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quote-text"/>
          <p:cNvSpPr/>
          <p:nvPr/>
        </p:nvSpPr>
        <p:spPr>
          <a:xfrm>
            <a:off x="1015920" y="5715000"/>
            <a:ext cx="1015956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Georgia"/>
                <a:ea typeface="SimSun"/>
              </a:rPr>
              <a:t>“</a:t>
            </a:r>
            <a:r>
              <a:rPr lang="zh-CN" sz="1350" b="1" u="none" strike="noStrike">
                <a:solidFill>
                  <a:srgbClr val="191B1F"/>
                </a:solidFill>
                <a:effectLst/>
                <a:uFillTx/>
                <a:latin typeface="Georgia"/>
                <a:ea typeface="SimSun"/>
              </a:rPr>
              <a:t>真实数据，是界面唯一的卖点。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akeaway-rule"/>
          <p:cNvSpPr/>
          <p:nvPr/>
        </p:nvSpPr>
        <p:spPr>
          <a:xfrm>
            <a:off x="812880" y="6222960"/>
            <a:ext cx="10566000" cy="12240"/>
          </a:xfrm>
          <a:custGeom>
            <a:avLst/>
            <a:gdLst>
              <a:gd name="textAreaLeft" fmla="*/ 0 w 10566000"/>
              <a:gd name="textAreaRight" fmla="*/ 10566360 w 1056600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32" h="1">
                <a:moveTo>
                  <a:pt x="0" y="0"/>
                </a:moveTo>
                <a:lnTo>
                  <a:pt x="832" y="0"/>
                </a:lnTo>
              </a:path>
            </a:pathLst>
          </a:custGeom>
          <a:noFill/>
          <a:ln cap="rnd" w="12700">
            <a:solidFill>
              <a:srgbClr val="191B1F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akeaway-text"/>
          <p:cNvSpPr/>
          <p:nvPr/>
        </p:nvSpPr>
        <p:spPr>
          <a:xfrm>
            <a:off x="812880" y="6261120"/>
            <a:ext cx="105660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2000"/>
              </a:lnSpc>
            </a:pPr>
            <a:r>
              <a:rPr lang="zh-CN" sz="10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四面板同屏把研究、计算与风控收拢到一屏；所有数字来自冻结快照并标注来源，界面不虚构、不补造行权价。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footer-rule"/>
          <p:cNvSpPr/>
          <p:nvPr/>
        </p:nvSpPr>
        <p:spPr>
          <a:xfrm>
            <a:off x="812880" y="6654960"/>
            <a:ext cx="10566000" cy="12240"/>
          </a:xfrm>
          <a:custGeom>
            <a:avLst/>
            <a:gdLst>
              <a:gd name="textAreaLeft" fmla="*/ 0 w 10566000"/>
              <a:gd name="textAreaRight" fmla="*/ 10566360 w 1056600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32" h="1">
                <a:moveTo>
                  <a:pt x="0" y="0"/>
                </a:moveTo>
                <a:lnTo>
                  <a:pt x="832" y="0"/>
                </a:lnTo>
              </a:path>
            </a:pathLst>
          </a:custGeom>
          <a:noFill/>
          <a:ln cap="rnd" w="12700">
            <a:solidFill>
              <a:srgbClr val="191B1F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footer-left"/>
          <p:cNvSpPr/>
          <p:nvPr/>
        </p:nvSpPr>
        <p:spPr>
          <a:xfrm>
            <a:off x="812880" y="6616800"/>
            <a:ext cx="825480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素材：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ui/index.html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（参考界面）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· data/hero_inputs.json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footer-right"/>
          <p:cNvSpPr/>
          <p:nvPr/>
        </p:nvSpPr>
        <p:spPr>
          <a:xfrm>
            <a:off x="8940960" y="6616800"/>
            <a:ext cx="243792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18000"/>
              </a:lnSpc>
            </a:pP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05 / 16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  <p:timing>
    <p:tnLst>
      <p:par>
        <p:cTn id="427" dur="indefinite" restart="never" nodeType="tmRoot">
          <p:childTnLst>
            <p:seq>
              <p:cTn id="428" dur="indefinite" nodeType="mainSeq">
                <p:childTnLst>
                  <p:par>
                    <p:cTn id="429" fill="hold">
                      <p:stCondLst>
                        <p:cond delay="0"/>
                      </p:stCondLst>
                      <p:childTnLst>
                        <p:par>
                          <p:cTn id="430" fill="hold">
                            <p:stCondLst>
                              <p:cond delay="0"/>
                            </p:stCondLst>
                            <p:childTnLst>
                              <p:par>
                                <p:cTn id="431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33" dur="4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4" presetID="22" presetClass="entr" fill="hold" nodeType="with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436" dur="25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7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39" dur="3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0" fill="hold">
                            <p:stCondLst>
                              <p:cond delay="400"/>
                            </p:stCondLst>
                            <p:childTnLst>
                              <p:par>
                                <p:cTn id="441" presetID="34" presetClass="entr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43" dur="45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4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46" dur="3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7" fill="hold">
                            <p:stCondLst>
                              <p:cond delay="930"/>
                            </p:stCondLst>
                            <p:childTnLst>
                              <p:par>
                                <p:cTn id="448" presetID="22" presetClass="entr" fill="hold" nodeType="after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450" dur="35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1" fill="hold">
                            <p:stCondLst>
                              <p:cond delay="1280"/>
                            </p:stCondLst>
                            <p:childTnLst>
                              <p:par>
                                <p:cTn id="452" presetID="23" presetClass="entr" fill="hold" nodeType="afterEffect" presetSubtype="16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4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54" dur="45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55" dur="45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56" dur="45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57" dur="45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8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60" dur="25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1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63" dur="2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4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66" dur="2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7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69" dur="2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0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72" dur="25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3" fill="hold">
                            <p:stCondLst>
                              <p:cond delay="1790"/>
                            </p:stCondLst>
                            <p:childTnLst>
                              <p:par>
                                <p:cTn id="474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76" dur="2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7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79" dur="2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0" fill="hold">
                            <p:stCondLst>
                              <p:cond delay="1990"/>
                            </p:stCondLst>
                            <p:childTnLst>
                              <p:par>
                                <p:cTn id="481" presetID="10" presetClass="entr" fill="hold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83" dur="25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4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86" dur="3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7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89" dur="3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0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92" dur="25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3" fill="hold">
                            <p:stCondLst>
                              <p:cond delay="2290"/>
                            </p:stCondLst>
                            <p:childTnLst>
                              <p:par>
                                <p:cTn id="494" presetID="10" presetClass="entr" fill="hold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4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96" dur="25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7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99" dur="3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0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02" dur="25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3" fill="hold">
                            <p:stCondLst>
                              <p:cond delay="2590"/>
                            </p:stCondLst>
                            <p:childTnLst>
                              <p:par>
                                <p:cTn id="504" presetID="10" presetClass="entr" fill="hold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5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06" dur="25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7" presetID="34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09" dur="3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0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12" dur="2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3" fill="hold">
                            <p:stCondLst>
                              <p:cond delay="2890"/>
                            </p:stCondLst>
                            <p:childTnLst>
                              <p:par>
                                <p:cTn id="514" presetID="34" presetClass="entr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16" dur="3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7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19" dur="2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0" fill="hold">
                            <p:stCondLst>
                              <p:cond delay="3250"/>
                            </p:stCondLst>
                            <p:childTnLst>
                              <p:par>
                                <p:cTn id="521" presetID="22" presetClass="entr" fill="hold" nodeType="after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523" dur="35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4" presetID="22" presetClass="entr" fill="hold" nodeType="with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526" dur="35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7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29" dur="2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0" fill="hold">
                            <p:stCondLst>
                              <p:cond delay="3600"/>
                            </p:stCondLst>
                            <p:childTnLst>
                              <p:par>
                                <p:cTn id="531" presetID="10" presetClass="entr" fill="hold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5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33" dur="25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4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36" dur="3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7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39" dur="25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0" fill="hold">
                            <p:stCondLst>
                              <p:cond delay="3900"/>
                            </p:stCondLst>
                            <p:childTnLst>
                              <p:par>
                                <p:cTn id="541" presetID="10" presetClass="entr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43" dur="25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4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46" dur="25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7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49" dur="25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0" fill="hold">
                            <p:stCondLst>
                              <p:cond delay="4210"/>
                            </p:stCondLst>
                            <p:childTnLst>
                              <p:par>
                                <p:cTn id="551" presetID="10" presetClass="entr" fill="hold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53" dur="2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4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56" dur="25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7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59" dur="25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0" fill="hold">
                            <p:stCondLst>
                              <p:cond delay="4460"/>
                            </p:stCondLst>
                            <p:childTnLst>
                              <p:par>
                                <p:cTn id="561" presetID="10" presetClass="entr" fill="hold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5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63" dur="2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4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66" dur="25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7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69" dur="25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0" fill="hold">
                            <p:stCondLst>
                              <p:cond delay="4710"/>
                            </p:stCondLst>
                            <p:childTnLst>
                              <p:par>
                                <p:cTn id="571" presetID="10" presetClass="entr" fill="hold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5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73" dur="2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4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76" dur="25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7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79" dur="25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0" fill="hold">
                            <p:stCondLst>
                              <p:cond delay="4960"/>
                            </p:stCondLst>
                            <p:childTnLst>
                              <p:par>
                                <p:cTn id="581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83" dur="25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4" fill="hold">
                            <p:stCondLst>
                              <p:cond delay="5210"/>
                            </p:stCondLst>
                            <p:childTnLst>
                              <p:par>
                                <p:cTn id="585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87" dur="3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8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90" dur="35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1" fill="hold">
                            <p:stCondLst>
                              <p:cond delay="5560"/>
                            </p:stCondLst>
                            <p:childTnLst>
                              <p:par>
                                <p:cTn id="592" presetID="22" presetClass="entr" fill="hold" nodeType="after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594" dur="3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5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97" dur="3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8" fill="hold">
                            <p:stCondLst>
                              <p:cond delay="5860"/>
                            </p:stCondLst>
                            <p:childTnLst>
                              <p:par>
                                <p:cTn id="599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601" dur="2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2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604" dur="25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5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607" dur="25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corner"/>
          <p:cNvSpPr/>
          <p:nvPr/>
        </p:nvSpPr>
        <p:spPr>
          <a:xfrm>
            <a:off x="10058400" y="152280"/>
            <a:ext cx="1320480" cy="73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20000"/>
              </a:lnSpc>
            </a:pPr>
            <a:r>
              <a:rPr lang="en-US" sz="4800" b="0" i="1" u="none" strike="noStrike">
                <a:solidFill>
                  <a:srgbClr val="D9D3C6"/>
                </a:solidFill>
                <a:effectLst/>
                <a:uFillTx/>
                <a:latin typeface="Georgia"/>
                <a:ea typeface="Georgia"/>
              </a:rPr>
              <a:t>06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ick"/>
          <p:cNvSpPr/>
          <p:nvPr/>
        </p:nvSpPr>
        <p:spPr>
          <a:xfrm>
            <a:off x="812880" y="558720"/>
            <a:ext cx="279000" cy="25200"/>
          </a:xfrm>
          <a:prstGeom prst="rect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9440" rIns="90000" bIns="-19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kicker"/>
          <p:cNvSpPr/>
          <p:nvPr/>
        </p:nvSpPr>
        <p:spPr>
          <a:xfrm>
            <a:off x="1219320" y="457200"/>
            <a:ext cx="761976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1050" b="1" u="none" spc="201" strike="noStrike">
                <a:solidFill>
                  <a:srgbClr val="0E7490"/>
                </a:solidFill>
                <a:effectLst/>
                <a:uFillTx/>
                <a:latin typeface="Arial"/>
                <a:ea typeface="Microsoft YaHei"/>
              </a:rPr>
              <a:t>HERO CASE · 05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itle"/>
          <p:cNvSpPr/>
          <p:nvPr/>
        </p:nvSpPr>
        <p:spPr>
          <a:xfrm>
            <a:off x="812880" y="711360"/>
            <a:ext cx="1056600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2000"/>
              </a:lnSpc>
            </a:pPr>
            <a:r>
              <a:rPr lang="zh-CN" sz="2600" b="1" u="none" strike="noStrike">
                <a:solidFill>
                  <a:srgbClr val="191B1F"/>
                </a:solidFill>
                <a:effectLst/>
                <a:uFillTx/>
                <a:latin typeface="Georgia"/>
                <a:ea typeface="SimSun"/>
              </a:rPr>
              <a:t>腾讯业绩跨式：</a:t>
            </a:r>
            <a:r>
              <a:rPr lang="en-US" sz="2600" b="1" u="none" strike="noStrike">
                <a:solidFill>
                  <a:srgbClr val="191B1F"/>
                </a:solidFill>
                <a:effectLst/>
                <a:uFillTx/>
                <a:latin typeface="Georgia"/>
                <a:ea typeface="SimSun"/>
              </a:rPr>
              <a:t>Edge </a:t>
            </a:r>
            <a:r>
              <a:rPr lang="zh-CN" sz="2600" b="1" u="none" strike="noStrike">
                <a:solidFill>
                  <a:srgbClr val="191B1F"/>
                </a:solidFill>
                <a:effectLst/>
                <a:uFillTx/>
                <a:latin typeface="Georgia"/>
                <a:ea typeface="SimSun"/>
              </a:rPr>
              <a:t>未过，系统诚实给出 </a:t>
            </a:r>
            <a:r>
              <a:rPr lang="en-US" sz="2600" b="1" u="none" strike="noStrike">
                <a:solidFill>
                  <a:srgbClr val="191B1F"/>
                </a:solidFill>
                <a:effectLst/>
                <a:uFillTx/>
                <a:latin typeface="Georgia"/>
                <a:ea typeface="SimSun"/>
              </a:rPr>
              <a:t>NO_TRADE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standfirst"/>
          <p:cNvSpPr/>
          <p:nvPr/>
        </p:nvSpPr>
        <p:spPr>
          <a:xfrm>
            <a:off x="812880" y="1270080"/>
            <a:ext cx="10566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11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冻结快照 </a:t>
            </a:r>
            <a:r>
              <a:rPr lang="en-US" sz="11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2026-08-08 11:56</a:t>
            </a:r>
            <a:r>
              <a:rPr lang="zh-CN" sz="11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（</a:t>
            </a:r>
            <a:r>
              <a:rPr lang="en-US" sz="11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HK CLOSED</a:t>
            </a:r>
            <a:r>
              <a:rPr lang="zh-CN" sz="11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）</a:t>
            </a:r>
            <a:r>
              <a:rPr lang="en-US" sz="11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· REPLAY / FUTU / FROZEN · </a:t>
            </a:r>
            <a:r>
              <a:rPr lang="zh-CN" sz="11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决策卡 </a:t>
            </a:r>
            <a:r>
              <a:rPr lang="en-US" sz="11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2026-08-12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header-rule"/>
          <p:cNvSpPr/>
          <p:nvPr/>
        </p:nvSpPr>
        <p:spPr>
          <a:xfrm>
            <a:off x="812880" y="1574640"/>
            <a:ext cx="10566000" cy="12240"/>
          </a:xfrm>
          <a:custGeom>
            <a:avLst/>
            <a:gdLst>
              <a:gd name="textAreaLeft" fmla="*/ 0 w 10566000"/>
              <a:gd name="textAreaRight" fmla="*/ 10566360 w 1056600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32" h="1">
                <a:moveTo>
                  <a:pt x="0" y="0"/>
                </a:moveTo>
                <a:lnTo>
                  <a:pt x="832" y="0"/>
                </a:lnTo>
              </a:path>
            </a:pathLst>
          </a:custGeom>
          <a:noFill/>
          <a:ln cap="rnd" w="12700">
            <a:solidFill>
              <a:srgbClr val="191B1F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v1-num"/>
          <p:cNvSpPr/>
          <p:nvPr/>
        </p:nvSpPr>
        <p:spPr>
          <a:xfrm>
            <a:off x="812880" y="1778040"/>
            <a:ext cx="335232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2400" b="1" u="none" strike="noStrike">
                <a:solidFill>
                  <a:srgbClr val="191B1F"/>
                </a:solidFill>
                <a:effectLst/>
                <a:uFillTx/>
                <a:latin typeface="Georgia"/>
                <a:ea typeface="Georgia"/>
              </a:rPr>
              <a:t>478.8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v1-label"/>
          <p:cNvSpPr/>
          <p:nvPr/>
        </p:nvSpPr>
        <p:spPr>
          <a:xfrm>
            <a:off x="812880" y="2184480"/>
            <a:ext cx="335232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现货 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HKD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v2-num"/>
          <p:cNvSpPr/>
          <p:nvPr/>
        </p:nvSpPr>
        <p:spPr>
          <a:xfrm>
            <a:off x="4368960" y="1778040"/>
            <a:ext cx="335232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2400" b="1" u="none" strike="noStrike">
                <a:solidFill>
                  <a:srgbClr val="191B1F"/>
                </a:solidFill>
                <a:effectLst/>
                <a:uFillTx/>
                <a:latin typeface="Georgia"/>
                <a:ea typeface="Georgia"/>
              </a:rPr>
              <a:t>480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v2-label"/>
          <p:cNvSpPr/>
          <p:nvPr/>
        </p:nvSpPr>
        <p:spPr>
          <a:xfrm>
            <a:off x="4368960" y="2184480"/>
            <a:ext cx="335232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ATM 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行权价 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· 8/14 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到期 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· 2 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张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v3-num"/>
          <p:cNvSpPr/>
          <p:nvPr/>
        </p:nvSpPr>
        <p:spPr>
          <a:xfrm>
            <a:off x="812880" y="2590920"/>
            <a:ext cx="335232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2400" b="1" u="none" strike="noStrike">
                <a:solidFill>
                  <a:srgbClr val="A16207"/>
                </a:solidFill>
                <a:effectLst/>
                <a:uFillTx/>
                <a:latin typeface="Georgia"/>
                <a:ea typeface="Georgia"/>
              </a:rPr>
              <a:t>4,414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v3-label"/>
          <p:cNvSpPr/>
          <p:nvPr/>
        </p:nvSpPr>
        <p:spPr>
          <a:xfrm>
            <a:off x="812880" y="2997360"/>
            <a:ext cx="335232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买入成本 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HKD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（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ask 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口径）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v4-num"/>
          <p:cNvSpPr/>
          <p:nvPr/>
        </p:nvSpPr>
        <p:spPr>
          <a:xfrm>
            <a:off x="4368960" y="2590920"/>
            <a:ext cx="335232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2400" b="1" u="none" strike="noStrike">
                <a:solidFill>
                  <a:srgbClr val="191B1F"/>
                </a:solidFill>
                <a:effectLst/>
                <a:uFillTx/>
                <a:latin typeface="Georgia"/>
                <a:ea typeface="Georgia"/>
              </a:rPr>
              <a:t>458.9 / 501.1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v4-label"/>
          <p:cNvSpPr/>
          <p:nvPr/>
        </p:nvSpPr>
        <p:spPr>
          <a:xfrm>
            <a:off x="4368960" y="2997360"/>
            <a:ext cx="335232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盈亏平衡区间 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· 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需变动 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±4.41%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v5-num"/>
          <p:cNvSpPr/>
          <p:nvPr/>
        </p:nvSpPr>
        <p:spPr>
          <a:xfrm>
            <a:off x="812880" y="3403440"/>
            <a:ext cx="335232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2400" b="1" u="none" strike="noStrike">
                <a:solidFill>
                  <a:srgbClr val="C24452"/>
                </a:solidFill>
                <a:effectLst/>
                <a:uFillTx/>
                <a:latin typeface="Georgia"/>
                <a:ea typeface="Georgia"/>
              </a:rPr>
              <a:t>3.92%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v5-label"/>
          <p:cNvSpPr/>
          <p:nvPr/>
        </p:nvSpPr>
        <p:spPr>
          <a:xfrm>
            <a:off x="812880" y="3809880"/>
            <a:ext cx="335232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市场预期业绩波动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v6-num"/>
          <p:cNvSpPr/>
          <p:nvPr/>
        </p:nvSpPr>
        <p:spPr>
          <a:xfrm>
            <a:off x="4368960" y="3403440"/>
            <a:ext cx="335232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2400" b="1" u="none" strike="noStrike">
                <a:solidFill>
                  <a:srgbClr val="191B1F"/>
                </a:solidFill>
                <a:effectLst/>
                <a:uFillTx/>
                <a:latin typeface="Georgia"/>
                <a:ea typeface="Georgia"/>
              </a:rPr>
              <a:t>5,000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v6-label"/>
          <p:cNvSpPr/>
          <p:nvPr/>
        </p:nvSpPr>
        <p:spPr>
          <a:xfrm>
            <a:off x="4368960" y="3809880"/>
            <a:ext cx="335232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风险预算（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5% × 100,000 HKD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）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v7-num"/>
          <p:cNvSpPr/>
          <p:nvPr/>
        </p:nvSpPr>
        <p:spPr>
          <a:xfrm>
            <a:off x="812880" y="4216320"/>
            <a:ext cx="69084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2000"/>
              </a:lnSpc>
            </a:pPr>
            <a:r>
              <a:rPr lang="en-US" sz="1300" b="1" u="none" strike="noStrike">
                <a:solidFill>
                  <a:srgbClr val="191B1F"/>
                </a:solidFill>
                <a:effectLst/>
                <a:uFillTx/>
                <a:latin typeface="Arial"/>
                <a:ea typeface="Microsoft YaHei"/>
              </a:rPr>
              <a:t>IV 37.4% · IV Rank 72.9 · IV Pct 85.3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v7-label"/>
          <p:cNvSpPr/>
          <p:nvPr/>
        </p:nvSpPr>
        <p:spPr>
          <a:xfrm>
            <a:off x="812880" y="4546440"/>
            <a:ext cx="690840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zh-CN" sz="950" b="0" u="none" strike="noStrike">
                <a:solidFill>
                  <a:srgbClr val="A16207"/>
                </a:solidFill>
                <a:effectLst/>
                <a:uFillTx/>
                <a:latin typeface="Arial"/>
                <a:ea typeface="Microsoft YaHei"/>
              </a:rPr>
              <a:t>隐含波动处于历史高位，</a:t>
            </a:r>
            <a:r>
              <a:rPr lang="en-US" sz="950" b="0" u="none" strike="noStrike">
                <a:solidFill>
                  <a:srgbClr val="A16207"/>
                </a:solidFill>
                <a:effectLst/>
                <a:uFillTx/>
                <a:latin typeface="Arial"/>
                <a:ea typeface="Microsoft YaHei"/>
              </a:rPr>
              <a:t>IV crush </a:t>
            </a:r>
            <a:r>
              <a:rPr lang="zh-CN" sz="950" b="0" u="none" strike="noStrike">
                <a:solidFill>
                  <a:srgbClr val="A16207"/>
                </a:solidFill>
                <a:effectLst/>
                <a:uFillTx/>
                <a:latin typeface="Arial"/>
                <a:ea typeface="Microsoft YaHei"/>
              </a:rPr>
              <a:t>风险显著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change-head"/>
          <p:cNvSpPr/>
          <p:nvPr/>
        </p:nvSpPr>
        <p:spPr>
          <a:xfrm>
            <a:off x="812880" y="4876920"/>
            <a:ext cx="690840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2000"/>
              </a:lnSpc>
            </a:pPr>
            <a:r>
              <a:rPr lang="zh-CN" sz="1100" b="1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什么会改变结论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change-text"/>
          <p:cNvSpPr/>
          <p:nvPr/>
        </p:nvSpPr>
        <p:spPr>
          <a:xfrm>
            <a:off x="812880" y="5105520"/>
            <a:ext cx="6908400" cy="40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· 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正股业绩日实际波动超过盈亏平衡幅度　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· 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切换 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8/28 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到期或价差结构使成本显著下降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8000"/>
              </a:lnSpc>
            </a:pP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· Live 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行情 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+ 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已验证费用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/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滑点 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policy 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后成本口径更新　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· 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历史回测样本更新后 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Edge 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结论变化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verdict-plate"/>
          <p:cNvSpPr/>
          <p:nvPr/>
        </p:nvSpPr>
        <p:spPr>
          <a:xfrm>
            <a:off x="8026560" y="1778040"/>
            <a:ext cx="3352320" cy="3454200"/>
          </a:xfrm>
          <a:prstGeom prst="rect">
            <a:avLst/>
          </a:prstGeom>
          <a:solidFill>
            <a:srgbClr val="191B1F"/>
          </a:solidFill>
          <a:ln w="12700">
            <a:solidFill>
              <a:srgbClr val="FFFFFF">
                <a:alpha val="1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verdict-rail"/>
          <p:cNvSpPr/>
          <p:nvPr/>
        </p:nvSpPr>
        <p:spPr>
          <a:xfrm>
            <a:off x="8026560" y="1778040"/>
            <a:ext cx="37800" cy="3454200"/>
          </a:xfrm>
          <a:prstGeom prst="rect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verdict-label"/>
          <p:cNvSpPr/>
          <p:nvPr/>
        </p:nvSpPr>
        <p:spPr>
          <a:xfrm>
            <a:off x="8229600" y="1955880"/>
            <a:ext cx="294588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zh-CN" sz="950" b="1" u="none" strike="noStrike">
                <a:solidFill>
                  <a:srgbClr val="C8CBD2"/>
                </a:solidFill>
                <a:effectLst/>
                <a:uFillTx/>
                <a:latin typeface="Arial"/>
                <a:ea typeface="Microsoft YaHei"/>
              </a:rPr>
              <a:t>决策卡结论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verdict-num"/>
          <p:cNvSpPr/>
          <p:nvPr/>
        </p:nvSpPr>
        <p:spPr>
          <a:xfrm>
            <a:off x="8229600" y="2184480"/>
            <a:ext cx="2945880" cy="58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3600" b="1" u="none" strike="noStrike">
                <a:solidFill>
                  <a:srgbClr val="67E8F9"/>
                </a:solidFill>
                <a:effectLst/>
                <a:uFillTx/>
                <a:latin typeface="Georgia"/>
                <a:ea typeface="Georgia"/>
              </a:rPr>
              <a:t>NO_TRADE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verdict-rule"/>
          <p:cNvSpPr/>
          <p:nvPr/>
        </p:nvSpPr>
        <p:spPr>
          <a:xfrm>
            <a:off x="8229600" y="2870280"/>
            <a:ext cx="2945880" cy="12240"/>
          </a:xfrm>
          <a:custGeom>
            <a:avLst/>
            <a:gdLst>
              <a:gd name="textAreaLeft" fmla="*/ 0 w 2945880"/>
              <a:gd name="textAreaRight" fmla="*/ 2946240 w 294588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232" h="1">
                <a:moveTo>
                  <a:pt x="0" y="0"/>
                </a:moveTo>
                <a:lnTo>
                  <a:pt x="232" y="0"/>
                </a:lnTo>
              </a:path>
            </a:pathLst>
          </a:custGeom>
          <a:noFill/>
          <a:ln cap="rnd" w="12700">
            <a:solidFill>
              <a:srgbClr val="FFFFFF">
                <a:alpha val="1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verdict-reason"/>
          <p:cNvSpPr/>
          <p:nvPr/>
        </p:nvSpPr>
        <p:spPr>
          <a:xfrm>
            <a:off x="8229600" y="2997360"/>
            <a:ext cx="2945880" cy="104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2000"/>
              </a:lnSpc>
            </a:pPr>
            <a:r>
              <a:rPr lang="en-US" sz="1100" b="0" u="none" strike="noStrike">
                <a:solidFill>
                  <a:srgbClr val="F7F4ED"/>
                </a:solidFill>
                <a:effectLst/>
                <a:uFillTx/>
                <a:latin typeface="Arial"/>
                <a:ea typeface="Microsoft YaHei"/>
              </a:rPr>
              <a:t>· </a:t>
            </a:r>
            <a:r>
              <a:rPr lang="zh-CN" sz="1100" b="0" u="none" strike="noStrike">
                <a:solidFill>
                  <a:srgbClr val="F7F4ED"/>
                </a:solidFill>
                <a:effectLst/>
                <a:uFillTx/>
                <a:latin typeface="Arial"/>
                <a:ea typeface="Microsoft YaHei"/>
              </a:rPr>
              <a:t>预期波动 </a:t>
            </a:r>
            <a:r>
              <a:rPr lang="en-US" sz="1100" b="0" u="none" strike="noStrike">
                <a:solidFill>
                  <a:srgbClr val="F7F4ED"/>
                </a:solidFill>
                <a:effectLst/>
                <a:uFillTx/>
                <a:latin typeface="Arial"/>
                <a:ea typeface="Microsoft YaHei"/>
              </a:rPr>
              <a:t>&lt; </a:t>
            </a:r>
            <a:r>
              <a:rPr lang="zh-CN" sz="1100" b="0" u="none" strike="noStrike">
                <a:solidFill>
                  <a:srgbClr val="F7F4ED"/>
                </a:solidFill>
                <a:effectLst/>
                <a:uFillTx/>
                <a:latin typeface="Arial"/>
                <a:ea typeface="Microsoft YaHei"/>
              </a:rPr>
              <a:t>盈亏平衡所需幅度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2000"/>
              </a:lnSpc>
            </a:pPr>
            <a:r>
              <a:rPr lang="en-US" sz="1100" b="0" u="none" strike="noStrike">
                <a:solidFill>
                  <a:srgbClr val="F7F4ED"/>
                </a:solidFill>
                <a:effectLst/>
                <a:uFillTx/>
                <a:latin typeface="Arial"/>
                <a:ea typeface="Microsoft YaHei"/>
              </a:rPr>
              <a:t>· </a:t>
            </a:r>
            <a:r>
              <a:rPr lang="zh-CN" sz="1100" b="0" u="none" strike="noStrike">
                <a:solidFill>
                  <a:srgbClr val="F7F4ED"/>
                </a:solidFill>
                <a:effectLst/>
                <a:uFillTx/>
                <a:latin typeface="Arial"/>
                <a:ea typeface="Microsoft YaHei"/>
              </a:rPr>
              <a:t>历史回测负期望（</a:t>
            </a:r>
            <a:r>
              <a:rPr lang="en-US" sz="1100" b="0" u="none" strike="noStrike">
                <a:solidFill>
                  <a:srgbClr val="F7F4ED"/>
                </a:solidFill>
                <a:effectLst/>
                <a:uFillTx/>
                <a:latin typeface="Arial"/>
                <a:ea typeface="Microsoft YaHei"/>
              </a:rPr>
              <a:t>d+2 </a:t>
            </a:r>
            <a:r>
              <a:rPr lang="zh-CN" sz="1100" b="0" u="none" strike="noStrike">
                <a:solidFill>
                  <a:srgbClr val="F7F4ED"/>
                </a:solidFill>
                <a:effectLst/>
                <a:uFillTx/>
                <a:latin typeface="Arial"/>
                <a:ea typeface="Microsoft YaHei"/>
              </a:rPr>
              <a:t>口径 </a:t>
            </a:r>
            <a:r>
              <a:rPr lang="en-US" sz="1100" b="0" u="none" strike="noStrike">
                <a:solidFill>
                  <a:srgbClr val="F7F4ED"/>
                </a:solidFill>
                <a:effectLst/>
                <a:uFillTx/>
                <a:latin typeface="Arial"/>
                <a:ea typeface="Microsoft YaHei"/>
              </a:rPr>
              <a:t>A -7.8%</a:t>
            </a:r>
            <a:r>
              <a:rPr lang="zh-CN" sz="1100" b="0" u="none" strike="noStrike">
                <a:solidFill>
                  <a:srgbClr val="F7F4ED"/>
                </a:solidFill>
                <a:effectLst/>
                <a:uFillTx/>
                <a:latin typeface="Arial"/>
                <a:ea typeface="Microsoft YaHei"/>
              </a:rPr>
              <a:t>）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2000"/>
              </a:lnSpc>
            </a:pPr>
            <a:r>
              <a:rPr lang="en-US" sz="1100" b="0" u="none" strike="noStrike">
                <a:solidFill>
                  <a:srgbClr val="F7F4ED"/>
                </a:solidFill>
                <a:effectLst/>
                <a:uFillTx/>
                <a:latin typeface="Arial"/>
                <a:ea typeface="Microsoft YaHei"/>
              </a:rPr>
              <a:t>· IV crush -20% </a:t>
            </a:r>
            <a:r>
              <a:rPr lang="zh-CN" sz="1100" b="0" u="none" strike="noStrike">
                <a:solidFill>
                  <a:srgbClr val="F7F4ED"/>
                </a:solidFill>
                <a:effectLst/>
                <a:uFillTx/>
                <a:latin typeface="Arial"/>
                <a:ea typeface="Microsoft YaHei"/>
              </a:rPr>
              <a:t>情景转负（</a:t>
            </a:r>
            <a:r>
              <a:rPr lang="en-US" sz="1100" b="0" u="none" strike="noStrike">
                <a:solidFill>
                  <a:srgbClr val="F7F4ED"/>
                </a:solidFill>
                <a:effectLst/>
                <a:uFillTx/>
                <a:latin typeface="Arial"/>
                <a:ea typeface="Microsoft YaHei"/>
              </a:rPr>
              <a:t>-711 HKD</a:t>
            </a:r>
            <a:r>
              <a:rPr lang="zh-CN" sz="1100" b="0" u="none" strike="noStrike">
                <a:solidFill>
                  <a:srgbClr val="F7F4ED"/>
                </a:solidFill>
                <a:effectLst/>
                <a:uFillTx/>
                <a:latin typeface="Arial"/>
                <a:ea typeface="Microsoft YaHei"/>
              </a:rPr>
              <a:t>）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verdict-next"/>
          <p:cNvSpPr/>
          <p:nvPr/>
        </p:nvSpPr>
        <p:spPr>
          <a:xfrm>
            <a:off x="8229600" y="4140360"/>
            <a:ext cx="2945880" cy="78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zh-CN" sz="950" b="0" u="none" strike="noStrike">
                <a:solidFill>
                  <a:srgbClr val="AEB4BE"/>
                </a:solidFill>
                <a:effectLst/>
                <a:uFillTx/>
                <a:latin typeface="Arial"/>
                <a:ea typeface="Microsoft YaHei"/>
              </a:rPr>
              <a:t>下一步：无需进入下单步骤。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8000"/>
              </a:lnSpc>
            </a:pPr>
            <a:r>
              <a:rPr lang="zh-CN" sz="950" b="0" u="none" strike="noStrike">
                <a:solidFill>
                  <a:srgbClr val="AEB4BE"/>
                </a:solidFill>
                <a:effectLst/>
                <a:uFillTx/>
                <a:latin typeface="Arial"/>
                <a:ea typeface="Microsoft YaHei"/>
              </a:rPr>
              <a:t>可调整期限 </a:t>
            </a:r>
            <a:r>
              <a:rPr lang="en-US" sz="950" b="0" u="none" strike="noStrike">
                <a:solidFill>
                  <a:srgbClr val="AEB4BE"/>
                </a:solidFill>
                <a:effectLst/>
                <a:uFillTx/>
                <a:latin typeface="Arial"/>
                <a:ea typeface="Microsoft YaHei"/>
              </a:rPr>
              <a:t>/ </a:t>
            </a:r>
            <a:r>
              <a:rPr lang="zh-CN" sz="950" b="0" u="none" strike="noStrike">
                <a:solidFill>
                  <a:srgbClr val="AEB4BE"/>
                </a:solidFill>
                <a:effectLst/>
                <a:uFillTx/>
                <a:latin typeface="Arial"/>
                <a:ea typeface="Microsoft YaHei"/>
              </a:rPr>
              <a:t>行权价后重新评估。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quote-line"/>
          <p:cNvSpPr/>
          <p:nvPr/>
        </p:nvSpPr>
        <p:spPr>
          <a:xfrm>
            <a:off x="812880" y="5613480"/>
            <a:ext cx="1056600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Georgia"/>
                <a:ea typeface="SimSun"/>
              </a:rPr>
              <a:t>“</a:t>
            </a:r>
            <a:r>
              <a:rPr lang="zh-CN" sz="1350" b="1" u="none" strike="noStrike">
                <a:solidFill>
                  <a:srgbClr val="0E7490"/>
                </a:solidFill>
                <a:effectLst/>
                <a:uFillTx/>
                <a:latin typeface="Georgia"/>
                <a:ea typeface="SimSun"/>
              </a:rPr>
              <a:t>赔率不支持时，最好的仓位是 </a:t>
            </a:r>
            <a:r>
              <a:rPr lang="en-US" sz="1350" b="1" u="none" strike="noStrike">
                <a:solidFill>
                  <a:srgbClr val="0E7490"/>
                </a:solidFill>
                <a:effectLst/>
                <a:uFillTx/>
                <a:latin typeface="Georgia"/>
                <a:ea typeface="SimSun"/>
              </a:rPr>
              <a:t>NO_TRADE</a:t>
            </a:r>
            <a:r>
              <a:rPr lang="zh-CN" sz="1350" b="1" u="none" strike="noStrike">
                <a:solidFill>
                  <a:srgbClr val="0E7490"/>
                </a:solidFill>
                <a:effectLst/>
                <a:uFillTx/>
                <a:latin typeface="Georgia"/>
                <a:ea typeface="SimSun"/>
              </a:rPr>
              <a:t>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footer-rule"/>
          <p:cNvSpPr/>
          <p:nvPr/>
        </p:nvSpPr>
        <p:spPr>
          <a:xfrm>
            <a:off x="812880" y="6654960"/>
            <a:ext cx="10566000" cy="12240"/>
          </a:xfrm>
          <a:custGeom>
            <a:avLst/>
            <a:gdLst>
              <a:gd name="textAreaLeft" fmla="*/ 0 w 10566000"/>
              <a:gd name="textAreaRight" fmla="*/ 10566360 w 1056600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32" h="1">
                <a:moveTo>
                  <a:pt x="0" y="0"/>
                </a:moveTo>
                <a:lnTo>
                  <a:pt x="832" y="0"/>
                </a:lnTo>
              </a:path>
            </a:pathLst>
          </a:custGeom>
          <a:noFill/>
          <a:ln cap="rnd" w="12700">
            <a:solidFill>
              <a:srgbClr val="191B1F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footer-left"/>
          <p:cNvSpPr/>
          <p:nvPr/>
        </p:nvSpPr>
        <p:spPr>
          <a:xfrm>
            <a:off x="812880" y="6616800"/>
            <a:ext cx="825480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数据：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decision_card_2026-08-12.json · 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审计链 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7 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条记录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footer-right"/>
          <p:cNvSpPr/>
          <p:nvPr/>
        </p:nvSpPr>
        <p:spPr>
          <a:xfrm>
            <a:off x="8940960" y="6616800"/>
            <a:ext cx="243792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18000"/>
              </a:lnSpc>
            </a:pP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06 / 16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  <p:timing>
    <p:tnLst>
      <p:par>
        <p:cTn id="608" dur="indefinite" restart="never" nodeType="tmRoot">
          <p:childTnLst>
            <p:seq>
              <p:cTn id="609" dur="indefinite" nodeType="mainSeq">
                <p:childTnLst>
                  <p:par>
                    <p:cTn id="610" fill="hold">
                      <p:stCondLst>
                        <p:cond delay="0"/>
                      </p:stCondLst>
                      <p:childTnLst>
                        <p:par>
                          <p:cTn id="611" fill="hold">
                            <p:stCondLst>
                              <p:cond delay="0"/>
                            </p:stCondLst>
                            <p:childTnLst>
                              <p:par>
                                <p:cTn id="612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614" dur="4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5" presetID="22" presetClass="entr" fill="hold" nodeType="with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617" dur="25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8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620" dur="3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1" fill="hold">
                            <p:stCondLst>
                              <p:cond delay="400"/>
                            </p:stCondLst>
                            <p:childTnLst>
                              <p:par>
                                <p:cTn id="622" presetID="34" presetClass="entr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24" dur="45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5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627" dur="3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8" fill="hold">
                            <p:stCondLst>
                              <p:cond delay="930"/>
                            </p:stCondLst>
                            <p:childTnLst>
                              <p:par>
                                <p:cTn id="629" presetID="22" presetClass="entr" fill="hold" nodeType="after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631" dur="35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2" fill="hold">
                            <p:stCondLst>
                              <p:cond delay="1280"/>
                            </p:stCondLst>
                            <p:childTnLst>
                              <p:par>
                                <p:cTn id="633" presetID="34" presetClass="entr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35" dur="35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6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638" dur="2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9" fill="hold">
                            <p:stCondLst>
                              <p:cond delay="1690"/>
                            </p:stCondLst>
                            <p:childTnLst>
                              <p:par>
                                <p:cTn id="640" presetID="34" presetClass="entr" fill="hold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42" dur="3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3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645" dur="2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6" fill="hold">
                            <p:stCondLst>
                              <p:cond delay="2029"/>
                            </p:stCondLst>
                            <p:childTnLst>
                              <p:par>
                                <p:cTn id="647" presetID="34" presetClass="entr" fill="hold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49" dur="3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0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652" dur="2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3" fill="hold">
                            <p:stCondLst>
                              <p:cond delay="2370"/>
                            </p:stCondLst>
                            <p:childTnLst>
                              <p:par>
                                <p:cTn id="654" presetID="34" presetClass="entr" fill="hold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56" dur="3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7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659" dur="2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0" fill="hold">
                            <p:stCondLst>
                              <p:cond delay="2710"/>
                            </p:stCondLst>
                            <p:childTnLst>
                              <p:par>
                                <p:cTn id="661" presetID="34" presetClass="entr" fill="hold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63" dur="3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4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666" dur="2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7" fill="hold">
                            <p:stCondLst>
                              <p:cond delay="3050"/>
                            </p:stCondLst>
                            <p:childTnLst>
                              <p:par>
                                <p:cTn id="668" presetID="34" presetClass="entr" fill="hold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70" dur="3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1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673" dur="2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4" fill="hold">
                            <p:stCondLst>
                              <p:cond delay="3390"/>
                            </p:stCondLst>
                            <p:childTnLst>
                              <p:par>
                                <p:cTn id="675" presetID="10" presetClass="entr" fill="hold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677" dur="25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8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680" dur="25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1" fill="hold">
                            <p:stCondLst>
                              <p:cond delay="3680"/>
                            </p:stCondLst>
                            <p:childTnLst>
                              <p:par>
                                <p:cTn id="682" presetID="10" presetClass="entr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684" dur="25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5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687" dur="3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8" fill="hold">
                            <p:stCondLst>
                              <p:cond delay="3990"/>
                            </p:stCondLst>
                            <p:childTnLst>
                              <p:par>
                                <p:cTn id="689" presetID="23" presetClass="entr" fill="hold" nodeType="afterEffect" presetSubtype="16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91" dur="45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92" dur="45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93" dur="45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94" dur="45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5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697" dur="25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8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00" dur="25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1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03" dur="35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4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06" dur="25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7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09" dur="3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0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12" dur="3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3" fill="hold">
                            <p:stCondLst>
                              <p:cond delay="4520"/>
                            </p:stCondLst>
                            <p:childTnLst>
                              <p:par>
                                <p:cTn id="714" presetID="10" presetClass="entr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7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16" dur="35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7" fill="hold">
                            <p:stCondLst>
                              <p:cond delay="4950"/>
                            </p:stCondLst>
                            <p:childTnLst>
                              <p:par>
                                <p:cTn id="718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20" dur="2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1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23" dur="25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4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26" dur="25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corner"/>
          <p:cNvSpPr/>
          <p:nvPr/>
        </p:nvSpPr>
        <p:spPr>
          <a:xfrm>
            <a:off x="10058400" y="152280"/>
            <a:ext cx="1320480" cy="73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20000"/>
              </a:lnSpc>
            </a:pPr>
            <a:r>
              <a:rPr lang="en-US" sz="4800" b="0" i="1" u="none" strike="noStrike">
                <a:solidFill>
                  <a:srgbClr val="D9D3C6"/>
                </a:solidFill>
                <a:effectLst/>
                <a:uFillTx/>
                <a:latin typeface="Georgia"/>
                <a:ea typeface="Georgia"/>
              </a:rPr>
              <a:t>07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ick"/>
          <p:cNvSpPr/>
          <p:nvPr/>
        </p:nvSpPr>
        <p:spPr>
          <a:xfrm>
            <a:off x="812880" y="558720"/>
            <a:ext cx="279000" cy="25200"/>
          </a:xfrm>
          <a:prstGeom prst="rect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9440" rIns="90000" bIns="-19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kicker"/>
          <p:cNvSpPr/>
          <p:nvPr/>
        </p:nvSpPr>
        <p:spPr>
          <a:xfrm>
            <a:off x="1219320" y="457200"/>
            <a:ext cx="761976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1050" b="1" u="none" spc="201" strike="noStrike">
                <a:solidFill>
                  <a:srgbClr val="0E7490"/>
                </a:solidFill>
                <a:effectLst/>
                <a:uFillTx/>
                <a:latin typeface="Arial"/>
                <a:ea typeface="Microsoft YaHei"/>
              </a:rPr>
              <a:t>EVIDENCE · 06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itle"/>
          <p:cNvSpPr/>
          <p:nvPr/>
        </p:nvSpPr>
        <p:spPr>
          <a:xfrm>
            <a:off x="812880" y="711360"/>
            <a:ext cx="1056600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2000"/>
              </a:lnSpc>
            </a:pPr>
            <a:r>
              <a:rPr lang="zh-CN" sz="2600" b="1" u="none" strike="noStrike">
                <a:solidFill>
                  <a:srgbClr val="191B1F"/>
                </a:solidFill>
                <a:effectLst/>
                <a:uFillTx/>
                <a:latin typeface="Georgia"/>
                <a:ea typeface="SimSun"/>
              </a:rPr>
              <a:t>期望收益不成立：预期波动低于成本，</a:t>
            </a:r>
            <a:r>
              <a:rPr lang="en-US" sz="2600" b="1" u="none" strike="noStrike">
                <a:solidFill>
                  <a:srgbClr val="191B1F"/>
                </a:solidFill>
                <a:effectLst/>
                <a:uFillTx/>
                <a:latin typeface="Georgia"/>
                <a:ea typeface="SimSun"/>
              </a:rPr>
              <a:t>IV crush </a:t>
            </a:r>
            <a:r>
              <a:rPr lang="zh-CN" sz="2600" b="1" u="none" strike="noStrike">
                <a:solidFill>
                  <a:srgbClr val="191B1F"/>
                </a:solidFill>
                <a:effectLst/>
                <a:uFillTx/>
                <a:latin typeface="Georgia"/>
                <a:ea typeface="SimSun"/>
              </a:rPr>
              <a:t>后更差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standfirst"/>
          <p:cNvSpPr/>
          <p:nvPr/>
        </p:nvSpPr>
        <p:spPr>
          <a:xfrm>
            <a:off x="812880" y="1270080"/>
            <a:ext cx="10566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11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到期情景损益（</a:t>
            </a:r>
            <a:r>
              <a:rPr lang="en-US" sz="11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HKD</a:t>
            </a:r>
            <a:r>
              <a:rPr lang="zh-CN" sz="11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，</a:t>
            </a:r>
            <a:r>
              <a:rPr lang="en-US" sz="11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ask </a:t>
            </a:r>
            <a:r>
              <a:rPr lang="zh-CN" sz="11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成本口径）与 </a:t>
            </a:r>
            <a:r>
              <a:rPr lang="en-US" sz="11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IV crush </a:t>
            </a:r>
            <a:r>
              <a:rPr lang="zh-CN" sz="11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压力测试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header-rule"/>
          <p:cNvSpPr/>
          <p:nvPr/>
        </p:nvSpPr>
        <p:spPr>
          <a:xfrm>
            <a:off x="812880" y="1574640"/>
            <a:ext cx="10566000" cy="12240"/>
          </a:xfrm>
          <a:custGeom>
            <a:avLst/>
            <a:gdLst>
              <a:gd name="textAreaLeft" fmla="*/ 0 w 10566000"/>
              <a:gd name="textAreaRight" fmla="*/ 10566360 w 1056600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32" h="1">
                <a:moveTo>
                  <a:pt x="0" y="0"/>
                </a:moveTo>
                <a:lnTo>
                  <a:pt x="832" y="0"/>
                </a:lnTo>
              </a:path>
            </a:pathLst>
          </a:custGeom>
          <a:noFill/>
          <a:ln cap="rnd" w="12700">
            <a:solidFill>
              <a:srgbClr val="191B1F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23" name="pnl-table"/>
          <p:cNvGraphicFramePr/>
          <p:nvPr/>
        </p:nvGraphicFramePr>
        <p:xfrm>
          <a:off x="812880" y="1778040"/>
          <a:ext cx="5333760" cy="3225600"/>
        </p:xfrm>
        <a:graphic>
          <a:graphicData uri="http://schemas.openxmlformats.org/drawingml/2006/table">
            <a:tbl>
              <a:tblPr/>
              <a:tblGrid>
                <a:gridCol w="2026800"/>
                <a:gridCol w="1653480"/>
                <a:gridCol w="1653480"/>
              </a:tblGrid>
              <a:tr h="4190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1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到期情景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91B1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1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上行 </a:t>
                      </a:r>
                      <a:r>
                        <a:rPr lang="en-US" sz="1050" b="1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P&amp;L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91B1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1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下行 </a:t>
                      </a:r>
                      <a:r>
                        <a:rPr lang="en-US" sz="1050" b="1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P&amp;L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91B1F"/>
                      </a:solidFill>
                      <a:prstDash val="solid"/>
                    </a:lnB>
                    <a:noFill/>
                  </a:tcPr>
                </a:tc>
              </a:tr>
              <a:tr h="9352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en-US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±1× </a:t>
                      </a:r>
                      <a:r>
                        <a:rPr lang="zh-CN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预期波动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91B1F">
                          <a:alpha val="32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en-US" sz="1050" b="0" u="none" strike="noStrike">
                          <a:solidFill>
                            <a:srgbClr val="C24452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-904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91B1F">
                          <a:alpha val="32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en-US" sz="1050" b="0" u="none" strike="noStrike">
                          <a:solidFill>
                            <a:srgbClr val="C24452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-424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91B1F">
                          <a:alpha val="32"/>
                        </a:srgbClr>
                      </a:solidFill>
                      <a:prstDash val="solid"/>
                    </a:lnB>
                    <a:noFill/>
                  </a:tcPr>
                </a:tc>
              </a:tr>
              <a:tr h="9352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en-US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±1.5× </a:t>
                      </a:r>
                      <a:r>
                        <a:rPr lang="zh-CN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预期波动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91B1F">
                          <a:alpha val="32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en-US" sz="1050" b="0" u="none" strike="noStrike">
                          <a:solidFill>
                            <a:srgbClr val="0E7C54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+971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91B1F">
                          <a:alpha val="32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en-US" sz="1050" b="0" u="none" strike="noStrike">
                          <a:solidFill>
                            <a:srgbClr val="0E7C54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+1,451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91B1F">
                          <a:alpha val="32"/>
                        </a:srgbClr>
                      </a:solidFill>
                      <a:prstDash val="solid"/>
                    </a:lnB>
                    <a:noFill/>
                  </a:tcPr>
                </a:tc>
              </a:tr>
              <a:tr h="9352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en-US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±2× </a:t>
                      </a:r>
                      <a:r>
                        <a:rPr lang="zh-CN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预期波动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91B1F">
                          <a:alpha val="32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en-US" sz="1050" b="0" u="none" strike="noStrike">
                          <a:solidFill>
                            <a:srgbClr val="0E7C54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+2,846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91B1F">
                          <a:alpha val="32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en-US" sz="1050" b="0" u="none" strike="noStrike">
                          <a:solidFill>
                            <a:srgbClr val="0E7C54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+3,326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91B1F">
                          <a:alpha val="32"/>
                        </a:srgb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24" name="pnl-note"/>
          <p:cNvSpPr/>
          <p:nvPr/>
        </p:nvSpPr>
        <p:spPr>
          <a:xfrm>
            <a:off x="812880" y="5079960"/>
            <a:ext cx="533376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两腿按到期内在价值估算，未计入业绩后剩余时间价值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25" name="crush-chart"/>
          <p:cNvGraphicFramePr/>
          <p:nvPr/>
        </p:nvGraphicFramePr>
        <p:xfrm>
          <a:off x="6603840" y="1778040"/>
          <a:ext cx="4774680" cy="3504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26" name="quote-rail"/>
          <p:cNvSpPr/>
          <p:nvPr/>
        </p:nvSpPr>
        <p:spPr>
          <a:xfrm>
            <a:off x="812880" y="5511960"/>
            <a:ext cx="37800" cy="583920"/>
          </a:xfrm>
          <a:prstGeom prst="rect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quote-text"/>
          <p:cNvSpPr/>
          <p:nvPr/>
        </p:nvSpPr>
        <p:spPr>
          <a:xfrm>
            <a:off x="1015920" y="5715000"/>
            <a:ext cx="1015956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Georgia"/>
                <a:ea typeface="SimSun"/>
              </a:rPr>
              <a:t>“</a:t>
            </a:r>
            <a:r>
              <a:rPr lang="en-US" sz="1350" b="1" u="none" strike="noStrike">
                <a:solidFill>
                  <a:srgbClr val="191B1F"/>
                </a:solidFill>
                <a:effectLst/>
                <a:uFillTx/>
                <a:latin typeface="Georgia"/>
                <a:ea typeface="SimSun"/>
              </a:rPr>
              <a:t>IV </a:t>
            </a:r>
            <a:r>
              <a:rPr lang="zh-CN" sz="1350" b="1" u="none" strike="noStrike">
                <a:solidFill>
                  <a:srgbClr val="191B1F"/>
                </a:solidFill>
                <a:effectLst/>
                <a:uFillTx/>
                <a:latin typeface="Georgia"/>
                <a:ea typeface="SimSun"/>
              </a:rPr>
              <a:t>涨上去的便宜，都会在 </a:t>
            </a:r>
            <a:r>
              <a:rPr lang="en-US" sz="1350" b="1" u="none" strike="noStrike">
                <a:solidFill>
                  <a:srgbClr val="191B1F"/>
                </a:solidFill>
                <a:effectLst/>
                <a:uFillTx/>
                <a:latin typeface="Georgia"/>
                <a:ea typeface="SimSun"/>
              </a:rPr>
              <a:t>crush </a:t>
            </a:r>
            <a:r>
              <a:rPr lang="zh-CN" sz="1350" b="1" u="none" strike="noStrike">
                <a:solidFill>
                  <a:srgbClr val="191B1F"/>
                </a:solidFill>
                <a:effectLst/>
                <a:uFillTx/>
                <a:latin typeface="Georgia"/>
                <a:ea typeface="SimSun"/>
              </a:rPr>
              <a:t>里还回来。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akeaway-rule"/>
          <p:cNvSpPr/>
          <p:nvPr/>
        </p:nvSpPr>
        <p:spPr>
          <a:xfrm>
            <a:off x="812880" y="6222960"/>
            <a:ext cx="10566000" cy="12240"/>
          </a:xfrm>
          <a:custGeom>
            <a:avLst/>
            <a:gdLst>
              <a:gd name="textAreaLeft" fmla="*/ 0 w 10566000"/>
              <a:gd name="textAreaRight" fmla="*/ 10566360 w 1056600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32" h="1">
                <a:moveTo>
                  <a:pt x="0" y="0"/>
                </a:moveTo>
                <a:lnTo>
                  <a:pt x="832" y="0"/>
                </a:lnTo>
              </a:path>
            </a:pathLst>
          </a:custGeom>
          <a:noFill/>
          <a:ln cap="rnd" w="12700">
            <a:solidFill>
              <a:srgbClr val="191B1F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akeaway-text"/>
          <p:cNvSpPr/>
          <p:nvPr/>
        </p:nvSpPr>
        <p:spPr>
          <a:xfrm>
            <a:off x="812880" y="6261120"/>
            <a:ext cx="105660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2000"/>
              </a:lnSpc>
            </a:pPr>
            <a:r>
              <a:rPr lang="en-US" sz="10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IV crush -20% </a:t>
            </a:r>
            <a:r>
              <a:rPr lang="zh-CN" sz="10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时，即使方向正确也亏损 </a:t>
            </a:r>
            <a:r>
              <a:rPr lang="en-US" sz="10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-711 HKD——</a:t>
            </a:r>
            <a:r>
              <a:rPr lang="zh-CN" sz="10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预期波动不足以覆盖买入成本。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footer-rule"/>
          <p:cNvSpPr/>
          <p:nvPr/>
        </p:nvSpPr>
        <p:spPr>
          <a:xfrm>
            <a:off x="812880" y="6654960"/>
            <a:ext cx="10566000" cy="12240"/>
          </a:xfrm>
          <a:custGeom>
            <a:avLst/>
            <a:gdLst>
              <a:gd name="textAreaLeft" fmla="*/ 0 w 10566000"/>
              <a:gd name="textAreaRight" fmla="*/ 10566360 w 1056600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32" h="1">
                <a:moveTo>
                  <a:pt x="0" y="0"/>
                </a:moveTo>
                <a:lnTo>
                  <a:pt x="832" y="0"/>
                </a:lnTo>
              </a:path>
            </a:pathLst>
          </a:custGeom>
          <a:noFill/>
          <a:ln cap="rnd" w="12700">
            <a:solidFill>
              <a:srgbClr val="191B1F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footer-left"/>
          <p:cNvSpPr/>
          <p:nvPr/>
        </p:nvSpPr>
        <p:spPr>
          <a:xfrm>
            <a:off x="812880" y="6616800"/>
            <a:ext cx="825480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数据：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decision_card_2026-08-12.json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（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proposal_ref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）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footer-right"/>
          <p:cNvSpPr/>
          <p:nvPr/>
        </p:nvSpPr>
        <p:spPr>
          <a:xfrm>
            <a:off x="8940960" y="6616800"/>
            <a:ext cx="243792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18000"/>
              </a:lnSpc>
            </a:pP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07 / 16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  <p:timing>
    <p:tnLst>
      <p:par>
        <p:cTn id="727" dur="indefinite" restart="never" nodeType="tmRoot">
          <p:childTnLst>
            <p:seq>
              <p:cTn id="728" dur="indefinite" nodeType="mainSeq">
                <p:childTnLst>
                  <p:par>
                    <p:cTn id="729" fill="hold">
                      <p:stCondLst>
                        <p:cond delay="0"/>
                      </p:stCondLst>
                      <p:childTnLst>
                        <p:par>
                          <p:cTn id="730" fill="hold">
                            <p:stCondLst>
                              <p:cond delay="0"/>
                            </p:stCondLst>
                            <p:childTnLst>
                              <p:par>
                                <p:cTn id="731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33" dur="4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4" presetID="22" presetClass="entr" fill="hold" nodeType="with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736" dur="25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7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39" dur="3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0" fill="hold">
                            <p:stCondLst>
                              <p:cond delay="400"/>
                            </p:stCondLst>
                            <p:childTnLst>
                              <p:par>
                                <p:cTn id="741" presetID="34" presetClass="entr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7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43" dur="45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4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46" dur="3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7" fill="hold">
                            <p:stCondLst>
                              <p:cond delay="930"/>
                            </p:stCondLst>
                            <p:childTnLst>
                              <p:par>
                                <p:cTn id="748" presetID="22" presetClass="entr" fill="hold" nodeType="after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750" dur="35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1" fill="hold">
                            <p:stCondLst>
                              <p:cond delay="1280"/>
                            </p:stCondLst>
                            <p:childTnLst>
                              <p:par>
                                <p:cTn id="752" presetID="10" presetClass="entr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7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54" dur="4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5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57" dur="25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8" fill="hold">
                            <p:stCondLst>
                              <p:cond delay="1740"/>
                            </p:stCondLst>
                            <p:childTnLst>
                              <p:par>
                                <p:cTn id="759" presetID="23" presetClass="entr" fill="hold" nodeType="afterEffect" presetSubtype="16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61" dur="450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62" dur="450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63" dur="450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64" dur="450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5" fill="hold">
                            <p:stCondLst>
                              <p:cond delay="2290"/>
                            </p:stCondLst>
                            <p:childTnLst>
                              <p:par>
                                <p:cTn id="766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68" dur="3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71" dur="35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2" fill="hold">
                            <p:stCondLst>
                              <p:cond delay="2640"/>
                            </p:stCondLst>
                            <p:childTnLst>
                              <p:par>
                                <p:cTn id="773" presetID="22" presetClass="entr" fill="hold" nodeType="after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775" dur="3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6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78" dur="3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9" fill="hold">
                            <p:stCondLst>
                              <p:cond delay="2940"/>
                            </p:stCondLst>
                            <p:childTnLst>
                              <p:par>
                                <p:cTn id="780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82" dur="2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3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85" dur="25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6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88" dur="25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corner"/>
          <p:cNvSpPr/>
          <p:nvPr/>
        </p:nvSpPr>
        <p:spPr>
          <a:xfrm>
            <a:off x="10058400" y="152280"/>
            <a:ext cx="1320480" cy="73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20000"/>
              </a:lnSpc>
            </a:pPr>
            <a:r>
              <a:rPr lang="en-US" sz="4800" b="0" i="1" u="none" strike="noStrike">
                <a:solidFill>
                  <a:srgbClr val="D9D3C6"/>
                </a:solidFill>
                <a:effectLst/>
                <a:uFillTx/>
                <a:latin typeface="Georgia"/>
                <a:ea typeface="Georgia"/>
              </a:rPr>
              <a:t>08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ick"/>
          <p:cNvSpPr/>
          <p:nvPr/>
        </p:nvSpPr>
        <p:spPr>
          <a:xfrm>
            <a:off x="812880" y="558720"/>
            <a:ext cx="279000" cy="25200"/>
          </a:xfrm>
          <a:prstGeom prst="rect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9440" rIns="90000" bIns="-19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kicker"/>
          <p:cNvSpPr/>
          <p:nvPr/>
        </p:nvSpPr>
        <p:spPr>
          <a:xfrm>
            <a:off x="1219320" y="457200"/>
            <a:ext cx="761976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1050" b="1" u="none" spc="201" strike="noStrike">
                <a:solidFill>
                  <a:srgbClr val="0E7490"/>
                </a:solidFill>
                <a:effectLst/>
                <a:uFillTx/>
                <a:latin typeface="Arial"/>
                <a:ea typeface="Microsoft YaHei"/>
              </a:rPr>
              <a:t>EVIDENCE · 07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itle"/>
          <p:cNvSpPr/>
          <p:nvPr/>
        </p:nvSpPr>
        <p:spPr>
          <a:xfrm>
            <a:off x="812880" y="711360"/>
            <a:ext cx="1056600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2000"/>
              </a:lnSpc>
            </a:pPr>
            <a:r>
              <a:rPr lang="zh-CN" sz="2600" b="1" u="none" strike="noStrike">
                <a:solidFill>
                  <a:srgbClr val="191B1F"/>
                </a:solidFill>
                <a:effectLst/>
                <a:uFillTx/>
                <a:latin typeface="Georgia"/>
                <a:ea typeface="SimSun"/>
              </a:rPr>
              <a:t>历史 </a:t>
            </a:r>
            <a:r>
              <a:rPr lang="en-US" sz="2600" b="1" u="none" strike="noStrike">
                <a:solidFill>
                  <a:srgbClr val="191B1F"/>
                </a:solidFill>
                <a:effectLst/>
                <a:uFillTx/>
                <a:latin typeface="Georgia"/>
                <a:ea typeface="SimSun"/>
              </a:rPr>
              <a:t>11–19 </a:t>
            </a:r>
            <a:r>
              <a:rPr lang="zh-CN" sz="2600" b="1" u="none" strike="noStrike">
                <a:solidFill>
                  <a:srgbClr val="191B1F"/>
                </a:solidFill>
                <a:effectLst/>
                <a:uFillTx/>
                <a:latin typeface="Georgia"/>
                <a:ea typeface="SimSun"/>
              </a:rPr>
              <a:t>个财报期：买入业绩跨式整体负期望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standfirst"/>
          <p:cNvSpPr/>
          <p:nvPr/>
        </p:nvSpPr>
        <p:spPr>
          <a:xfrm>
            <a:off x="812880" y="1270080"/>
            <a:ext cx="10566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11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口径 </a:t>
            </a:r>
            <a:r>
              <a:rPr lang="en-US" sz="11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A = </a:t>
            </a:r>
            <a:r>
              <a:rPr lang="zh-CN" sz="11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引擎 </a:t>
            </a:r>
            <a:r>
              <a:rPr lang="en-US" sz="11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+ </a:t>
            </a:r>
            <a:r>
              <a:rPr lang="zh-CN" sz="11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历史 </a:t>
            </a:r>
            <a:r>
              <a:rPr lang="en-US" sz="11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IV</a:t>
            </a:r>
            <a:r>
              <a:rPr lang="zh-CN" sz="11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（</a:t>
            </a:r>
            <a:r>
              <a:rPr lang="en-US" sz="11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n=11</a:t>
            </a:r>
            <a:r>
              <a:rPr lang="zh-CN" sz="11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）</a:t>
            </a:r>
            <a:r>
              <a:rPr lang="en-US" sz="11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· </a:t>
            </a:r>
            <a:r>
              <a:rPr lang="zh-CN" sz="11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口径 </a:t>
            </a:r>
            <a:r>
              <a:rPr lang="en-US" sz="11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B = </a:t>
            </a:r>
            <a:r>
              <a:rPr lang="zh-CN" sz="11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市场预期波动代理（</a:t>
            </a:r>
            <a:r>
              <a:rPr lang="en-US" sz="11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n=19</a:t>
            </a:r>
            <a:r>
              <a:rPr lang="zh-CN" sz="11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）</a:t>
            </a:r>
            <a:r>
              <a:rPr lang="en-US" sz="11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· </a:t>
            </a:r>
            <a:r>
              <a:rPr lang="zh-CN" sz="11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按到期内在价值平仓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header-rule"/>
          <p:cNvSpPr/>
          <p:nvPr/>
        </p:nvSpPr>
        <p:spPr>
          <a:xfrm>
            <a:off x="812880" y="1574640"/>
            <a:ext cx="10566000" cy="12240"/>
          </a:xfrm>
          <a:custGeom>
            <a:avLst/>
            <a:gdLst>
              <a:gd name="textAreaLeft" fmla="*/ 0 w 10566000"/>
              <a:gd name="textAreaRight" fmla="*/ 10566360 w 1056600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32" h="1">
                <a:moveTo>
                  <a:pt x="0" y="0"/>
                </a:moveTo>
                <a:lnTo>
                  <a:pt x="832" y="0"/>
                </a:lnTo>
              </a:path>
            </a:pathLst>
          </a:custGeom>
          <a:noFill/>
          <a:ln cap="rnd" w="12700">
            <a:solidFill>
              <a:srgbClr val="191B1F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39" name="bt-chart"/>
          <p:cNvGraphicFramePr/>
          <p:nvPr/>
        </p:nvGraphicFramePr>
        <p:xfrm>
          <a:off x="812880" y="1778040"/>
          <a:ext cx="7111800" cy="3504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40" name="win-plate"/>
          <p:cNvSpPr/>
          <p:nvPr/>
        </p:nvSpPr>
        <p:spPr>
          <a:xfrm>
            <a:off x="8128080" y="1778040"/>
            <a:ext cx="3250800" cy="1117080"/>
          </a:xfrm>
          <a:prstGeom prst="rect">
            <a:avLst/>
          </a:prstGeom>
          <a:solidFill>
            <a:srgbClr val="F0EADF"/>
          </a:solidFill>
          <a:ln w="12700">
            <a:solidFill>
              <a:srgbClr val="191B1F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win-label"/>
          <p:cNvSpPr/>
          <p:nvPr/>
        </p:nvSpPr>
        <p:spPr>
          <a:xfrm>
            <a:off x="8331120" y="1905120"/>
            <a:ext cx="284436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en-US" sz="950" b="1" u="none" strike="noStrike">
                <a:solidFill>
                  <a:srgbClr val="0E7490"/>
                </a:solidFill>
                <a:effectLst/>
                <a:uFillTx/>
                <a:latin typeface="Arial"/>
                <a:ea typeface="Microsoft YaHei"/>
              </a:rPr>
              <a:t>d+2 </a:t>
            </a:r>
            <a:r>
              <a:rPr lang="zh-CN" sz="950" b="1" u="none" strike="noStrike">
                <a:solidFill>
                  <a:srgbClr val="0E7490"/>
                </a:solidFill>
                <a:effectLst/>
                <a:uFillTx/>
                <a:latin typeface="Arial"/>
                <a:ea typeface="Microsoft YaHei"/>
              </a:rPr>
              <a:t>胜率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win-text"/>
          <p:cNvSpPr/>
          <p:nvPr/>
        </p:nvSpPr>
        <p:spPr>
          <a:xfrm>
            <a:off x="8331120" y="2133720"/>
            <a:ext cx="284436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2000"/>
              </a:lnSpc>
            </a:pPr>
            <a:r>
              <a:rPr lang="zh-CN" sz="1100" b="0" u="none" strike="noStrike">
                <a:solidFill>
                  <a:srgbClr val="191B1F"/>
                </a:solidFill>
                <a:effectLst/>
                <a:uFillTx/>
                <a:latin typeface="Arial"/>
                <a:ea typeface="Microsoft YaHei"/>
              </a:rPr>
              <a:t>口径</a:t>
            </a:r>
            <a:r>
              <a:rPr lang="en-US" sz="1100" b="0" u="none" strike="noStrike">
                <a:solidFill>
                  <a:srgbClr val="191B1F"/>
                </a:solidFill>
                <a:effectLst/>
                <a:uFillTx/>
                <a:latin typeface="Arial"/>
                <a:ea typeface="Microsoft YaHei"/>
              </a:rPr>
              <a:t>A</a:t>
            </a:r>
            <a:r>
              <a:rPr lang="zh-CN" sz="1100" b="0" u="none" strike="noStrike">
                <a:solidFill>
                  <a:srgbClr val="191B1F"/>
                </a:solidFill>
                <a:effectLst/>
                <a:uFillTx/>
                <a:latin typeface="Arial"/>
                <a:ea typeface="Microsoft YaHei"/>
              </a:rPr>
              <a:t>：</a:t>
            </a:r>
            <a:r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36%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2000"/>
              </a:lnSpc>
            </a:pPr>
            <a:r>
              <a:rPr lang="zh-CN" sz="1100" b="0" u="none" strike="noStrike">
                <a:solidFill>
                  <a:srgbClr val="191B1F"/>
                </a:solidFill>
                <a:effectLst/>
                <a:uFillTx/>
                <a:latin typeface="Arial"/>
                <a:ea typeface="Microsoft YaHei"/>
              </a:rPr>
              <a:t>口径</a:t>
            </a:r>
            <a:r>
              <a:rPr lang="en-US" sz="1100" b="0" u="none" strike="noStrike">
                <a:solidFill>
                  <a:srgbClr val="191B1F"/>
                </a:solidFill>
                <a:effectLst/>
                <a:uFillTx/>
                <a:latin typeface="Arial"/>
                <a:ea typeface="Microsoft YaHei"/>
              </a:rPr>
              <a:t>B</a:t>
            </a:r>
            <a:r>
              <a:rPr lang="zh-CN" sz="1100" b="0" u="none" strike="noStrike">
                <a:solidFill>
                  <a:srgbClr val="191B1F"/>
                </a:solidFill>
                <a:effectLst/>
                <a:uFillTx/>
                <a:latin typeface="Arial"/>
                <a:ea typeface="Microsoft YaHei"/>
              </a:rPr>
              <a:t>：</a:t>
            </a:r>
            <a:r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16%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caveat-head"/>
          <p:cNvSpPr/>
          <p:nvPr/>
        </p:nvSpPr>
        <p:spPr>
          <a:xfrm>
            <a:off x="8128080" y="3048120"/>
            <a:ext cx="325080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2000"/>
              </a:lnSpc>
            </a:pPr>
            <a:r>
              <a:rPr lang="zh-CN" sz="1100" b="1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口径边界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caveat-text"/>
          <p:cNvSpPr/>
          <p:nvPr/>
        </p:nvSpPr>
        <p:spPr>
          <a:xfrm>
            <a:off x="8128080" y="3276720"/>
            <a:ext cx="3250800" cy="16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· 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历史 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bid/ask 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不可得，引擎成本按 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IV + 5% 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滑点近似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8000"/>
              </a:lnSpc>
            </a:pP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· 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平仓按到期内在价值，忽略剩余时间价值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8000"/>
              </a:lnSpc>
            </a:pP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· 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单标的 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11–19 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期，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t 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统计量仅作量级参考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quote-rail"/>
          <p:cNvSpPr/>
          <p:nvPr/>
        </p:nvSpPr>
        <p:spPr>
          <a:xfrm>
            <a:off x="812880" y="5511960"/>
            <a:ext cx="37800" cy="583920"/>
          </a:xfrm>
          <a:prstGeom prst="rect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quote-text"/>
          <p:cNvSpPr/>
          <p:nvPr/>
        </p:nvSpPr>
        <p:spPr>
          <a:xfrm>
            <a:off x="1015920" y="5715000"/>
            <a:ext cx="1015956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Georgia"/>
                <a:ea typeface="SimSun"/>
              </a:rPr>
              <a:t>“</a:t>
            </a:r>
            <a:r>
              <a:rPr lang="zh-CN" sz="1350" b="1" u="none" strike="noStrike">
                <a:solidFill>
                  <a:srgbClr val="191B1F"/>
                </a:solidFill>
                <a:effectLst/>
                <a:uFillTx/>
                <a:latin typeface="Georgia"/>
                <a:ea typeface="SimSun"/>
              </a:rPr>
              <a:t>样本少的时候，诚实比自信值钱。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akeaway-rule"/>
          <p:cNvSpPr/>
          <p:nvPr/>
        </p:nvSpPr>
        <p:spPr>
          <a:xfrm>
            <a:off x="812880" y="6222960"/>
            <a:ext cx="10566000" cy="12240"/>
          </a:xfrm>
          <a:custGeom>
            <a:avLst/>
            <a:gdLst>
              <a:gd name="textAreaLeft" fmla="*/ 0 w 10566000"/>
              <a:gd name="textAreaRight" fmla="*/ 10566360 w 1056600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32" h="1">
                <a:moveTo>
                  <a:pt x="0" y="0"/>
                </a:moveTo>
                <a:lnTo>
                  <a:pt x="832" y="0"/>
                </a:lnTo>
              </a:path>
            </a:pathLst>
          </a:custGeom>
          <a:noFill/>
          <a:ln cap="rnd" w="12700">
            <a:solidFill>
              <a:srgbClr val="191B1F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akeaway-text"/>
          <p:cNvSpPr/>
          <p:nvPr/>
        </p:nvSpPr>
        <p:spPr>
          <a:xfrm>
            <a:off x="812880" y="6261120"/>
            <a:ext cx="105660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2000"/>
              </a:lnSpc>
            </a:pPr>
            <a:r>
              <a:rPr lang="en-US" sz="10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2025–2026 </a:t>
            </a:r>
            <a:r>
              <a:rPr lang="zh-CN" sz="10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转好但样本少：结论是证据强度不足，而非机会不存在。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footer-rule"/>
          <p:cNvSpPr/>
          <p:nvPr/>
        </p:nvSpPr>
        <p:spPr>
          <a:xfrm>
            <a:off x="812880" y="6654960"/>
            <a:ext cx="10566000" cy="12240"/>
          </a:xfrm>
          <a:custGeom>
            <a:avLst/>
            <a:gdLst>
              <a:gd name="textAreaLeft" fmla="*/ 0 w 10566000"/>
              <a:gd name="textAreaRight" fmla="*/ 10566360 w 1056600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32" h="1">
                <a:moveTo>
                  <a:pt x="0" y="0"/>
                </a:moveTo>
                <a:lnTo>
                  <a:pt x="832" y="0"/>
                </a:lnTo>
              </a:path>
            </a:pathLst>
          </a:custGeom>
          <a:noFill/>
          <a:ln cap="rnd" w="12700">
            <a:solidFill>
              <a:srgbClr val="191B1F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footer-left"/>
          <p:cNvSpPr/>
          <p:nvPr/>
        </p:nvSpPr>
        <p:spPr>
          <a:xfrm>
            <a:off x="812880" y="6616800"/>
            <a:ext cx="825480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数据：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backtest_tencent_straddle.json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（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stats · engine/proxy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）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footer-right"/>
          <p:cNvSpPr/>
          <p:nvPr/>
        </p:nvSpPr>
        <p:spPr>
          <a:xfrm>
            <a:off x="8940960" y="6616800"/>
            <a:ext cx="243792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18000"/>
              </a:lnSpc>
            </a:pP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08 / 16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  <p:timing>
    <p:tnLst>
      <p:par>
        <p:cTn id="789" dur="indefinite" restart="never" nodeType="tmRoot">
          <p:childTnLst>
            <p:seq>
              <p:cTn id="790" dur="indefinite" nodeType="mainSeq">
                <p:childTnLst>
                  <p:par>
                    <p:cTn id="791" fill="hold">
                      <p:stCondLst>
                        <p:cond delay="0"/>
                      </p:stCondLst>
                      <p:childTnLst>
                        <p:par>
                          <p:cTn id="792" fill="hold">
                            <p:stCondLst>
                              <p:cond delay="0"/>
                            </p:stCondLst>
                            <p:childTnLst>
                              <p:par>
                                <p:cTn id="793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95" dur="4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6" presetID="22" presetClass="entr" fill="hold" nodeType="with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798" dur="25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801" dur="3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2" fill="hold">
                            <p:stCondLst>
                              <p:cond delay="400"/>
                            </p:stCondLst>
                            <p:childTnLst>
                              <p:par>
                                <p:cTn id="803" presetID="34" presetClass="entr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8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805" dur="450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6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808" dur="3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9" fill="hold">
                            <p:stCondLst>
                              <p:cond delay="930"/>
                            </p:stCondLst>
                            <p:childTnLst>
                              <p:par>
                                <p:cTn id="810" presetID="22" presetClass="entr" fill="hold" nodeType="after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812" dur="35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3" fill="hold">
                            <p:stCondLst>
                              <p:cond delay="1280"/>
                            </p:stCondLst>
                            <p:childTnLst>
                              <p:par>
                                <p:cTn id="814" presetID="23" presetClass="entr" fill="hold" nodeType="afterEffect" presetSubtype="16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8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816" dur="45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17" dur="45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18" dur="45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19" dur="45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0" fill="hold">
                            <p:stCondLst>
                              <p:cond delay="1790"/>
                            </p:stCondLst>
                            <p:childTnLst>
                              <p:par>
                                <p:cTn id="821" presetID="10" presetClass="entr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8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823" dur="35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4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826" dur="25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7" presetID="34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829" dur="300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0" fill="hold">
                            <p:stCondLst>
                              <p:cond delay="2220"/>
                            </p:stCondLst>
                            <p:childTnLst>
                              <p:par>
                                <p:cTn id="831" presetID="10" presetClass="entr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8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833" dur="25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4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836" dur="3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7" fill="hold">
                            <p:stCondLst>
                              <p:cond delay="2530"/>
                            </p:stCondLst>
                            <p:childTnLst>
                              <p:par>
                                <p:cTn id="838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840" dur="3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1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843" dur="35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4" fill="hold">
                            <p:stCondLst>
                              <p:cond delay="2880"/>
                            </p:stCondLst>
                            <p:childTnLst>
                              <p:par>
                                <p:cTn id="845" presetID="22" presetClass="entr" fill="hold" nodeType="after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847" dur="3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8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850" dur="3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1" fill="hold">
                            <p:stCondLst>
                              <p:cond delay="3180"/>
                            </p:stCondLst>
                            <p:childTnLst>
                              <p:par>
                                <p:cTn id="852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854" dur="2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5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857" dur="25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8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860" dur="25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corner"/>
          <p:cNvSpPr/>
          <p:nvPr/>
        </p:nvSpPr>
        <p:spPr>
          <a:xfrm>
            <a:off x="10058400" y="152280"/>
            <a:ext cx="1320480" cy="73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20000"/>
              </a:lnSpc>
            </a:pPr>
            <a:r>
              <a:rPr lang="en-US" sz="4800" b="0" i="1" u="none" strike="noStrike">
                <a:solidFill>
                  <a:srgbClr val="D9D3C6"/>
                </a:solidFill>
                <a:effectLst/>
                <a:uFillTx/>
                <a:latin typeface="Georgia"/>
                <a:ea typeface="Georgia"/>
              </a:rPr>
              <a:t>09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ick"/>
          <p:cNvSpPr/>
          <p:nvPr/>
        </p:nvSpPr>
        <p:spPr>
          <a:xfrm>
            <a:off x="812880" y="558720"/>
            <a:ext cx="279000" cy="25200"/>
          </a:xfrm>
          <a:prstGeom prst="rect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9440" rIns="90000" bIns="-19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kicker"/>
          <p:cNvSpPr/>
          <p:nvPr/>
        </p:nvSpPr>
        <p:spPr>
          <a:xfrm>
            <a:off x="1219320" y="457200"/>
            <a:ext cx="761976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1050" b="1" u="none" spc="201" strike="noStrike">
                <a:solidFill>
                  <a:srgbClr val="0E7490"/>
                </a:solidFill>
                <a:effectLst/>
                <a:uFillTx/>
                <a:latin typeface="Arial"/>
                <a:ea typeface="Microsoft YaHei"/>
              </a:rPr>
              <a:t>WHY AGENT · 08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itle"/>
          <p:cNvSpPr/>
          <p:nvPr/>
        </p:nvSpPr>
        <p:spPr>
          <a:xfrm>
            <a:off x="812880" y="711360"/>
            <a:ext cx="1056600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2000"/>
              </a:lnSpc>
            </a:pPr>
            <a:r>
              <a:rPr lang="zh-CN" sz="2600" b="1" u="none" strike="noStrike">
                <a:solidFill>
                  <a:srgbClr val="191B1F"/>
                </a:solidFill>
                <a:effectLst/>
                <a:uFillTx/>
                <a:latin typeface="Georgia"/>
                <a:ea typeface="SimSun"/>
              </a:rPr>
              <a:t>固定计算器缺编排，通用 </a:t>
            </a:r>
            <a:r>
              <a:rPr lang="en-US" sz="2600" b="1" u="none" strike="noStrike">
                <a:solidFill>
                  <a:srgbClr val="191B1F"/>
                </a:solidFill>
                <a:effectLst/>
                <a:uFillTx/>
                <a:latin typeface="Georgia"/>
                <a:ea typeface="SimSun"/>
              </a:rPr>
              <a:t>LLM </a:t>
            </a:r>
            <a:r>
              <a:rPr lang="zh-CN" sz="2600" b="1" u="none" strike="noStrike">
                <a:solidFill>
                  <a:srgbClr val="191B1F"/>
                </a:solidFill>
                <a:effectLst/>
                <a:uFillTx/>
                <a:latin typeface="Georgia"/>
                <a:ea typeface="SimSun"/>
              </a:rPr>
              <a:t>缺事实，</a:t>
            </a:r>
            <a:r>
              <a:rPr lang="en-US" sz="2600" b="1" u="none" strike="noStrike">
                <a:solidFill>
                  <a:srgbClr val="191B1F"/>
                </a:solidFill>
                <a:effectLst/>
                <a:uFillTx/>
                <a:latin typeface="Georgia"/>
                <a:ea typeface="SimSun"/>
              </a:rPr>
              <a:t>Agent </a:t>
            </a:r>
            <a:r>
              <a:rPr lang="zh-CN" sz="2600" b="1" u="none" strike="noStrike">
                <a:solidFill>
                  <a:srgbClr val="191B1F"/>
                </a:solidFill>
                <a:effectLst/>
                <a:uFillTx/>
                <a:latin typeface="Georgia"/>
                <a:ea typeface="SimSun"/>
              </a:rPr>
              <a:t>补两者的缺口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standfirst"/>
          <p:cNvSpPr/>
          <p:nvPr/>
        </p:nvSpPr>
        <p:spPr>
          <a:xfrm>
            <a:off x="812880" y="1270080"/>
            <a:ext cx="10566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en-US" sz="11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LLM </a:t>
            </a:r>
            <a:r>
              <a:rPr lang="zh-CN" sz="11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只做理解、编排与解释；所有金融数字、门控与动作许可由确定性工具完成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header-rule"/>
          <p:cNvSpPr/>
          <p:nvPr/>
        </p:nvSpPr>
        <p:spPr>
          <a:xfrm>
            <a:off x="812880" y="1574640"/>
            <a:ext cx="10566000" cy="12240"/>
          </a:xfrm>
          <a:custGeom>
            <a:avLst/>
            <a:gdLst>
              <a:gd name="textAreaLeft" fmla="*/ 0 w 10566000"/>
              <a:gd name="textAreaRight" fmla="*/ 10566360 w 1056600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32" h="1">
                <a:moveTo>
                  <a:pt x="0" y="0"/>
                </a:moveTo>
                <a:lnTo>
                  <a:pt x="832" y="0"/>
                </a:lnTo>
              </a:path>
            </a:pathLst>
          </a:custGeom>
          <a:noFill/>
          <a:ln cap="rnd" w="12700">
            <a:solidFill>
              <a:srgbClr val="191B1F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c1-head"/>
          <p:cNvSpPr/>
          <p:nvPr/>
        </p:nvSpPr>
        <p:spPr>
          <a:xfrm>
            <a:off x="812880" y="1778040"/>
            <a:ext cx="325080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zh-CN" sz="1400" b="1" u="none" strike="noStrike">
                <a:solidFill>
                  <a:srgbClr val="5A6270"/>
                </a:solidFill>
                <a:effectLst/>
                <a:uFillTx/>
                <a:latin typeface="Georgia"/>
                <a:ea typeface="SimSun"/>
              </a:rPr>
              <a:t>固定计算器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c1-body"/>
          <p:cNvSpPr/>
          <p:nvPr/>
        </p:nvSpPr>
        <p:spPr>
          <a:xfrm>
            <a:off x="812880" y="2108160"/>
            <a:ext cx="3250800" cy="279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zh-CN" sz="95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能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：输入完整后稳定计算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8000"/>
              </a:lnSpc>
              <a:spcBef>
                <a:spcPts val="601"/>
              </a:spcBef>
            </a:pPr>
            <a:r>
              <a:rPr lang="zh-CN" sz="95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不能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：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8000"/>
              </a:lnSpc>
            </a:pP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· 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补全缺失任务与必要追问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8000"/>
              </a:lnSpc>
            </a:pP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· 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按标的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/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市场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/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策略选数据与模型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8000"/>
              </a:lnSpc>
            </a:pP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· 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失败时降级 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Replay / DRAFT_ONLY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8000"/>
              </a:lnSpc>
            </a:pP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· 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解释 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NO_TRADE / BLOCK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vrule1"/>
          <p:cNvSpPr/>
          <p:nvPr/>
        </p:nvSpPr>
        <p:spPr>
          <a:xfrm>
            <a:off x="4267080" y="1778040"/>
            <a:ext cx="12240" cy="3149280"/>
          </a:xfrm>
          <a:custGeom>
            <a:avLst/>
            <a:gdLst>
              <a:gd name="textAreaLeft" fmla="*/ 0 w 12240"/>
              <a:gd name="textAreaRight" fmla="*/ 12600 w 12240"/>
              <a:gd name="textAreaTop" fmla="*/ 0 h 3149280"/>
              <a:gd name="textAreaBottom" fmla="*/ 3149640 h 3149280"/>
            </a:gdLst>
            <a:ahLst/>
            <a:cxnLst/>
            <a:rect l="textAreaLeft" t="textAreaTop" r="textAreaRight" b="textAreaBottom"/>
            <a:pathLst>
              <a:path w="1" h="248">
                <a:moveTo>
                  <a:pt x="0" y="0"/>
                </a:moveTo>
                <a:lnTo>
                  <a:pt x="0" y="248"/>
                </a:lnTo>
              </a:path>
            </a:pathLst>
          </a:custGeom>
          <a:noFill/>
          <a:ln cap="rnd" w="12700">
            <a:solidFill>
              <a:srgbClr val="191B1F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c2-head"/>
          <p:cNvSpPr/>
          <p:nvPr/>
        </p:nvSpPr>
        <p:spPr>
          <a:xfrm>
            <a:off x="4470480" y="1778040"/>
            <a:ext cx="325080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zh-CN" sz="1400" b="1" u="none" strike="noStrike">
                <a:solidFill>
                  <a:srgbClr val="5A6270"/>
                </a:solidFill>
                <a:effectLst/>
                <a:uFillTx/>
                <a:latin typeface="Georgia"/>
                <a:ea typeface="SimSun"/>
              </a:rPr>
              <a:t>通用 </a:t>
            </a:r>
            <a:r>
              <a:rPr lang="en-US" sz="1400" b="1" u="none" strike="noStrike">
                <a:solidFill>
                  <a:srgbClr val="5A6270"/>
                </a:solidFill>
                <a:effectLst/>
                <a:uFillTx/>
                <a:latin typeface="Georgia"/>
                <a:ea typeface="SimSun"/>
              </a:rPr>
              <a:t>LLM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c2-body"/>
          <p:cNvSpPr/>
          <p:nvPr/>
        </p:nvSpPr>
        <p:spPr>
          <a:xfrm>
            <a:off x="4470480" y="2108160"/>
            <a:ext cx="3250800" cy="279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zh-CN" sz="95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能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：理解与表达自然语言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8000"/>
              </a:lnSpc>
              <a:spcBef>
                <a:spcPts val="601"/>
              </a:spcBef>
            </a:pPr>
            <a:r>
              <a:rPr lang="zh-CN" sz="95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不能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：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8000"/>
              </a:lnSpc>
            </a:pP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· 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保证数字真实与口径正确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8000"/>
              </a:lnSpc>
            </a:pP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· 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承担账户风控与权限判断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8000"/>
              </a:lnSpc>
            </a:pP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· 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复算与追溯每个结论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vrule2"/>
          <p:cNvSpPr/>
          <p:nvPr/>
        </p:nvSpPr>
        <p:spPr>
          <a:xfrm>
            <a:off x="7924680" y="1778040"/>
            <a:ext cx="12240" cy="3149280"/>
          </a:xfrm>
          <a:custGeom>
            <a:avLst/>
            <a:gdLst>
              <a:gd name="textAreaLeft" fmla="*/ 0 w 12240"/>
              <a:gd name="textAreaRight" fmla="*/ 12600 w 12240"/>
              <a:gd name="textAreaTop" fmla="*/ 0 h 3149280"/>
              <a:gd name="textAreaBottom" fmla="*/ 3149640 h 3149280"/>
            </a:gdLst>
            <a:ahLst/>
            <a:cxnLst/>
            <a:rect l="textAreaLeft" t="textAreaTop" r="textAreaRight" b="textAreaBottom"/>
            <a:pathLst>
              <a:path w="1" h="248">
                <a:moveTo>
                  <a:pt x="0" y="0"/>
                </a:moveTo>
                <a:lnTo>
                  <a:pt x="0" y="248"/>
                </a:lnTo>
              </a:path>
            </a:pathLst>
          </a:custGeom>
          <a:noFill/>
          <a:ln cap="rnd" w="12700">
            <a:solidFill>
              <a:srgbClr val="191B1F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c3-top-rule"/>
          <p:cNvSpPr/>
          <p:nvPr/>
        </p:nvSpPr>
        <p:spPr>
          <a:xfrm>
            <a:off x="8128080" y="1778040"/>
            <a:ext cx="3250800" cy="37800"/>
          </a:xfrm>
          <a:prstGeom prst="rect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c3-head"/>
          <p:cNvSpPr/>
          <p:nvPr/>
        </p:nvSpPr>
        <p:spPr>
          <a:xfrm>
            <a:off x="8128080" y="1930320"/>
            <a:ext cx="325080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1400" b="1" u="none" strike="noStrike">
                <a:solidFill>
                  <a:srgbClr val="0E7490"/>
                </a:solidFill>
                <a:effectLst/>
                <a:uFillTx/>
                <a:latin typeface="Georgia"/>
                <a:ea typeface="SimSun"/>
              </a:rPr>
              <a:t>GOAI Agent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c3-body"/>
          <p:cNvSpPr/>
          <p:nvPr/>
        </p:nvSpPr>
        <p:spPr>
          <a:xfrm>
            <a:off x="8128080" y="2260440"/>
            <a:ext cx="3250800" cy="266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zh-CN" sz="95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分工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：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LLM 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解析场景、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8000"/>
              </a:lnSpc>
            </a:pP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编排工具、解释结果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8000"/>
              </a:lnSpc>
              <a:spcBef>
                <a:spcPts val="601"/>
              </a:spcBef>
            </a:pPr>
            <a:r>
              <a:rPr lang="zh-CN" sz="95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确定性引擎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：定价、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IV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、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8000"/>
              </a:lnSpc>
            </a:pP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Greeks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、成本、门控、审计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8000"/>
              </a:lnSpc>
              <a:spcBef>
                <a:spcPts val="601"/>
              </a:spcBef>
            </a:pPr>
            <a:r>
              <a:rPr lang="zh-CN" sz="95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异常处理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：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Live 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不可用 →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8000"/>
              </a:lnSpc>
            </a:pP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Replay / DRAFT_ONLY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，不静默切换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agent-increments"/>
          <p:cNvSpPr/>
          <p:nvPr/>
        </p:nvSpPr>
        <p:spPr>
          <a:xfrm>
            <a:off x="812880" y="4952880"/>
            <a:ext cx="1056600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Agent 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增量：自然语言补全任务 → 动态选数据与模型 → 失败降级 → 只重算受影响部分 → 解释拒绝而非只给数字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quote-rail"/>
          <p:cNvSpPr/>
          <p:nvPr/>
        </p:nvSpPr>
        <p:spPr>
          <a:xfrm>
            <a:off x="812880" y="5511960"/>
            <a:ext cx="37800" cy="583920"/>
          </a:xfrm>
          <a:prstGeom prst="rect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quote-text"/>
          <p:cNvSpPr/>
          <p:nvPr/>
        </p:nvSpPr>
        <p:spPr>
          <a:xfrm>
            <a:off x="1015920" y="5715000"/>
            <a:ext cx="1015956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Georgia"/>
                <a:ea typeface="SimSun"/>
              </a:rPr>
              <a:t>“</a:t>
            </a:r>
            <a:r>
              <a:rPr lang="en-US" sz="1350" b="1" u="none" strike="noStrike">
                <a:solidFill>
                  <a:srgbClr val="191B1F"/>
                </a:solidFill>
                <a:effectLst/>
                <a:uFillTx/>
                <a:latin typeface="Georgia"/>
                <a:ea typeface="SimSun"/>
              </a:rPr>
              <a:t>LLM </a:t>
            </a:r>
            <a:r>
              <a:rPr lang="zh-CN" sz="1350" b="1" u="none" strike="noStrike">
                <a:solidFill>
                  <a:srgbClr val="191B1F"/>
                </a:solidFill>
                <a:effectLst/>
                <a:uFillTx/>
                <a:latin typeface="Georgia"/>
                <a:ea typeface="SimSun"/>
              </a:rPr>
              <a:t>说人话，引擎说真话。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akeaway-rule"/>
          <p:cNvSpPr/>
          <p:nvPr/>
        </p:nvSpPr>
        <p:spPr>
          <a:xfrm>
            <a:off x="812880" y="6222960"/>
            <a:ext cx="10566000" cy="12240"/>
          </a:xfrm>
          <a:custGeom>
            <a:avLst/>
            <a:gdLst>
              <a:gd name="textAreaLeft" fmla="*/ 0 w 10566000"/>
              <a:gd name="textAreaRight" fmla="*/ 10566360 w 1056600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32" h="1">
                <a:moveTo>
                  <a:pt x="0" y="0"/>
                </a:moveTo>
                <a:lnTo>
                  <a:pt x="832" y="0"/>
                </a:lnTo>
              </a:path>
            </a:pathLst>
          </a:custGeom>
          <a:noFill/>
          <a:ln cap="rnd" w="12700">
            <a:solidFill>
              <a:srgbClr val="191B1F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akeaway-text"/>
          <p:cNvSpPr/>
          <p:nvPr/>
        </p:nvSpPr>
        <p:spPr>
          <a:xfrm>
            <a:off x="812880" y="6261120"/>
            <a:ext cx="105660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2000"/>
              </a:lnSpc>
            </a:pPr>
            <a:r>
              <a:rPr lang="en-US" sz="10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Agent </a:t>
            </a:r>
            <a:r>
              <a:rPr lang="zh-CN" sz="10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的价值不是会聊天，而是把「会理解」与「会算数」接成一条可降级、可解释、可审计的任务闭环。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footer-rule"/>
          <p:cNvSpPr/>
          <p:nvPr/>
        </p:nvSpPr>
        <p:spPr>
          <a:xfrm>
            <a:off x="812880" y="6654960"/>
            <a:ext cx="10566000" cy="12240"/>
          </a:xfrm>
          <a:custGeom>
            <a:avLst/>
            <a:gdLst>
              <a:gd name="textAreaLeft" fmla="*/ 0 w 10566000"/>
              <a:gd name="textAreaRight" fmla="*/ 10566360 w 1056600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32" h="1">
                <a:moveTo>
                  <a:pt x="0" y="0"/>
                </a:moveTo>
                <a:lnTo>
                  <a:pt x="832" y="0"/>
                </a:lnTo>
              </a:path>
            </a:pathLst>
          </a:custGeom>
          <a:noFill/>
          <a:ln cap="rnd" w="12700">
            <a:solidFill>
              <a:srgbClr val="191B1F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footer-left"/>
          <p:cNvSpPr/>
          <p:nvPr/>
        </p:nvSpPr>
        <p:spPr>
          <a:xfrm>
            <a:off x="812880" y="6616800"/>
            <a:ext cx="825480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来源：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docs/PRD.md §1.3 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为什么是 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Agent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footer-right"/>
          <p:cNvSpPr/>
          <p:nvPr/>
        </p:nvSpPr>
        <p:spPr>
          <a:xfrm>
            <a:off x="8940960" y="6616800"/>
            <a:ext cx="243792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18000"/>
              </a:lnSpc>
            </a:pP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09 / 16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  <p:timing>
    <p:tnLst>
      <p:par>
        <p:cTn id="861" dur="indefinite" restart="never" nodeType="tmRoot">
          <p:childTnLst>
            <p:seq>
              <p:cTn id="862" dur="indefinite" nodeType="mainSeq">
                <p:childTnLst>
                  <p:par>
                    <p:cTn id="863" fill="hold">
                      <p:stCondLst>
                        <p:cond delay="0"/>
                      </p:stCondLst>
                      <p:childTnLst>
                        <p:par>
                          <p:cTn id="864" fill="hold">
                            <p:stCondLst>
                              <p:cond delay="0"/>
                            </p:stCondLst>
                            <p:childTnLst>
                              <p:par>
                                <p:cTn id="865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867" dur="4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8" presetID="22" presetClass="entr" fill="hold" nodeType="with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870" dur="25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1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873" dur="3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4" fill="hold">
                            <p:stCondLst>
                              <p:cond delay="400"/>
                            </p:stCondLst>
                            <p:childTnLst>
                              <p:par>
                                <p:cTn id="875" presetID="34" presetClass="entr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8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877" dur="450" fill="hold"/>
                                        <p:tgtEl>
                                          <p:spTgt spid="2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8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880" dur="3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1" fill="hold">
                            <p:stCondLst>
                              <p:cond delay="930"/>
                            </p:stCondLst>
                            <p:childTnLst>
                              <p:par>
                                <p:cTn id="882" presetID="22" presetClass="entr" fill="hold" nodeType="after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884" dur="35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5" fill="hold">
                            <p:stCondLst>
                              <p:cond delay="1280"/>
                            </p:stCondLst>
                            <p:childTnLst>
                              <p:par>
                                <p:cTn id="886" presetID="10" presetClass="entr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8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888" dur="25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891" dur="3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2" fill="hold">
                            <p:stCondLst>
                              <p:cond delay="1590"/>
                            </p:stCondLst>
                            <p:childTnLst>
                              <p:par>
                                <p:cTn id="893" presetID="22" presetClass="entr" fill="hold" nodeType="after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895" dur="3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6" fill="hold">
                            <p:stCondLst>
                              <p:cond delay="1890"/>
                            </p:stCondLst>
                            <p:childTnLst>
                              <p:par>
                                <p:cTn id="897" presetID="10" presetClass="entr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8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899" dur="25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0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902" dur="3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3" fill="hold">
                            <p:stCondLst>
                              <p:cond delay="2200"/>
                            </p:stCondLst>
                            <p:childTnLst>
                              <p:par>
                                <p:cTn id="904" presetID="22" presetClass="entr" fill="hold" nodeType="after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906" dur="3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7" fill="hold">
                            <p:stCondLst>
                              <p:cond delay="2500"/>
                            </p:stCondLst>
                            <p:childTnLst>
                              <p:par>
                                <p:cTn id="908" presetID="22" presetClass="entr" fill="hold" nodeType="after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910" dur="3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1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913" dur="25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4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916" dur="35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7" fill="hold">
                            <p:stCondLst>
                              <p:cond delay="2850"/>
                            </p:stCondLst>
                            <p:childTnLst>
                              <p:par>
                                <p:cTn id="918" presetID="10" presetClass="entr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9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920" dur="3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1" fill="hold">
                            <p:stCondLst>
                              <p:cond delay="3210"/>
                            </p:stCondLst>
                            <p:childTnLst>
                              <p:par>
                                <p:cTn id="922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924" dur="3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5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927" dur="35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8" fill="hold">
                            <p:stCondLst>
                              <p:cond delay="3560"/>
                            </p:stCondLst>
                            <p:childTnLst>
                              <p:par>
                                <p:cTn id="929" presetID="22" presetClass="entr" fill="hold" nodeType="after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931" dur="3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2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934" dur="3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5" fill="hold">
                            <p:stCondLst>
                              <p:cond delay="3860"/>
                            </p:stCondLst>
                            <p:childTnLst>
                              <p:par>
                                <p:cTn id="936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938" dur="2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941" dur="25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2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944" dur="25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corner"/>
          <p:cNvSpPr/>
          <p:nvPr/>
        </p:nvSpPr>
        <p:spPr>
          <a:xfrm>
            <a:off x="10058400" y="152280"/>
            <a:ext cx="1320480" cy="73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20000"/>
              </a:lnSpc>
            </a:pPr>
            <a:r>
              <a:rPr lang="en-US" sz="4800" b="0" i="1" u="none" strike="noStrike">
                <a:solidFill>
                  <a:srgbClr val="D9D3C6"/>
                </a:solidFill>
                <a:effectLst/>
                <a:uFillTx/>
                <a:latin typeface="Georgia"/>
                <a:ea typeface="Georgia"/>
              </a:rPr>
              <a:t>10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ick"/>
          <p:cNvSpPr/>
          <p:nvPr/>
        </p:nvSpPr>
        <p:spPr>
          <a:xfrm>
            <a:off x="812880" y="558720"/>
            <a:ext cx="279000" cy="25200"/>
          </a:xfrm>
          <a:prstGeom prst="rect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9440" rIns="90000" bIns="-19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kicker"/>
          <p:cNvSpPr/>
          <p:nvPr/>
        </p:nvSpPr>
        <p:spPr>
          <a:xfrm>
            <a:off x="1219320" y="457200"/>
            <a:ext cx="761976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1050" b="1" u="none" spc="201" strike="noStrike">
                <a:solidFill>
                  <a:srgbClr val="0E7490"/>
                </a:solidFill>
                <a:effectLst/>
                <a:uFillTx/>
                <a:latin typeface="Arial"/>
                <a:ea typeface="Microsoft YaHei"/>
              </a:rPr>
              <a:t>ARCHITECTURE · 09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itle"/>
          <p:cNvSpPr/>
          <p:nvPr/>
        </p:nvSpPr>
        <p:spPr>
          <a:xfrm>
            <a:off x="812880" y="711360"/>
            <a:ext cx="1056600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2000"/>
              </a:lnSpc>
            </a:pPr>
            <a:r>
              <a:rPr lang="en-US" sz="2600" b="1" u="none" strike="noStrike">
                <a:solidFill>
                  <a:srgbClr val="191B1F"/>
                </a:solidFill>
                <a:effectLst/>
                <a:uFillTx/>
                <a:latin typeface="Georgia"/>
                <a:ea typeface="SimSun"/>
              </a:rPr>
              <a:t>Agent </a:t>
            </a:r>
            <a:r>
              <a:rPr lang="zh-CN" sz="2600" b="1" u="none" strike="noStrike">
                <a:solidFill>
                  <a:srgbClr val="191B1F"/>
                </a:solidFill>
                <a:effectLst/>
                <a:uFillTx/>
                <a:latin typeface="Georgia"/>
                <a:ea typeface="SimSun"/>
              </a:rPr>
              <a:t>只编排与解释，金融事实由受控边界产出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standfirst"/>
          <p:cNvSpPr/>
          <p:nvPr/>
        </p:nvSpPr>
        <p:spPr>
          <a:xfrm>
            <a:off x="812880" y="1270080"/>
            <a:ext cx="10566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11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调用方向自上而下；写操作被隔离在只读边界之外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header-rule"/>
          <p:cNvSpPr/>
          <p:nvPr/>
        </p:nvSpPr>
        <p:spPr>
          <a:xfrm>
            <a:off x="812880" y="1574640"/>
            <a:ext cx="10566000" cy="12240"/>
          </a:xfrm>
          <a:custGeom>
            <a:avLst/>
            <a:gdLst>
              <a:gd name="textAreaLeft" fmla="*/ 0 w 10566000"/>
              <a:gd name="textAreaRight" fmla="*/ 10566360 w 1056600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32" h="1">
                <a:moveTo>
                  <a:pt x="0" y="0"/>
                </a:moveTo>
                <a:lnTo>
                  <a:pt x="832" y="0"/>
                </a:lnTo>
              </a:path>
            </a:pathLst>
          </a:custGeom>
          <a:noFill/>
          <a:ln cap="rnd" w="12700">
            <a:solidFill>
              <a:srgbClr val="191B1F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user-node"/>
          <p:cNvSpPr/>
          <p:nvPr/>
        </p:nvSpPr>
        <p:spPr>
          <a:xfrm>
            <a:off x="812880" y="1778040"/>
            <a:ext cx="5460480" cy="431280"/>
          </a:xfrm>
          <a:prstGeom prst="rect">
            <a:avLst/>
          </a:prstGeom>
          <a:solidFill>
            <a:srgbClr val="F0EADF"/>
          </a:solidFill>
          <a:ln w="12700">
            <a:solidFill>
              <a:srgbClr val="191B1F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user-text"/>
          <p:cNvSpPr/>
          <p:nvPr/>
        </p:nvSpPr>
        <p:spPr>
          <a:xfrm>
            <a:off x="965160" y="1854360"/>
            <a:ext cx="515592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2000"/>
              </a:lnSpc>
            </a:pPr>
            <a:r>
              <a:rPr lang="zh-CN" sz="1100" b="1" u="none" strike="noStrike">
                <a:solidFill>
                  <a:srgbClr val="191B1F"/>
                </a:solidFill>
                <a:effectLst/>
                <a:uFillTx/>
                <a:latin typeface="Arial"/>
                <a:ea typeface="Microsoft YaHei"/>
              </a:rPr>
              <a:t>用户 </a:t>
            </a:r>
            <a:r>
              <a:rPr lang="en-US" sz="1100" b="1" u="none" strike="noStrike">
                <a:solidFill>
                  <a:srgbClr val="191B1F"/>
                </a:solidFill>
                <a:effectLst/>
                <a:uFillTx/>
                <a:latin typeface="Arial"/>
                <a:ea typeface="Microsoft YaHei"/>
              </a:rPr>
              <a:t>/ </a:t>
            </a:r>
            <a:r>
              <a:rPr lang="zh-CN" sz="1100" b="1" u="none" strike="noStrike">
                <a:solidFill>
                  <a:srgbClr val="191B1F"/>
                </a:solidFill>
                <a:effectLst/>
                <a:uFillTx/>
                <a:latin typeface="Arial"/>
                <a:ea typeface="Microsoft YaHei"/>
              </a:rPr>
              <a:t>四面板终端（对话 </a:t>
            </a:r>
            <a:r>
              <a:rPr lang="en-US" sz="1100" b="1" u="none" strike="noStrike">
                <a:solidFill>
                  <a:srgbClr val="191B1F"/>
                </a:solidFill>
                <a:effectLst/>
                <a:uFillTx/>
                <a:latin typeface="Arial"/>
                <a:ea typeface="Microsoft YaHei"/>
              </a:rPr>
              <a:t>· </a:t>
            </a:r>
            <a:r>
              <a:rPr lang="zh-CN" sz="1100" b="1" u="none" strike="noStrike">
                <a:solidFill>
                  <a:srgbClr val="191B1F"/>
                </a:solidFill>
                <a:effectLst/>
                <a:uFillTx/>
                <a:latin typeface="Arial"/>
                <a:ea typeface="Microsoft YaHei"/>
              </a:rPr>
              <a:t>链上 </a:t>
            </a:r>
            <a:r>
              <a:rPr lang="en-US" sz="1100" b="1" u="none" strike="noStrike">
                <a:solidFill>
                  <a:srgbClr val="191B1F"/>
                </a:solidFill>
                <a:effectLst/>
                <a:uFillTx/>
                <a:latin typeface="Arial"/>
                <a:ea typeface="Microsoft YaHei"/>
              </a:rPr>
              <a:t>· </a:t>
            </a:r>
            <a:r>
              <a:rPr lang="zh-CN" sz="1100" b="1" u="none" strike="noStrike">
                <a:solidFill>
                  <a:srgbClr val="191B1F"/>
                </a:solidFill>
                <a:effectLst/>
                <a:uFillTx/>
                <a:latin typeface="Arial"/>
                <a:ea typeface="Microsoft YaHei"/>
              </a:rPr>
              <a:t>策略账户 </a:t>
            </a:r>
            <a:r>
              <a:rPr lang="en-US" sz="1100" b="1" u="none" strike="noStrike">
                <a:solidFill>
                  <a:srgbClr val="191B1F"/>
                </a:solidFill>
                <a:effectLst/>
                <a:uFillTx/>
                <a:latin typeface="Arial"/>
                <a:ea typeface="Microsoft YaHei"/>
              </a:rPr>
              <a:t>· </a:t>
            </a:r>
            <a:r>
              <a:rPr lang="zh-CN" sz="1100" b="1" u="none" strike="noStrike">
                <a:solidFill>
                  <a:srgbClr val="191B1F"/>
                </a:solidFill>
                <a:effectLst/>
                <a:uFillTx/>
                <a:latin typeface="Arial"/>
                <a:ea typeface="Microsoft YaHei"/>
              </a:rPr>
              <a:t>事件证据）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a1"/>
          <p:cNvSpPr/>
          <p:nvPr/>
        </p:nvSpPr>
        <p:spPr>
          <a:xfrm>
            <a:off x="3479760" y="2209680"/>
            <a:ext cx="126720" cy="126720"/>
          </a:xfrm>
          <a:custGeom>
            <a:avLst/>
            <a:gdLst>
              <a:gd name="textAreaLeft" fmla="*/ 0 w 126720"/>
              <a:gd name="textAreaRight" fmla="*/ 127080 w 126720"/>
              <a:gd name="textAreaTop" fmla="*/ 0 h 126720"/>
              <a:gd name="textAreaBottom" fmla="*/ 127080 h 126720"/>
            </a:gdLst>
            <a:ahLst/>
            <a:cxnLst/>
            <a:rect l="textAreaLeft" t="textAreaTop" r="textAreaRight" b="textAreaBottom"/>
            <a:pathLst>
              <a:path w="10" h="10">
                <a:moveTo>
                  <a:pt x="5" y="0"/>
                </a:moveTo>
                <a:lnTo>
                  <a:pt x="5" y="10"/>
                </a:lnTo>
              </a:path>
            </a:pathLst>
          </a:custGeom>
          <a:noFill/>
          <a:ln cap="rnd" w="15875">
            <a:solidFill>
              <a:srgbClr val="0E7490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agent-node"/>
          <p:cNvSpPr/>
          <p:nvPr/>
        </p:nvSpPr>
        <p:spPr>
          <a:xfrm>
            <a:off x="812880" y="2336760"/>
            <a:ext cx="5460480" cy="431280"/>
          </a:xfrm>
          <a:prstGeom prst="rect">
            <a:avLst/>
          </a:prstGeom>
          <a:solidFill>
            <a:srgbClr val="F0EADF"/>
          </a:solidFill>
          <a:ln w="12700">
            <a:solidFill>
              <a:srgbClr val="191B1F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agent-text"/>
          <p:cNvSpPr/>
          <p:nvPr/>
        </p:nvSpPr>
        <p:spPr>
          <a:xfrm>
            <a:off x="965160" y="2413080"/>
            <a:ext cx="515592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2000"/>
              </a:lnSpc>
            </a:pPr>
            <a:r>
              <a:rPr lang="en-US" sz="1100" b="1" u="none" strike="noStrike">
                <a:solidFill>
                  <a:srgbClr val="191B1F"/>
                </a:solidFill>
                <a:effectLst/>
                <a:uFillTx/>
                <a:latin typeface="Arial"/>
                <a:ea typeface="Microsoft YaHei"/>
              </a:rPr>
              <a:t>Decision Agent</a:t>
            </a:r>
            <a:r>
              <a:rPr lang="zh-CN" sz="1100" b="1" u="none" strike="noStrike">
                <a:solidFill>
                  <a:srgbClr val="191B1F"/>
                </a:solidFill>
                <a:effectLst/>
                <a:uFillTx/>
                <a:latin typeface="Arial"/>
                <a:ea typeface="Microsoft YaHei"/>
              </a:rPr>
              <a:t>（场景解析 </a:t>
            </a:r>
            <a:r>
              <a:rPr lang="en-US" sz="1100" b="1" u="none" strike="noStrike">
                <a:solidFill>
                  <a:srgbClr val="191B1F"/>
                </a:solidFill>
                <a:effectLst/>
                <a:uFillTx/>
                <a:latin typeface="Arial"/>
                <a:ea typeface="Microsoft YaHei"/>
              </a:rPr>
              <a:t>· </a:t>
            </a:r>
            <a:r>
              <a:rPr lang="zh-CN" sz="1100" b="1" u="none" strike="noStrike">
                <a:solidFill>
                  <a:srgbClr val="191B1F"/>
                </a:solidFill>
                <a:effectLst/>
                <a:uFillTx/>
                <a:latin typeface="Arial"/>
                <a:ea typeface="Microsoft YaHei"/>
              </a:rPr>
              <a:t>工具编排 </a:t>
            </a:r>
            <a:r>
              <a:rPr lang="en-US" sz="1100" b="1" u="none" strike="noStrike">
                <a:solidFill>
                  <a:srgbClr val="191B1F"/>
                </a:solidFill>
                <a:effectLst/>
                <a:uFillTx/>
                <a:latin typeface="Arial"/>
                <a:ea typeface="Microsoft YaHei"/>
              </a:rPr>
              <a:t>· </a:t>
            </a:r>
            <a:r>
              <a:rPr lang="zh-CN" sz="1100" b="1" u="none" strike="noStrike">
                <a:solidFill>
                  <a:srgbClr val="191B1F"/>
                </a:solidFill>
                <a:effectLst/>
                <a:uFillTx/>
                <a:latin typeface="Arial"/>
                <a:ea typeface="Microsoft YaHei"/>
              </a:rPr>
              <a:t>解释）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a2"/>
          <p:cNvSpPr/>
          <p:nvPr/>
        </p:nvSpPr>
        <p:spPr>
          <a:xfrm>
            <a:off x="3479760" y="2768760"/>
            <a:ext cx="126720" cy="126720"/>
          </a:xfrm>
          <a:custGeom>
            <a:avLst/>
            <a:gdLst>
              <a:gd name="textAreaLeft" fmla="*/ 0 w 126720"/>
              <a:gd name="textAreaRight" fmla="*/ 127080 w 126720"/>
              <a:gd name="textAreaTop" fmla="*/ 0 h 126720"/>
              <a:gd name="textAreaBottom" fmla="*/ 127080 h 126720"/>
            </a:gdLst>
            <a:ahLst/>
            <a:cxnLst/>
            <a:rect l="textAreaLeft" t="textAreaTop" r="textAreaRight" b="textAreaBottom"/>
            <a:pathLst>
              <a:path w="10" h="10">
                <a:moveTo>
                  <a:pt x="5" y="0"/>
                </a:moveTo>
                <a:lnTo>
                  <a:pt x="5" y="10"/>
                </a:lnTo>
              </a:path>
            </a:pathLst>
          </a:custGeom>
          <a:noFill/>
          <a:ln cap="rnd" w="15875">
            <a:solidFill>
              <a:srgbClr val="0E7490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service-node"/>
          <p:cNvSpPr/>
          <p:nvPr/>
        </p:nvSpPr>
        <p:spPr>
          <a:xfrm>
            <a:off x="812880" y="2895480"/>
            <a:ext cx="5460480" cy="431280"/>
          </a:xfrm>
          <a:prstGeom prst="rect">
            <a:avLst/>
          </a:prstGeom>
          <a:solidFill>
            <a:srgbClr val="F0EADF"/>
          </a:solidFill>
          <a:ln w="12700">
            <a:solidFill>
              <a:srgbClr val="191B1F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service-text"/>
          <p:cNvSpPr/>
          <p:nvPr/>
        </p:nvSpPr>
        <p:spPr>
          <a:xfrm>
            <a:off x="965160" y="2971800"/>
            <a:ext cx="515592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2000"/>
              </a:lnSpc>
            </a:pPr>
            <a:r>
              <a:rPr lang="en-US" sz="1100" b="1" u="none" strike="noStrike">
                <a:solidFill>
                  <a:srgbClr val="191B1F"/>
                </a:solidFill>
                <a:effectLst/>
                <a:uFillTx/>
                <a:latin typeface="Arial"/>
                <a:ea typeface="Microsoft YaHei"/>
              </a:rPr>
              <a:t>DecisionInputService</a:t>
            </a:r>
            <a:r>
              <a:rPr lang="zh-CN" sz="1100" b="1" u="none" strike="noStrike">
                <a:solidFill>
                  <a:srgbClr val="191B1F"/>
                </a:solidFill>
                <a:effectLst/>
                <a:uFillTx/>
                <a:latin typeface="Arial"/>
                <a:ea typeface="Microsoft YaHei"/>
              </a:rPr>
              <a:t>（唯一只读入口 </a:t>
            </a:r>
            <a:r>
              <a:rPr lang="en-US" sz="1100" b="1" u="none" strike="noStrike">
                <a:solidFill>
                  <a:srgbClr val="191B1F"/>
                </a:solidFill>
                <a:effectLst/>
                <a:uFillTx/>
                <a:latin typeface="Arial"/>
                <a:ea typeface="Microsoft YaHei"/>
              </a:rPr>
              <a:t>refresh_decision_inputs</a:t>
            </a:r>
            <a:r>
              <a:rPr lang="zh-CN" sz="1100" b="1" u="none" strike="noStrike">
                <a:solidFill>
                  <a:srgbClr val="191B1F"/>
                </a:solidFill>
                <a:effectLst/>
                <a:uFillTx/>
                <a:latin typeface="Arial"/>
                <a:ea typeface="Microsoft YaHei"/>
              </a:rPr>
              <a:t>）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a3"/>
          <p:cNvSpPr/>
          <p:nvPr/>
        </p:nvSpPr>
        <p:spPr>
          <a:xfrm>
            <a:off x="3479760" y="3327480"/>
            <a:ext cx="126720" cy="126720"/>
          </a:xfrm>
          <a:custGeom>
            <a:avLst/>
            <a:gdLst>
              <a:gd name="textAreaLeft" fmla="*/ 0 w 126720"/>
              <a:gd name="textAreaRight" fmla="*/ 127080 w 126720"/>
              <a:gd name="textAreaTop" fmla="*/ 0 h 126720"/>
              <a:gd name="textAreaBottom" fmla="*/ 127080 h 126720"/>
            </a:gdLst>
            <a:ahLst/>
            <a:cxnLst/>
            <a:rect l="textAreaLeft" t="textAreaTop" r="textAreaRight" b="textAreaBottom"/>
            <a:pathLst>
              <a:path w="10" h="10">
                <a:moveTo>
                  <a:pt x="5" y="0"/>
                </a:moveTo>
                <a:lnTo>
                  <a:pt x="5" y="10"/>
                </a:lnTo>
              </a:path>
            </a:pathLst>
          </a:custGeom>
          <a:noFill/>
          <a:ln cap="rnd" w="15875">
            <a:solidFill>
              <a:srgbClr val="0E7490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gateway-node"/>
          <p:cNvSpPr/>
          <p:nvPr/>
        </p:nvSpPr>
        <p:spPr>
          <a:xfrm>
            <a:off x="812880" y="3454560"/>
            <a:ext cx="5460480" cy="431280"/>
          </a:xfrm>
          <a:prstGeom prst="rect">
            <a:avLst/>
          </a:prstGeom>
          <a:solidFill>
            <a:srgbClr val="F0EADF"/>
          </a:solidFill>
          <a:ln w="12700">
            <a:solidFill>
              <a:srgbClr val="191B1F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gateway-text"/>
          <p:cNvSpPr/>
          <p:nvPr/>
        </p:nvSpPr>
        <p:spPr>
          <a:xfrm>
            <a:off x="965160" y="3530520"/>
            <a:ext cx="515592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2000"/>
              </a:lnSpc>
            </a:pPr>
            <a:r>
              <a:rPr lang="en-US" sz="1100" b="1" u="none" strike="noStrike">
                <a:solidFill>
                  <a:srgbClr val="191B1F"/>
                </a:solidFill>
                <a:effectLst/>
                <a:uFillTx/>
                <a:latin typeface="Arial"/>
                <a:ea typeface="Microsoft YaHei"/>
              </a:rPr>
              <a:t>Gateway</a:t>
            </a:r>
            <a:r>
              <a:rPr lang="zh-CN" sz="1100" b="1" u="none" strike="noStrike">
                <a:solidFill>
                  <a:srgbClr val="191B1F"/>
                </a:solidFill>
                <a:effectLst/>
                <a:uFillTx/>
                <a:latin typeface="Arial"/>
                <a:ea typeface="Microsoft YaHei"/>
              </a:rPr>
              <a:t>：</a:t>
            </a:r>
            <a:r>
              <a:rPr lang="en-US" sz="1100" b="1" u="none" strike="noStrike">
                <a:solidFill>
                  <a:srgbClr val="191B1F"/>
                </a:solidFill>
                <a:effectLst/>
                <a:uFillTx/>
                <a:latin typeface="Arial"/>
                <a:ea typeface="Microsoft YaHei"/>
              </a:rPr>
              <a:t>FutuLiveGateway / ReplayGateway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a4"/>
          <p:cNvSpPr/>
          <p:nvPr/>
        </p:nvSpPr>
        <p:spPr>
          <a:xfrm>
            <a:off x="3479760" y="3886200"/>
            <a:ext cx="126720" cy="126720"/>
          </a:xfrm>
          <a:custGeom>
            <a:avLst/>
            <a:gdLst>
              <a:gd name="textAreaLeft" fmla="*/ 0 w 126720"/>
              <a:gd name="textAreaRight" fmla="*/ 127080 w 126720"/>
              <a:gd name="textAreaTop" fmla="*/ 0 h 126720"/>
              <a:gd name="textAreaBottom" fmla="*/ 127080 h 126720"/>
            </a:gdLst>
            <a:ahLst/>
            <a:cxnLst/>
            <a:rect l="textAreaLeft" t="textAreaTop" r="textAreaRight" b="textAreaBottom"/>
            <a:pathLst>
              <a:path w="10" h="10">
                <a:moveTo>
                  <a:pt x="5" y="0"/>
                </a:moveTo>
                <a:lnTo>
                  <a:pt x="5" y="10"/>
                </a:lnTo>
              </a:path>
            </a:pathLst>
          </a:custGeom>
          <a:noFill/>
          <a:ln cap="rnd" w="15875">
            <a:solidFill>
              <a:srgbClr val="0E7490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engine-node"/>
          <p:cNvSpPr/>
          <p:nvPr/>
        </p:nvSpPr>
        <p:spPr>
          <a:xfrm>
            <a:off x="812880" y="4013280"/>
            <a:ext cx="5460480" cy="431280"/>
          </a:xfrm>
          <a:prstGeom prst="rect">
            <a:avLst/>
          </a:prstGeom>
          <a:solidFill>
            <a:srgbClr val="F0EADF"/>
          </a:solidFill>
          <a:ln w="12700">
            <a:solidFill>
              <a:srgbClr val="191B1F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engine-text"/>
          <p:cNvSpPr/>
          <p:nvPr/>
        </p:nvSpPr>
        <p:spPr>
          <a:xfrm>
            <a:off x="965160" y="4089240"/>
            <a:ext cx="515592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2000"/>
              </a:lnSpc>
            </a:pPr>
            <a:r>
              <a:rPr lang="zh-CN" sz="1100" b="1" u="none" strike="noStrike">
                <a:solidFill>
                  <a:srgbClr val="191B1F"/>
                </a:solidFill>
                <a:effectLst/>
                <a:uFillTx/>
                <a:latin typeface="Arial"/>
                <a:ea typeface="Microsoft YaHei"/>
              </a:rPr>
              <a:t>自研引擎：规格 → 定价</a:t>
            </a:r>
            <a:r>
              <a:rPr lang="en-US" sz="1100" b="1" u="none" strike="noStrike">
                <a:solidFill>
                  <a:srgbClr val="191B1F"/>
                </a:solidFill>
                <a:effectLst/>
                <a:uFillTx/>
                <a:latin typeface="Arial"/>
                <a:ea typeface="Microsoft YaHei"/>
              </a:rPr>
              <a:t>/IV/Greeks → </a:t>
            </a:r>
            <a:r>
              <a:rPr lang="zh-CN" sz="1100" b="1" u="none" strike="noStrike">
                <a:solidFill>
                  <a:srgbClr val="191B1F"/>
                </a:solidFill>
                <a:effectLst/>
                <a:uFillTx/>
                <a:latin typeface="Arial"/>
                <a:ea typeface="Microsoft YaHei"/>
              </a:rPr>
              <a:t>可成交成本 → 门控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a5"/>
          <p:cNvSpPr/>
          <p:nvPr/>
        </p:nvSpPr>
        <p:spPr>
          <a:xfrm>
            <a:off x="3479760" y="4444920"/>
            <a:ext cx="126720" cy="126720"/>
          </a:xfrm>
          <a:custGeom>
            <a:avLst/>
            <a:gdLst>
              <a:gd name="textAreaLeft" fmla="*/ 0 w 126720"/>
              <a:gd name="textAreaRight" fmla="*/ 127080 w 126720"/>
              <a:gd name="textAreaTop" fmla="*/ 0 h 126720"/>
              <a:gd name="textAreaBottom" fmla="*/ 127080 h 126720"/>
            </a:gdLst>
            <a:ahLst/>
            <a:cxnLst/>
            <a:rect l="textAreaLeft" t="textAreaTop" r="textAreaRight" b="textAreaBottom"/>
            <a:pathLst>
              <a:path w="10" h="10">
                <a:moveTo>
                  <a:pt x="5" y="0"/>
                </a:moveTo>
                <a:lnTo>
                  <a:pt x="5" y="10"/>
                </a:lnTo>
              </a:path>
            </a:pathLst>
          </a:custGeom>
          <a:noFill/>
          <a:ln cap="rnd" w="15875">
            <a:solidFill>
              <a:srgbClr val="0E7490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audit-node"/>
          <p:cNvSpPr/>
          <p:nvPr/>
        </p:nvSpPr>
        <p:spPr>
          <a:xfrm>
            <a:off x="812880" y="4572000"/>
            <a:ext cx="5460480" cy="431280"/>
          </a:xfrm>
          <a:prstGeom prst="rect">
            <a:avLst/>
          </a:prstGeom>
          <a:solidFill>
            <a:srgbClr val="191B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audit-text"/>
          <p:cNvSpPr/>
          <p:nvPr/>
        </p:nvSpPr>
        <p:spPr>
          <a:xfrm>
            <a:off x="965160" y="4648320"/>
            <a:ext cx="515592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2000"/>
              </a:lnSpc>
            </a:pPr>
            <a:r>
              <a:rPr lang="zh-CN" sz="1100" b="1" u="none" strike="noStrike">
                <a:solidFill>
                  <a:srgbClr val="F7F4ED"/>
                </a:solidFill>
                <a:effectLst/>
                <a:uFillTx/>
                <a:latin typeface="Arial"/>
                <a:ea typeface="Microsoft YaHei"/>
              </a:rPr>
              <a:t>审计链：</a:t>
            </a:r>
            <a:r>
              <a:rPr lang="en-US" sz="1100" b="1" u="none" strike="noStrike">
                <a:solidFill>
                  <a:srgbClr val="F7F4ED"/>
                </a:solidFill>
                <a:effectLst/>
                <a:uFillTx/>
                <a:latin typeface="Arial"/>
                <a:ea typeface="Microsoft YaHei"/>
              </a:rPr>
              <a:t>JSONL + SHA-256</a:t>
            </a:r>
            <a:r>
              <a:rPr lang="zh-CN" sz="1100" b="1" u="none" strike="noStrike">
                <a:solidFill>
                  <a:srgbClr val="F7F4ED"/>
                </a:solidFill>
                <a:effectLst/>
                <a:uFillTx/>
                <a:latin typeface="Arial"/>
                <a:ea typeface="Microsoft YaHei"/>
              </a:rPr>
              <a:t>（决策卡 </a:t>
            </a:r>
            <a:r>
              <a:rPr lang="en-US" sz="1100" b="1" u="none" strike="noStrike">
                <a:solidFill>
                  <a:srgbClr val="F7F4ED"/>
                </a:solidFill>
                <a:effectLst/>
                <a:uFillTx/>
                <a:latin typeface="Arial"/>
                <a:ea typeface="Microsoft YaHei"/>
              </a:rPr>
              <a:t>/ </a:t>
            </a:r>
            <a:r>
              <a:rPr lang="zh-CN" sz="1100" b="1" u="none" strike="noStrike">
                <a:solidFill>
                  <a:srgbClr val="F7F4ED"/>
                </a:solidFill>
                <a:effectLst/>
                <a:uFillTx/>
                <a:latin typeface="Arial"/>
                <a:ea typeface="Microsoft YaHei"/>
              </a:rPr>
              <a:t>审计日志）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note1-title"/>
          <p:cNvSpPr/>
          <p:nvPr/>
        </p:nvSpPr>
        <p:spPr>
          <a:xfrm>
            <a:off x="6730920" y="1778040"/>
            <a:ext cx="464796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2000"/>
              </a:lnSpc>
            </a:pPr>
            <a:r>
              <a:rPr lang="en-US" sz="1100" b="1" u="none" strike="noStrike">
                <a:solidFill>
                  <a:srgbClr val="191B1F"/>
                </a:solidFill>
                <a:effectLst/>
                <a:uFillTx/>
                <a:latin typeface="Arial"/>
                <a:ea typeface="Microsoft YaHei"/>
              </a:rPr>
              <a:t>LLM </a:t>
            </a:r>
            <a:r>
              <a:rPr lang="zh-CN" sz="1100" b="1" u="none" strike="noStrike">
                <a:solidFill>
                  <a:srgbClr val="191B1F"/>
                </a:solidFill>
                <a:effectLst/>
                <a:uFillTx/>
                <a:latin typeface="Arial"/>
                <a:ea typeface="Microsoft YaHei"/>
              </a:rPr>
              <a:t>隔离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note1-body"/>
          <p:cNvSpPr/>
          <p:nvPr/>
        </p:nvSpPr>
        <p:spPr>
          <a:xfrm>
            <a:off x="6730920" y="2006640"/>
            <a:ext cx="464796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不接触 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SDK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、账户密钥与订单工具；只能调用只读入口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note2-title"/>
          <p:cNvSpPr/>
          <p:nvPr/>
        </p:nvSpPr>
        <p:spPr>
          <a:xfrm>
            <a:off x="6730920" y="2438280"/>
            <a:ext cx="464796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2000"/>
              </a:lnSpc>
            </a:pPr>
            <a:r>
              <a:rPr lang="zh-CN" sz="1100" b="1" u="none" strike="noStrike">
                <a:solidFill>
                  <a:srgbClr val="191B1F"/>
                </a:solidFill>
                <a:effectLst/>
                <a:uFillTx/>
                <a:latin typeface="Arial"/>
                <a:ea typeface="Microsoft YaHei"/>
              </a:rPr>
              <a:t>失败路径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note2-body"/>
          <p:cNvSpPr/>
          <p:nvPr/>
        </p:nvSpPr>
        <p:spPr>
          <a:xfrm>
            <a:off x="6730920" y="2666880"/>
            <a:ext cx="464796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Live 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不可用 → 明确进入 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Replay / DRAFT_ONLY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，不静默切换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note3-title"/>
          <p:cNvSpPr/>
          <p:nvPr/>
        </p:nvSpPr>
        <p:spPr>
          <a:xfrm>
            <a:off x="6730920" y="3098880"/>
            <a:ext cx="464796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2000"/>
              </a:lnSpc>
            </a:pPr>
            <a:r>
              <a:rPr lang="zh-CN" sz="1100" b="1" u="none" strike="noStrike">
                <a:solidFill>
                  <a:srgbClr val="191B1F"/>
                </a:solidFill>
                <a:effectLst/>
                <a:uFillTx/>
                <a:latin typeface="Arial"/>
                <a:ea typeface="Microsoft YaHei"/>
              </a:rPr>
              <a:t>一致性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note3-body"/>
          <p:cNvSpPr/>
          <p:nvPr/>
        </p:nvSpPr>
        <p:spPr>
          <a:xfrm>
            <a:off x="6730920" y="3327480"/>
            <a:ext cx="464796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Replay 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固定 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as_of_utc + 60 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秒一致性窗口；快照 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SHA-256 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校验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readonly-box"/>
          <p:cNvSpPr/>
          <p:nvPr/>
        </p:nvSpPr>
        <p:spPr>
          <a:xfrm>
            <a:off x="6603840" y="3759120"/>
            <a:ext cx="4774680" cy="812520"/>
          </a:xfrm>
          <a:prstGeom prst="rect">
            <a:avLst/>
          </a:prstGeom>
          <a:solidFill>
            <a:srgbClr val="E3F2F6"/>
          </a:solidFill>
          <a:ln w="15875">
            <a:solidFill>
              <a:srgbClr val="0E7490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note4-title"/>
          <p:cNvSpPr/>
          <p:nvPr/>
        </p:nvSpPr>
        <p:spPr>
          <a:xfrm>
            <a:off x="6807240" y="3860640"/>
            <a:ext cx="436860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2000"/>
              </a:lnSpc>
            </a:pPr>
            <a:r>
              <a:rPr lang="zh-CN" sz="1100" b="1" u="none" strike="noStrike">
                <a:solidFill>
                  <a:srgbClr val="0E7490"/>
                </a:solidFill>
                <a:effectLst/>
                <a:uFillTx/>
                <a:latin typeface="Arial"/>
                <a:ea typeface="Microsoft YaHei"/>
              </a:rPr>
              <a:t>只读边界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note4-body"/>
          <p:cNvSpPr/>
          <p:nvPr/>
        </p:nvSpPr>
        <p:spPr>
          <a:xfrm>
            <a:off x="6807240" y="4089240"/>
            <a:ext cx="436860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Gateway 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无下单、改单、撤单或解锁方法；写操作需独立确认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note5-title"/>
          <p:cNvSpPr/>
          <p:nvPr/>
        </p:nvSpPr>
        <p:spPr>
          <a:xfrm>
            <a:off x="6730920" y="4724280"/>
            <a:ext cx="464796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2000"/>
              </a:lnSpc>
            </a:pPr>
            <a:r>
              <a:rPr lang="zh-CN" sz="1100" b="1" u="none" strike="noStrike">
                <a:solidFill>
                  <a:srgbClr val="191B1F"/>
                </a:solidFill>
                <a:effectLst/>
                <a:uFillTx/>
                <a:latin typeface="Arial"/>
                <a:ea typeface="Microsoft YaHei"/>
              </a:rPr>
              <a:t>可复算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note5-body"/>
          <p:cNvSpPr/>
          <p:nvPr/>
        </p:nvSpPr>
        <p:spPr>
          <a:xfrm>
            <a:off x="6730920" y="4952880"/>
            <a:ext cx="464796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同一冻结输入连续运行结果一致；数字可回到引擎输入与快照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akeaway-rule"/>
          <p:cNvSpPr/>
          <p:nvPr/>
        </p:nvSpPr>
        <p:spPr>
          <a:xfrm>
            <a:off x="812880" y="5562720"/>
            <a:ext cx="10566000" cy="12240"/>
          </a:xfrm>
          <a:custGeom>
            <a:avLst/>
            <a:gdLst>
              <a:gd name="textAreaLeft" fmla="*/ 0 w 10566000"/>
              <a:gd name="textAreaRight" fmla="*/ 10566360 w 1056600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32" h="1">
                <a:moveTo>
                  <a:pt x="0" y="0"/>
                </a:moveTo>
                <a:lnTo>
                  <a:pt x="832" y="0"/>
                </a:lnTo>
              </a:path>
            </a:pathLst>
          </a:custGeom>
          <a:noFill/>
          <a:ln cap="rnd" w="12700">
            <a:solidFill>
              <a:srgbClr val="191B1F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akeaway-text"/>
          <p:cNvSpPr/>
          <p:nvPr/>
        </p:nvSpPr>
        <p:spPr>
          <a:xfrm>
            <a:off x="812880" y="5600880"/>
            <a:ext cx="105660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2000"/>
              </a:lnSpc>
            </a:pPr>
            <a:r>
              <a:rPr lang="zh-CN" sz="10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「</a:t>
            </a:r>
            <a:r>
              <a:rPr lang="en-US" sz="10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LLM </a:t>
            </a:r>
            <a:r>
              <a:rPr lang="zh-CN" sz="10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说人话，引擎说真话。」写操作被隔离在只读边界之外，每次运行都留审计记录。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footer-rule"/>
          <p:cNvSpPr/>
          <p:nvPr/>
        </p:nvSpPr>
        <p:spPr>
          <a:xfrm>
            <a:off x="812880" y="6654960"/>
            <a:ext cx="10566000" cy="12240"/>
          </a:xfrm>
          <a:custGeom>
            <a:avLst/>
            <a:gdLst>
              <a:gd name="textAreaLeft" fmla="*/ 0 w 10566000"/>
              <a:gd name="textAreaRight" fmla="*/ 10566360 w 1056600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32" h="1">
                <a:moveTo>
                  <a:pt x="0" y="0"/>
                </a:moveTo>
                <a:lnTo>
                  <a:pt x="832" y="0"/>
                </a:lnTo>
              </a:path>
            </a:pathLst>
          </a:custGeom>
          <a:noFill/>
          <a:ln cap="rnd" w="12700">
            <a:solidFill>
              <a:srgbClr val="191B1F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footer-left"/>
          <p:cNvSpPr/>
          <p:nvPr/>
        </p:nvSpPr>
        <p:spPr>
          <a:xfrm>
            <a:off x="812880" y="6616800"/>
            <a:ext cx="825480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实现：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src/gateway.py · decision_inputs.py · pricing_engine.py · decision_pipeline.py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footer-right"/>
          <p:cNvSpPr/>
          <p:nvPr/>
        </p:nvSpPr>
        <p:spPr>
          <a:xfrm>
            <a:off x="8940960" y="6616800"/>
            <a:ext cx="243792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18000"/>
              </a:lnSpc>
            </a:pP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10 / 16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  <p:timing>
    <p:tnLst>
      <p:par>
        <p:cTn id="945" dur="indefinite" restart="never" nodeType="tmRoot">
          <p:childTnLst>
            <p:seq>
              <p:cTn id="946" dur="indefinite" nodeType="mainSeq">
                <p:childTnLst>
                  <p:par>
                    <p:cTn id="947" fill="hold">
                      <p:stCondLst>
                        <p:cond delay="0"/>
                      </p:stCondLst>
                      <p:childTnLst>
                        <p:par>
                          <p:cTn id="948" fill="hold">
                            <p:stCondLst>
                              <p:cond delay="0"/>
                            </p:stCondLst>
                            <p:childTnLst>
                              <p:par>
                                <p:cTn id="949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951" dur="4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2" presetID="22" presetClass="entr" fill="hold" nodeType="with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954" dur="25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5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957" dur="3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8" fill="hold">
                            <p:stCondLst>
                              <p:cond delay="400"/>
                            </p:stCondLst>
                            <p:childTnLst>
                              <p:par>
                                <p:cTn id="959" presetID="34" presetClass="entr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9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961" dur="450" fill="hold"/>
                                        <p:tgtEl>
                                          <p:spTgt spid="2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2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964" dur="3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5" fill="hold">
                            <p:stCondLst>
                              <p:cond delay="930"/>
                            </p:stCondLst>
                            <p:childTnLst>
                              <p:par>
                                <p:cTn id="966" presetID="22" presetClass="entr" fill="hold" nodeType="after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968" dur="35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9" fill="hold">
                            <p:stCondLst>
                              <p:cond delay="1280"/>
                            </p:stCondLst>
                            <p:childTnLst>
                              <p:par>
                                <p:cTn id="970" presetID="10" presetClass="entr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9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972" dur="3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3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975" dur="25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6" fill="hold">
                            <p:stCondLst>
                              <p:cond delay="1640"/>
                            </p:stCondLst>
                            <p:childTnLst>
                              <p:par>
                                <p:cTn id="977" presetID="22" presetClass="entr" fill="hold" nodeType="after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979" dur="2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0" fill="hold">
                            <p:stCondLst>
                              <p:cond delay="1840"/>
                            </p:stCondLst>
                            <p:childTnLst>
                              <p:par>
                                <p:cTn id="981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983" dur="3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4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986" dur="25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7" fill="hold">
                            <p:stCondLst>
                              <p:cond delay="2140"/>
                            </p:stCondLst>
                            <p:childTnLst>
                              <p:par>
                                <p:cTn id="988" presetID="22" presetClass="entr" fill="hold" nodeType="after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990" dur="2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1" fill="hold">
                            <p:stCondLst>
                              <p:cond delay="2340"/>
                            </p:stCondLst>
                            <p:childTnLst>
                              <p:par>
                                <p:cTn id="992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994" dur="3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5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997" dur="25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8" fill="hold">
                            <p:stCondLst>
                              <p:cond delay="2640"/>
                            </p:stCondLst>
                            <p:childTnLst>
                              <p:par>
                                <p:cTn id="999" presetID="22" presetClass="entr" fill="hold" nodeType="after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01" dur="2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2" fill="hold">
                            <p:stCondLst>
                              <p:cond delay="2840"/>
                            </p:stCondLst>
                            <p:childTnLst>
                              <p:par>
                                <p:cTn id="1003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005" dur="3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6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008" dur="25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9" fill="hold">
                            <p:stCondLst>
                              <p:cond delay="3140"/>
                            </p:stCondLst>
                            <p:childTnLst>
                              <p:par>
                                <p:cTn id="1010" presetID="22" presetClass="entr" fill="hold" nodeType="after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12" dur="2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3" fill="hold">
                            <p:stCondLst>
                              <p:cond delay="3340"/>
                            </p:stCondLst>
                            <p:childTnLst>
                              <p:par>
                                <p:cTn id="1014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016" dur="3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7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019" dur="25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0" fill="hold">
                            <p:stCondLst>
                              <p:cond delay="3640"/>
                            </p:stCondLst>
                            <p:childTnLst>
                              <p:par>
                                <p:cTn id="1021" presetID="22" presetClass="entr" fill="hold" nodeType="after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23" dur="2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4" fill="hold">
                            <p:stCondLst>
                              <p:cond delay="3840"/>
                            </p:stCondLst>
                            <p:childTnLst>
                              <p:par>
                                <p:cTn id="1025" presetID="23" presetClass="entr" fill="hold" nodeType="after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027" dur="350" fill="hold"/>
                                        <p:tgtEl>
                                          <p:spTgt spid="2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28" dur="350" fill="hold"/>
                                        <p:tgtEl>
                                          <p:spTgt spid="2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29" dur="350" fill="hold"/>
                                        <p:tgtEl>
                                          <p:spTgt spid="2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30" dur="350" fill="hold"/>
                                        <p:tgtEl>
                                          <p:spTgt spid="2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1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033" dur="25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4" fill="hold">
                            <p:stCondLst>
                              <p:cond delay="4190"/>
                            </p:stCondLst>
                            <p:childTnLst>
                              <p:par>
                                <p:cTn id="1035" presetID="10" presetClass="entr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0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037" dur="25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8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040" dur="25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1" fill="hold">
                            <p:stCondLst>
                              <p:cond delay="4500"/>
                            </p:stCondLst>
                            <p:childTnLst>
                              <p:par>
                                <p:cTn id="1042" presetID="10" presetClass="entr" fill="hold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0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044" dur="2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5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047" dur="25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8" fill="hold">
                            <p:stCondLst>
                              <p:cond delay="4750"/>
                            </p:stCondLst>
                            <p:childTnLst>
                              <p:par>
                                <p:cTn id="1049" presetID="10" presetClass="entr" fill="hold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0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051" dur="2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2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054" dur="25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5" fill="hold">
                            <p:stCondLst>
                              <p:cond delay="5000"/>
                            </p:stCondLst>
                            <p:childTnLst>
                              <p:par>
                                <p:cTn id="1056" presetID="23" presetClass="entr" fill="hold" nodeType="afterEffect" presetSubtype="16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0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058" dur="350" fill="hold"/>
                                        <p:tgtEl>
                                          <p:spTgt spid="3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59" dur="350" fill="hold"/>
                                        <p:tgtEl>
                                          <p:spTgt spid="3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60" dur="350" fill="hold"/>
                                        <p:tgtEl>
                                          <p:spTgt spid="3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61" dur="350" fill="hold"/>
                                        <p:tgtEl>
                                          <p:spTgt spid="3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2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064" dur="25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5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067" dur="25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8" fill="hold">
                            <p:stCondLst>
                              <p:cond delay="5390"/>
                            </p:stCondLst>
                            <p:childTnLst>
                              <p:par>
                                <p:cTn id="1069" presetID="10" presetClass="entr" fill="hold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0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071" dur="2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2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074" dur="25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5" fill="hold">
                            <p:stCondLst>
                              <p:cond delay="5640"/>
                            </p:stCondLst>
                            <p:childTnLst>
                              <p:par>
                                <p:cTn id="1076" presetID="22" presetClass="entr" fill="hold" nodeType="after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1078" dur="3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081" dur="3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2" fill="hold">
                            <p:stCondLst>
                              <p:cond delay="5940"/>
                            </p:stCondLst>
                            <p:childTnLst>
                              <p:par>
                                <p:cTn id="1083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085" dur="2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6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088" dur="25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091" dur="25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corner"/>
          <p:cNvSpPr/>
          <p:nvPr/>
        </p:nvSpPr>
        <p:spPr>
          <a:xfrm>
            <a:off x="10058400" y="152280"/>
            <a:ext cx="1320480" cy="73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20000"/>
              </a:lnSpc>
            </a:pPr>
            <a:r>
              <a:rPr lang="en-US" sz="4800" b="0" i="1" u="none" strike="noStrike">
                <a:solidFill>
                  <a:srgbClr val="D9D3C6"/>
                </a:solidFill>
                <a:effectLst/>
                <a:uFillTx/>
                <a:latin typeface="Georgia"/>
                <a:ea typeface="Georgia"/>
              </a:rPr>
              <a:t>11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ick"/>
          <p:cNvSpPr/>
          <p:nvPr/>
        </p:nvSpPr>
        <p:spPr>
          <a:xfrm>
            <a:off x="812880" y="558720"/>
            <a:ext cx="279000" cy="25200"/>
          </a:xfrm>
          <a:prstGeom prst="rect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9440" rIns="90000" bIns="-19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6" name="kicker"/>
          <p:cNvSpPr/>
          <p:nvPr/>
        </p:nvSpPr>
        <p:spPr>
          <a:xfrm>
            <a:off x="1219320" y="457200"/>
            <a:ext cx="761976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1050" b="1" u="none" spc="201" strike="noStrike">
                <a:solidFill>
                  <a:srgbClr val="0E7490"/>
                </a:solidFill>
                <a:effectLst/>
                <a:uFillTx/>
                <a:latin typeface="Arial"/>
                <a:ea typeface="Microsoft YaHei"/>
              </a:rPr>
              <a:t>TRUST &amp; AUDIT · 10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itle"/>
          <p:cNvSpPr/>
          <p:nvPr/>
        </p:nvSpPr>
        <p:spPr>
          <a:xfrm>
            <a:off x="812880" y="711360"/>
            <a:ext cx="1056600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2000"/>
              </a:lnSpc>
            </a:pPr>
            <a:r>
              <a:rPr lang="zh-CN" sz="2600" b="1" u="none" strike="noStrike">
                <a:solidFill>
                  <a:srgbClr val="191B1F"/>
                </a:solidFill>
                <a:effectLst/>
                <a:uFillTx/>
                <a:latin typeface="Georgia"/>
                <a:ea typeface="SimSun"/>
              </a:rPr>
              <a:t>数据分层可信，结论哈希可复核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standfirst"/>
          <p:cNvSpPr/>
          <p:nvPr/>
        </p:nvSpPr>
        <p:spPr>
          <a:xfrm>
            <a:off x="812880" y="1270080"/>
            <a:ext cx="10566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11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对应赛道评审口径：数据来源 </a:t>
            </a:r>
            <a:r>
              <a:rPr lang="en-US" sz="11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· </a:t>
            </a:r>
            <a:r>
              <a:rPr lang="zh-CN" sz="11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隐私保护 </a:t>
            </a:r>
            <a:r>
              <a:rPr lang="en-US" sz="11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· </a:t>
            </a:r>
            <a:r>
              <a:rPr lang="zh-CN" sz="11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审计与可复算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header-rule"/>
          <p:cNvSpPr/>
          <p:nvPr/>
        </p:nvSpPr>
        <p:spPr>
          <a:xfrm>
            <a:off x="812880" y="1574640"/>
            <a:ext cx="10566000" cy="12240"/>
          </a:xfrm>
          <a:custGeom>
            <a:avLst/>
            <a:gdLst>
              <a:gd name="textAreaLeft" fmla="*/ 0 w 10566000"/>
              <a:gd name="textAreaRight" fmla="*/ 10566360 w 1056600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32" h="1">
                <a:moveTo>
                  <a:pt x="0" y="0"/>
                </a:moveTo>
                <a:lnTo>
                  <a:pt x="832" y="0"/>
                </a:lnTo>
              </a:path>
            </a:pathLst>
          </a:custGeom>
          <a:noFill/>
          <a:ln cap="rnd" w="12700">
            <a:solidFill>
              <a:srgbClr val="191B1F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20" name="source-table"/>
          <p:cNvGraphicFramePr/>
          <p:nvPr/>
        </p:nvGraphicFramePr>
        <p:xfrm>
          <a:off x="812880" y="1778040"/>
          <a:ext cx="7111800" cy="3403080"/>
        </p:xfrm>
        <a:graphic>
          <a:graphicData uri="http://schemas.openxmlformats.org/drawingml/2006/table">
            <a:tbl>
              <a:tblPr/>
              <a:tblGrid>
                <a:gridCol w="2275560"/>
                <a:gridCol w="2417760"/>
                <a:gridCol w="2417760"/>
              </a:tblGrid>
              <a:tr h="3402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1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数字类型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91B1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1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产出者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91B1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1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证据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91B1F"/>
                      </a:solidFill>
                      <a:prstDash val="solid"/>
                    </a:lnB>
                    <a:noFill/>
                  </a:tcPr>
                </a:tc>
              </a:tr>
              <a:tr h="61236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行情 </a:t>
                      </a:r>
                      <a:r>
                        <a:rPr lang="en-US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/ </a:t>
                      </a:r>
                      <a:r>
                        <a:rPr lang="zh-CN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盘口 </a:t>
                      </a:r>
                      <a:r>
                        <a:rPr lang="en-US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/ IV / OI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91B1F">
                          <a:alpha val="32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en-US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Futu OpenAPI / </a:t>
                      </a:r>
                      <a:r>
                        <a:rPr lang="zh-CN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冻结快照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91B1F">
                          <a:alpha val="32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快照 </a:t>
                      </a:r>
                      <a:r>
                        <a:rPr lang="en-US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SHA-256 + </a:t>
                      </a:r>
                      <a:r>
                        <a:rPr lang="zh-CN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时间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91B1F">
                          <a:alpha val="32"/>
                        </a:srgbClr>
                      </a:solidFill>
                      <a:prstDash val="solid"/>
                    </a:lnB>
                    <a:noFill/>
                  </a:tcPr>
                </a:tc>
              </a:tr>
              <a:tr h="61236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理论价值 </a:t>
                      </a:r>
                      <a:r>
                        <a:rPr lang="en-US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/ IV / Greeks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91B1F">
                          <a:alpha val="32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自研 </a:t>
                      </a:r>
                      <a:r>
                        <a:rPr lang="en-US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BS + </a:t>
                      </a:r>
                      <a:r>
                        <a:rPr lang="zh-CN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二叉树 </a:t>
                      </a:r>
                      <a:r>
                        <a:rPr lang="en-US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+ bump-and-reprice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91B1F">
                          <a:alpha val="32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引擎版本 </a:t>
                      </a:r>
                      <a:r>
                        <a:rPr lang="en-US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+ </a:t>
                      </a:r>
                      <a:r>
                        <a:rPr lang="zh-CN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输入参数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91B1F">
                          <a:alpha val="32"/>
                        </a:srgbClr>
                      </a:solidFill>
                      <a:prstDash val="solid"/>
                    </a:lnB>
                    <a:noFill/>
                  </a:tcPr>
                </a:tc>
              </a:tr>
              <a:tr h="61236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可成交成本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91B1F">
                          <a:alpha val="32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引擎（</a:t>
                      </a:r>
                      <a:r>
                        <a:rPr lang="en-US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bid/ask + </a:t>
                      </a:r>
                      <a:r>
                        <a:rPr lang="zh-CN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费用 </a:t>
                      </a:r>
                      <a:r>
                        <a:rPr lang="en-US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+ </a:t>
                      </a:r>
                      <a:r>
                        <a:rPr lang="zh-CN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滑点 </a:t>
                      </a:r>
                      <a:r>
                        <a:rPr lang="en-US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+ tick</a:t>
                      </a:r>
                      <a:r>
                        <a:rPr lang="zh-CN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）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91B1F">
                          <a:alpha val="32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成本口径注明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91B1F">
                          <a:alpha val="32"/>
                        </a:srgbClr>
                      </a:solidFill>
                      <a:prstDash val="solid"/>
                    </a:lnB>
                    <a:noFill/>
                  </a:tcPr>
                </a:tc>
              </a:tr>
              <a:tr h="61236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门控判定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91B1F">
                          <a:alpha val="32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确定性 </a:t>
                      </a:r>
                      <a:r>
                        <a:rPr lang="en-US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Edge / Risk / Action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91B1F">
                          <a:alpha val="32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决策卡 </a:t>
                      </a:r>
                      <a:r>
                        <a:rPr lang="en-US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+ </a:t>
                      </a:r>
                      <a:r>
                        <a:rPr lang="zh-CN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审计记录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91B1F">
                          <a:alpha val="32"/>
                        </a:srgbClr>
                      </a:solidFill>
                      <a:prstDash val="solid"/>
                    </a:lnB>
                    <a:noFill/>
                  </a:tcPr>
                </a:tc>
              </a:tr>
              <a:tr h="61236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自然语言理解 </a:t>
                      </a:r>
                      <a:r>
                        <a:rPr lang="en-US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/ </a:t>
                      </a:r>
                      <a:r>
                        <a:rPr lang="zh-CN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解释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91B1F">
                          <a:alpha val="32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en-US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LLM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91B1F">
                          <a:alpha val="32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不进入金融数字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91B1F">
                          <a:alpha val="32"/>
                        </a:srgb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21" name="chain-label"/>
          <p:cNvSpPr/>
          <p:nvPr/>
        </p:nvSpPr>
        <p:spPr>
          <a:xfrm>
            <a:off x="8128080" y="1778040"/>
            <a:ext cx="325080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2000"/>
              </a:lnSpc>
            </a:pPr>
            <a:r>
              <a:rPr lang="zh-CN" sz="1100" b="1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审计哈希链（</a:t>
            </a:r>
            <a:r>
              <a:rPr lang="en-US" sz="1100" b="1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Hero 7 </a:t>
            </a:r>
            <a:r>
              <a:rPr lang="zh-CN" sz="1100" b="1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条记录）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chain-text"/>
          <p:cNvSpPr/>
          <p:nvPr/>
        </p:nvSpPr>
        <p:spPr>
          <a:xfrm>
            <a:off x="8128080" y="2006640"/>
            <a:ext cx="325080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scenario_parsed → data_loaded →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8000"/>
              </a:lnSpc>
            </a:pP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engine_computed → edge_gate →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8000"/>
              </a:lnSpc>
            </a:pP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risk_gate → action_gate →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8000"/>
              </a:lnSpc>
            </a:pP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decision_card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8000"/>
              </a:lnSpc>
            </a:pPr>
            <a:r>
              <a:rPr lang="zh-CN" sz="95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每条链接前一条，哈希仅展示前缀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rule1-tick"/>
          <p:cNvSpPr/>
          <p:nvPr/>
        </p:nvSpPr>
        <p:spPr>
          <a:xfrm>
            <a:off x="8128080" y="3556080"/>
            <a:ext cx="177480" cy="25200"/>
          </a:xfrm>
          <a:prstGeom prst="rect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9440" rIns="90000" bIns="-19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4" name="rule1"/>
          <p:cNvSpPr/>
          <p:nvPr/>
        </p:nvSpPr>
        <p:spPr>
          <a:xfrm>
            <a:off x="8432640" y="3403440"/>
            <a:ext cx="294588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2000"/>
              </a:lnSpc>
            </a:pPr>
            <a:r>
              <a:rPr lang="zh-CN" sz="1100" b="0" u="none" strike="noStrike">
                <a:solidFill>
                  <a:srgbClr val="191B1F"/>
                </a:solidFill>
                <a:effectLst/>
                <a:uFillTx/>
                <a:latin typeface="Arial"/>
                <a:ea typeface="Microsoft YaHei"/>
              </a:rPr>
              <a:t>任何数字带来源、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2000"/>
              </a:lnSpc>
            </a:pPr>
            <a:r>
              <a:rPr lang="zh-CN" sz="1100" b="0" u="none" strike="noStrike">
                <a:solidFill>
                  <a:srgbClr val="191B1F"/>
                </a:solidFill>
                <a:effectLst/>
                <a:uFillTx/>
                <a:latin typeface="Arial"/>
                <a:ea typeface="Microsoft YaHei"/>
              </a:rPr>
              <a:t>时间与口径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rule2-tick"/>
          <p:cNvSpPr/>
          <p:nvPr/>
        </p:nvSpPr>
        <p:spPr>
          <a:xfrm>
            <a:off x="8128080" y="4241880"/>
            <a:ext cx="177480" cy="25200"/>
          </a:xfrm>
          <a:prstGeom prst="rect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9440" rIns="90000" bIns="-19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6" name="rule2"/>
          <p:cNvSpPr/>
          <p:nvPr/>
        </p:nvSpPr>
        <p:spPr>
          <a:xfrm>
            <a:off x="8432640" y="4089240"/>
            <a:ext cx="294588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2000"/>
              </a:lnSpc>
            </a:pPr>
            <a:r>
              <a:rPr lang="en-US" sz="1100" b="0" u="none" strike="noStrike">
                <a:solidFill>
                  <a:srgbClr val="191B1F"/>
                </a:solidFill>
                <a:effectLst/>
                <a:uFillTx/>
                <a:latin typeface="Arial"/>
                <a:ea typeface="Microsoft YaHei"/>
              </a:rPr>
              <a:t>LLM </a:t>
            </a:r>
            <a:r>
              <a:rPr lang="zh-CN" sz="1100" b="0" u="none" strike="noStrike">
                <a:solidFill>
                  <a:srgbClr val="191B1F"/>
                </a:solidFill>
                <a:effectLst/>
                <a:uFillTx/>
                <a:latin typeface="Arial"/>
                <a:ea typeface="Microsoft YaHei"/>
              </a:rPr>
              <a:t>估算的金融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2000"/>
              </a:lnSpc>
            </a:pPr>
            <a:r>
              <a:rPr lang="zh-CN" sz="1100" b="0" u="none" strike="noStrike">
                <a:solidFill>
                  <a:srgbClr val="191B1F"/>
                </a:solidFill>
                <a:effectLst/>
                <a:uFillTx/>
                <a:latin typeface="Arial"/>
                <a:ea typeface="Microsoft YaHei"/>
              </a:rPr>
              <a:t>数字视为缺陷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rule3-tick"/>
          <p:cNvSpPr/>
          <p:nvPr/>
        </p:nvSpPr>
        <p:spPr>
          <a:xfrm>
            <a:off x="8128080" y="4927680"/>
            <a:ext cx="177480" cy="25200"/>
          </a:xfrm>
          <a:prstGeom prst="rect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9440" rIns="90000" bIns="-19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rule3"/>
          <p:cNvSpPr/>
          <p:nvPr/>
        </p:nvSpPr>
        <p:spPr>
          <a:xfrm>
            <a:off x="8432640" y="4775040"/>
            <a:ext cx="294588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2000"/>
              </a:lnSpc>
            </a:pPr>
            <a:r>
              <a:rPr lang="zh-CN" sz="1100" b="0" u="none" strike="noStrike">
                <a:solidFill>
                  <a:srgbClr val="191B1F"/>
                </a:solidFill>
                <a:effectLst/>
                <a:uFillTx/>
                <a:latin typeface="Arial"/>
                <a:ea typeface="Microsoft YaHei"/>
              </a:rPr>
              <a:t>授权行情与原始快照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2000"/>
              </a:lnSpc>
            </a:pPr>
            <a:r>
              <a:rPr lang="zh-CN" sz="1100" b="0" u="none" strike="noStrike">
                <a:solidFill>
                  <a:srgbClr val="191B1F"/>
                </a:solidFill>
                <a:effectLst/>
                <a:uFillTx/>
                <a:latin typeface="Arial"/>
                <a:ea typeface="Microsoft YaHei"/>
              </a:rPr>
              <a:t>不重新分发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quote-rail"/>
          <p:cNvSpPr/>
          <p:nvPr/>
        </p:nvSpPr>
        <p:spPr>
          <a:xfrm>
            <a:off x="812880" y="5511960"/>
            <a:ext cx="37800" cy="583920"/>
          </a:xfrm>
          <a:prstGeom prst="rect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quote-text"/>
          <p:cNvSpPr/>
          <p:nvPr/>
        </p:nvSpPr>
        <p:spPr>
          <a:xfrm>
            <a:off x="1015920" y="5715000"/>
            <a:ext cx="1015956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Georgia"/>
                <a:ea typeface="SimSun"/>
              </a:rPr>
              <a:t>“</a:t>
            </a:r>
            <a:r>
              <a:rPr lang="zh-CN" sz="1350" b="1" u="none" strike="noStrike">
                <a:solidFill>
                  <a:srgbClr val="191B1F"/>
                </a:solidFill>
                <a:effectLst/>
                <a:uFillTx/>
                <a:latin typeface="Georgia"/>
                <a:ea typeface="SimSun"/>
              </a:rPr>
              <a:t>可复算，是金融数字的最低要求。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akeaway-rule"/>
          <p:cNvSpPr/>
          <p:nvPr/>
        </p:nvSpPr>
        <p:spPr>
          <a:xfrm>
            <a:off x="812880" y="6222960"/>
            <a:ext cx="10566000" cy="12240"/>
          </a:xfrm>
          <a:custGeom>
            <a:avLst/>
            <a:gdLst>
              <a:gd name="textAreaLeft" fmla="*/ 0 w 10566000"/>
              <a:gd name="textAreaRight" fmla="*/ 10566360 w 1056600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32" h="1">
                <a:moveTo>
                  <a:pt x="0" y="0"/>
                </a:moveTo>
                <a:lnTo>
                  <a:pt x="832" y="0"/>
                </a:lnTo>
              </a:path>
            </a:pathLst>
          </a:custGeom>
          <a:noFill/>
          <a:ln cap="rnd" w="12700">
            <a:solidFill>
              <a:srgbClr val="191B1F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takeaway-text"/>
          <p:cNvSpPr/>
          <p:nvPr/>
        </p:nvSpPr>
        <p:spPr>
          <a:xfrm>
            <a:off x="812880" y="6261120"/>
            <a:ext cx="105660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2000"/>
              </a:lnSpc>
            </a:pPr>
            <a:r>
              <a:rPr lang="zh-CN" sz="10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口径分离：理论价值 ≠ </a:t>
            </a:r>
            <a:r>
              <a:rPr lang="en-US" sz="10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mid ≠ </a:t>
            </a:r>
            <a:r>
              <a:rPr lang="zh-CN" sz="10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买入成本 ≠ 平仓价值，四者并列展示、绝不混用；审计日志 </a:t>
            </a:r>
            <a:r>
              <a:rPr lang="en-US" sz="10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JSONL + SHA-256 </a:t>
            </a:r>
            <a:r>
              <a:rPr lang="zh-CN" sz="10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防误改。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footer-rule"/>
          <p:cNvSpPr/>
          <p:nvPr/>
        </p:nvSpPr>
        <p:spPr>
          <a:xfrm>
            <a:off x="812880" y="6654960"/>
            <a:ext cx="10566000" cy="12240"/>
          </a:xfrm>
          <a:custGeom>
            <a:avLst/>
            <a:gdLst>
              <a:gd name="textAreaLeft" fmla="*/ 0 w 10566000"/>
              <a:gd name="textAreaRight" fmla="*/ 10566360 w 1056600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32" h="1">
                <a:moveTo>
                  <a:pt x="0" y="0"/>
                </a:moveTo>
                <a:lnTo>
                  <a:pt x="832" y="0"/>
                </a:lnTo>
              </a:path>
            </a:pathLst>
          </a:custGeom>
          <a:noFill/>
          <a:ln cap="rnd" w="12700">
            <a:solidFill>
              <a:srgbClr val="191B1F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footer-left"/>
          <p:cNvSpPr/>
          <p:nvPr/>
        </p:nvSpPr>
        <p:spPr>
          <a:xfrm>
            <a:off x="812880" y="6616800"/>
            <a:ext cx="825480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数据：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research/audit/audit_log.jsonl · data/snapshots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（本地保存，不重新分发）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footer-right"/>
          <p:cNvSpPr/>
          <p:nvPr/>
        </p:nvSpPr>
        <p:spPr>
          <a:xfrm>
            <a:off x="8940960" y="6616800"/>
            <a:ext cx="243792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18000"/>
              </a:lnSpc>
            </a:pP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11 / 16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  <p:timing>
    <p:tnLst>
      <p:par>
        <p:cTn id="1092" dur="indefinite" restart="never" nodeType="tmRoot">
          <p:childTnLst>
            <p:seq>
              <p:cTn id="1093" dur="indefinite" nodeType="mainSeq">
                <p:childTnLst>
                  <p:par>
                    <p:cTn id="1094" fill="hold">
                      <p:stCondLst>
                        <p:cond delay="0"/>
                      </p:stCondLst>
                      <p:childTnLst>
                        <p:par>
                          <p:cTn id="1095" fill="hold">
                            <p:stCondLst>
                              <p:cond delay="0"/>
                            </p:stCondLst>
                            <p:childTnLst>
                              <p:par>
                                <p:cTn id="1096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098" dur="4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9" presetID="22" presetClass="entr" fill="hold" nodeType="with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1101" dur="25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2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104" dur="3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5" fill="hold">
                            <p:stCondLst>
                              <p:cond delay="400"/>
                            </p:stCondLst>
                            <p:childTnLst>
                              <p:par>
                                <p:cTn id="1106" presetID="34" presetClass="entr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108" dur="450" fill="hold"/>
                                        <p:tgtEl>
                                          <p:spTgt spid="3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111" dur="3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2" fill="hold">
                            <p:stCondLst>
                              <p:cond delay="930"/>
                            </p:stCondLst>
                            <p:childTnLst>
                              <p:par>
                                <p:cTn id="1113" presetID="22" presetClass="entr" fill="hold" nodeType="after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1115" dur="35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6" fill="hold">
                            <p:stCondLst>
                              <p:cond delay="1280"/>
                            </p:stCondLst>
                            <p:childTnLst>
                              <p:par>
                                <p:cTn id="1117" presetID="10" presetClass="entr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119" dur="4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0" fill="hold">
                            <p:stCondLst>
                              <p:cond delay="1740"/>
                            </p:stCondLst>
                            <p:childTnLst>
                              <p:par>
                                <p:cTn id="1121" presetID="10" presetClass="entr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123" dur="25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4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126" dur="35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7" fill="hold">
                            <p:stCondLst>
                              <p:cond delay="2090"/>
                            </p:stCondLst>
                            <p:childTnLst>
                              <p:par>
                                <p:cTn id="1128" presetID="22" presetClass="entr" fill="hold" nodeType="afterEffect" presetSubtype="2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1130" dur="25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1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133" dur="25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4" fill="hold">
                            <p:stCondLst>
                              <p:cond delay="2400"/>
                            </p:stCondLst>
                            <p:childTnLst>
                              <p:par>
                                <p:cTn id="1135" presetID="22" presetClass="entr" fill="hold" nodeType="afterEffect" presetSubtype="2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1137" dur="25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8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140" dur="25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1" fill="hold">
                            <p:stCondLst>
                              <p:cond delay="2690"/>
                            </p:stCondLst>
                            <p:childTnLst>
                              <p:par>
                                <p:cTn id="1142" presetID="22" presetClass="entr" fill="hold" nodeType="afterEffect" presetSubtype="2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1144" dur="25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5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147" dur="25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8" fill="hold">
                            <p:stCondLst>
                              <p:cond delay="2980"/>
                            </p:stCondLst>
                            <p:childTnLst>
                              <p:par>
                                <p:cTn id="1149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151" dur="3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2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154" dur="35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5" fill="hold">
                            <p:stCondLst>
                              <p:cond delay="3330"/>
                            </p:stCondLst>
                            <p:childTnLst>
                              <p:par>
                                <p:cTn id="1156" presetID="22" presetClass="entr" fill="hold" nodeType="after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1158" dur="3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161" dur="3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2" fill="hold">
                            <p:stCondLst>
                              <p:cond delay="3630"/>
                            </p:stCondLst>
                            <p:childTnLst>
                              <p:par>
                                <p:cTn id="1163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165" dur="2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6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168" dur="25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171" dur="25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corner"/>
          <p:cNvSpPr/>
          <p:nvPr/>
        </p:nvSpPr>
        <p:spPr>
          <a:xfrm>
            <a:off x="10058400" y="152280"/>
            <a:ext cx="1320480" cy="73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20000"/>
              </a:lnSpc>
            </a:pPr>
            <a:r>
              <a:rPr lang="en-US" sz="4800" b="0" i="1" u="none" strike="noStrike">
                <a:solidFill>
                  <a:srgbClr val="D9D3C6"/>
                </a:solidFill>
                <a:effectLst/>
                <a:uFillTx/>
                <a:latin typeface="Georgia"/>
                <a:ea typeface="Georgia"/>
              </a:rPr>
              <a:t>12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tick"/>
          <p:cNvSpPr/>
          <p:nvPr/>
        </p:nvSpPr>
        <p:spPr>
          <a:xfrm>
            <a:off x="812880" y="558720"/>
            <a:ext cx="279000" cy="25200"/>
          </a:xfrm>
          <a:prstGeom prst="rect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9440" rIns="90000" bIns="-19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8" name="kicker"/>
          <p:cNvSpPr/>
          <p:nvPr/>
        </p:nvSpPr>
        <p:spPr>
          <a:xfrm>
            <a:off x="1219320" y="457200"/>
            <a:ext cx="761976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1050" b="1" u="none" spc="201" strike="noStrike">
                <a:solidFill>
                  <a:srgbClr val="0E7490"/>
                </a:solidFill>
                <a:effectLst/>
                <a:uFillTx/>
                <a:latin typeface="Arial"/>
                <a:ea typeface="Microsoft YaHei"/>
              </a:rPr>
              <a:t>COMPETITION · 11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title"/>
          <p:cNvSpPr/>
          <p:nvPr/>
        </p:nvSpPr>
        <p:spPr>
          <a:xfrm>
            <a:off x="812880" y="711360"/>
            <a:ext cx="1056600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2000"/>
              </a:lnSpc>
            </a:pPr>
            <a:r>
              <a:rPr lang="zh-CN" sz="2600" b="1" u="none" strike="noStrike">
                <a:solidFill>
                  <a:srgbClr val="191B1F"/>
                </a:solidFill>
                <a:effectLst/>
                <a:uFillTx/>
                <a:latin typeface="Georgia"/>
                <a:ea typeface="SimSun"/>
              </a:rPr>
              <a:t>差异不在算法，而在可信闭环：可复算、可审计、敢拒绝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standfirst"/>
          <p:cNvSpPr/>
          <p:nvPr/>
        </p:nvSpPr>
        <p:spPr>
          <a:xfrm>
            <a:off x="812880" y="1270080"/>
            <a:ext cx="10566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11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对比维度：数据、数值可信、账户约束、审计溯源、允许 </a:t>
            </a:r>
            <a:r>
              <a:rPr lang="en-US" sz="11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NO_TRADE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header-rule"/>
          <p:cNvSpPr/>
          <p:nvPr/>
        </p:nvSpPr>
        <p:spPr>
          <a:xfrm>
            <a:off x="812880" y="1574640"/>
            <a:ext cx="10566000" cy="12240"/>
          </a:xfrm>
          <a:custGeom>
            <a:avLst/>
            <a:gdLst>
              <a:gd name="textAreaLeft" fmla="*/ 0 w 10566000"/>
              <a:gd name="textAreaRight" fmla="*/ 10566360 w 1056600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32" h="1">
                <a:moveTo>
                  <a:pt x="0" y="0"/>
                </a:moveTo>
                <a:lnTo>
                  <a:pt x="832" y="0"/>
                </a:lnTo>
              </a:path>
            </a:pathLst>
          </a:custGeom>
          <a:noFill/>
          <a:ln cap="rnd" w="12700">
            <a:solidFill>
              <a:srgbClr val="191B1F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42" name="diff-table"/>
          <p:cNvGraphicFramePr/>
          <p:nvPr/>
        </p:nvGraphicFramePr>
        <p:xfrm>
          <a:off x="812880" y="1778040"/>
          <a:ext cx="7619760" cy="3403080"/>
        </p:xfrm>
        <a:graphic>
          <a:graphicData uri="http://schemas.openxmlformats.org/drawingml/2006/table">
            <a:tbl>
              <a:tblPr/>
              <a:tblGrid>
                <a:gridCol w="2133360"/>
                <a:gridCol w="1143000"/>
                <a:gridCol w="1143000"/>
                <a:gridCol w="1143000"/>
                <a:gridCol w="1066680"/>
                <a:gridCol w="990360"/>
              </a:tblGrid>
              <a:tr h="3402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1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方案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91B1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1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数据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91B1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1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数值可信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91B1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1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账户约束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91B1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1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审计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91B1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en-US" sz="1050" b="1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NO_TRADE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91B1F"/>
                      </a:solidFill>
                      <a:prstDash val="solid"/>
                    </a:lnB>
                    <a:noFill/>
                  </a:tcPr>
                </a:tc>
              </a:tr>
              <a:tr h="5104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en-US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Futu </a:t>
                      </a:r>
                      <a:r>
                        <a:rPr lang="zh-CN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手工流程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91B1F">
                          <a:alpha val="32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强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91B1F">
                          <a:alpha val="32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中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91B1F">
                          <a:alpha val="32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中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91B1F">
                          <a:alpha val="32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无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91B1F">
                          <a:alpha val="32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无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91B1F">
                          <a:alpha val="32"/>
                        </a:srgbClr>
                      </a:solidFill>
                      <a:prstDash val="solid"/>
                    </a:lnB>
                    <a:noFill/>
                  </a:tcPr>
                </a:tc>
              </a:tr>
              <a:tr h="5104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通用 </a:t>
                      </a:r>
                      <a:r>
                        <a:rPr lang="en-US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LLM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91B1F">
                          <a:alpha val="32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弱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91B1F">
                          <a:alpha val="32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弱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91B1F">
                          <a:alpha val="32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无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91B1F">
                          <a:alpha val="32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无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91B1F">
                          <a:alpha val="32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无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91B1F">
                          <a:alpha val="32"/>
                        </a:srgbClr>
                      </a:solidFill>
                      <a:prstDash val="solid"/>
                    </a:lnB>
                    <a:noFill/>
                  </a:tcPr>
                </a:tc>
              </a:tr>
              <a:tr h="5104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固定脚本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91B1F">
                          <a:alpha val="32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中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91B1F">
                          <a:alpha val="32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强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91B1F">
                          <a:alpha val="32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弱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91B1F">
                          <a:alpha val="32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无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91B1F">
                          <a:alpha val="32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无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91B1F">
                          <a:alpha val="32"/>
                        </a:srgbClr>
                      </a:solidFill>
                      <a:prstDash val="solid"/>
                    </a:lnB>
                    <a:noFill/>
                  </a:tcPr>
                </a:tc>
              </a:tr>
              <a:tr h="5104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en-US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Moomoo Engine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91B1F">
                          <a:alpha val="32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强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91B1F">
                          <a:alpha val="32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中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91B1F">
                          <a:alpha val="32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中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91B1F">
                          <a:alpha val="32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无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91B1F">
                          <a:alpha val="32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无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91B1F">
                          <a:alpha val="32"/>
                        </a:srgbClr>
                      </a:solidFill>
                      <a:prstDash val="solid"/>
                    </a:lnB>
                    <a:noFill/>
                  </a:tcPr>
                </a:tc>
              </a:tr>
              <a:tr h="5104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en-US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Moontower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91B1F">
                          <a:alpha val="32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中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91B1F">
                          <a:alpha val="32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中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91B1F">
                          <a:alpha val="32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无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91B1F">
                          <a:alpha val="32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无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91B1F">
                          <a:alpha val="32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无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91B1F">
                          <a:alpha val="32"/>
                        </a:srgbClr>
                      </a:solidFill>
                      <a:prstDash val="solid"/>
                    </a:lnB>
                    <a:noFill/>
                  </a:tcPr>
                </a:tc>
              </a:tr>
              <a:tr h="5104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en-US" sz="1050" b="1" u="none" strike="noStrike">
                          <a:solidFill>
                            <a:srgbClr val="F7F4ED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GOAI</a:t>
                      </a:r>
                      <a:r>
                        <a:rPr lang="zh-CN" sz="1050" b="1" u="none" strike="noStrike">
                          <a:solidFill>
                            <a:srgbClr val="F7F4ED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（本方案）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91B1F">
                          <a:alpha val="32"/>
                        </a:srgbClr>
                      </a:solidFill>
                      <a:prstDash val="solid"/>
                    </a:lnB>
                    <a:solidFill>
                      <a:srgbClr val="191B1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1" u="none" strike="noStrike">
                          <a:solidFill>
                            <a:srgbClr val="F7F4ED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强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91B1F">
                          <a:alpha val="32"/>
                        </a:srgbClr>
                      </a:solidFill>
                      <a:prstDash val="solid"/>
                    </a:lnB>
                    <a:solidFill>
                      <a:srgbClr val="191B1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1" u="none" strike="noStrike">
                          <a:solidFill>
                            <a:srgbClr val="F7F4ED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强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91B1F">
                          <a:alpha val="32"/>
                        </a:srgbClr>
                      </a:solidFill>
                      <a:prstDash val="solid"/>
                    </a:lnB>
                    <a:solidFill>
                      <a:srgbClr val="191B1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1" u="none" strike="noStrike">
                          <a:solidFill>
                            <a:srgbClr val="F7F4ED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强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91B1F">
                          <a:alpha val="32"/>
                        </a:srgbClr>
                      </a:solidFill>
                      <a:prstDash val="solid"/>
                    </a:lnB>
                    <a:solidFill>
                      <a:srgbClr val="191B1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1" u="none" strike="noStrike">
                          <a:solidFill>
                            <a:srgbClr val="F7F4ED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强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91B1F">
                          <a:alpha val="32"/>
                        </a:srgbClr>
                      </a:solidFill>
                      <a:prstDash val="solid"/>
                    </a:lnB>
                    <a:solidFill>
                      <a:srgbClr val="191B1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1" u="none" strike="noStrike">
                          <a:solidFill>
                            <a:srgbClr val="F7F4ED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强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91B1F">
                          <a:alpha val="32"/>
                        </a:srgbClr>
                      </a:solidFill>
                      <a:prstDash val="solid"/>
                    </a:lnB>
                    <a:solidFill>
                      <a:srgbClr val="191B1F"/>
                    </a:solidFill>
                  </a:tcPr>
                </a:tc>
              </a:tr>
            </a:tbl>
          </a:graphicData>
        </a:graphic>
      </p:graphicFrame>
      <p:sp>
        <p:nvSpPr>
          <p:cNvPr id="343" name="dim-head"/>
          <p:cNvSpPr/>
          <p:nvPr/>
        </p:nvSpPr>
        <p:spPr>
          <a:xfrm>
            <a:off x="8763120" y="1778040"/>
            <a:ext cx="261576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2000"/>
              </a:lnSpc>
            </a:pPr>
            <a:r>
              <a:rPr lang="zh-CN" sz="1100" b="1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为什么是这五个维度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dim-text"/>
          <p:cNvSpPr/>
          <p:nvPr/>
        </p:nvSpPr>
        <p:spPr>
          <a:xfrm>
            <a:off x="8763120" y="2006640"/>
            <a:ext cx="2615760" cy="218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· 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数据：是否真实、带时间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8000"/>
              </a:lnSpc>
            </a:pP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· 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数值：能否复算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8000"/>
              </a:lnSpc>
            </a:pP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· 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账户：是否算现金与保证金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8000"/>
              </a:lnSpc>
            </a:pP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· 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审计：错了能否复盘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8000"/>
              </a:lnSpc>
            </a:pP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· NO_TRADE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：敢不敢拒绝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8000"/>
              </a:lnSpc>
              <a:spcBef>
                <a:spcPts val="799"/>
              </a:spcBef>
            </a:pP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评审可逐项回到本方案前页证据。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quote-plate"/>
          <p:cNvSpPr/>
          <p:nvPr/>
        </p:nvSpPr>
        <p:spPr>
          <a:xfrm>
            <a:off x="8763120" y="4317840"/>
            <a:ext cx="2615760" cy="863280"/>
          </a:xfrm>
          <a:prstGeom prst="rect">
            <a:avLst/>
          </a:prstGeom>
          <a:solidFill>
            <a:srgbClr val="E3F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quote-rail"/>
          <p:cNvSpPr/>
          <p:nvPr/>
        </p:nvSpPr>
        <p:spPr>
          <a:xfrm>
            <a:off x="8763120" y="4317840"/>
            <a:ext cx="37800" cy="863280"/>
          </a:xfrm>
          <a:prstGeom prst="rect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7" name="quote-text"/>
          <p:cNvSpPr/>
          <p:nvPr/>
        </p:nvSpPr>
        <p:spPr>
          <a:xfrm>
            <a:off x="8966160" y="4444920"/>
            <a:ext cx="226008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Georgia"/>
                <a:ea typeface="SimSun"/>
              </a:rPr>
              <a:t>“</a:t>
            </a:r>
            <a:r>
              <a:rPr lang="zh-CN" sz="1050" b="1" u="none" strike="noStrike">
                <a:solidFill>
                  <a:srgbClr val="191B1F"/>
                </a:solidFill>
                <a:effectLst/>
                <a:uFillTx/>
                <a:latin typeface="Georgia"/>
                <a:ea typeface="SimSun"/>
              </a:rPr>
              <a:t>数据、账户、审计、拒绝——四件事做齐，才是可信终端。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takeaway-rule"/>
          <p:cNvSpPr/>
          <p:nvPr/>
        </p:nvSpPr>
        <p:spPr>
          <a:xfrm>
            <a:off x="812880" y="5562720"/>
            <a:ext cx="10566000" cy="12240"/>
          </a:xfrm>
          <a:custGeom>
            <a:avLst/>
            <a:gdLst>
              <a:gd name="textAreaLeft" fmla="*/ 0 w 10566000"/>
              <a:gd name="textAreaRight" fmla="*/ 10566360 w 1056600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32" h="1">
                <a:moveTo>
                  <a:pt x="0" y="0"/>
                </a:moveTo>
                <a:lnTo>
                  <a:pt x="832" y="0"/>
                </a:lnTo>
              </a:path>
            </a:pathLst>
          </a:custGeom>
          <a:noFill/>
          <a:ln cap="rnd" w="12700">
            <a:solidFill>
              <a:srgbClr val="191B1F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takeaway-text"/>
          <p:cNvSpPr/>
          <p:nvPr/>
        </p:nvSpPr>
        <p:spPr>
          <a:xfrm>
            <a:off x="812880" y="5600880"/>
            <a:ext cx="105660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2000"/>
              </a:lnSpc>
            </a:pPr>
            <a:r>
              <a:rPr lang="zh-CN" sz="10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护城河 </a:t>
            </a:r>
            <a:r>
              <a:rPr lang="en-US" sz="10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= </a:t>
            </a:r>
            <a:r>
              <a:rPr lang="zh-CN" sz="10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对话场景 → 账户约束求解 </a:t>
            </a:r>
            <a:r>
              <a:rPr lang="en-US" sz="10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+ </a:t>
            </a:r>
            <a:r>
              <a:rPr lang="zh-CN" sz="10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流动性</a:t>
            </a:r>
            <a:r>
              <a:rPr lang="en-US" sz="10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/</a:t>
            </a:r>
            <a:r>
              <a:rPr lang="zh-CN" sz="10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事件预警 </a:t>
            </a:r>
            <a:r>
              <a:rPr lang="en-US" sz="10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+ </a:t>
            </a:r>
            <a:r>
              <a:rPr lang="zh-CN" sz="10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可复核审计；竞品信息来自公开研究（</a:t>
            </a:r>
            <a:r>
              <a:rPr lang="en-US" sz="10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research/01-market-landscape.md</a:t>
            </a:r>
            <a:r>
              <a:rPr lang="zh-CN" sz="10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）。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footer-rule"/>
          <p:cNvSpPr/>
          <p:nvPr/>
        </p:nvSpPr>
        <p:spPr>
          <a:xfrm>
            <a:off x="812880" y="6654960"/>
            <a:ext cx="10566000" cy="12240"/>
          </a:xfrm>
          <a:custGeom>
            <a:avLst/>
            <a:gdLst>
              <a:gd name="textAreaLeft" fmla="*/ 0 w 10566000"/>
              <a:gd name="textAreaRight" fmla="*/ 10566360 w 1056600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32" h="1">
                <a:moveTo>
                  <a:pt x="0" y="0"/>
                </a:moveTo>
                <a:lnTo>
                  <a:pt x="832" y="0"/>
                </a:lnTo>
              </a:path>
            </a:pathLst>
          </a:custGeom>
          <a:noFill/>
          <a:ln cap="rnd" w="12700">
            <a:solidFill>
              <a:srgbClr val="191B1F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footer-left"/>
          <p:cNvSpPr/>
          <p:nvPr/>
        </p:nvSpPr>
        <p:spPr>
          <a:xfrm>
            <a:off x="812880" y="6616800"/>
            <a:ext cx="825480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来源：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research/01-market-landscape.md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（方向性判断，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2026-08 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公开资料）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footer-right"/>
          <p:cNvSpPr/>
          <p:nvPr/>
        </p:nvSpPr>
        <p:spPr>
          <a:xfrm>
            <a:off x="8940960" y="6616800"/>
            <a:ext cx="243792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18000"/>
              </a:lnSpc>
            </a:pP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12 / 16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  <p:timing>
    <p:tnLst>
      <p:par>
        <p:cTn id="1172" dur="indefinite" restart="never" nodeType="tmRoot">
          <p:childTnLst>
            <p:seq>
              <p:cTn id="1173" dur="indefinite" nodeType="mainSeq">
                <p:childTnLst>
                  <p:par>
                    <p:cTn id="1174" fill="hold">
                      <p:stCondLst>
                        <p:cond delay="0"/>
                      </p:stCondLst>
                      <p:childTnLst>
                        <p:par>
                          <p:cTn id="1175" fill="hold">
                            <p:stCondLst>
                              <p:cond delay="0"/>
                            </p:stCondLst>
                            <p:childTnLst>
                              <p:par>
                                <p:cTn id="1176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178" dur="4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9" presetID="22" presetClass="entr" fill="hold" nodeType="with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1181" dur="25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2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184" dur="3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5" fill="hold">
                            <p:stCondLst>
                              <p:cond delay="400"/>
                            </p:stCondLst>
                            <p:childTnLst>
                              <p:par>
                                <p:cTn id="1186" presetID="34" presetClass="entr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188" dur="450" fill="hold"/>
                                        <p:tgtEl>
                                          <p:spTgt spid="3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191" dur="3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2" fill="hold">
                            <p:stCondLst>
                              <p:cond delay="930"/>
                            </p:stCondLst>
                            <p:childTnLst>
                              <p:par>
                                <p:cTn id="1193" presetID="22" presetClass="entr" fill="hold" nodeType="after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1195" dur="35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6" fill="hold">
                            <p:stCondLst>
                              <p:cond delay="1280"/>
                            </p:stCondLst>
                            <p:childTnLst>
                              <p:par>
                                <p:cTn id="1197" presetID="10" presetClass="entr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199" dur="4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0" fill="hold">
                            <p:stCondLst>
                              <p:cond delay="1740"/>
                            </p:stCondLst>
                            <p:childTnLst>
                              <p:par>
                                <p:cTn id="1201" presetID="10" presetClass="entr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03" dur="25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4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06" dur="3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7" fill="hold">
                            <p:stCondLst>
                              <p:cond delay="2070"/>
                            </p:stCondLst>
                            <p:childTnLst>
                              <p:par>
                                <p:cTn id="1208" presetID="10" presetClass="entr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10" dur="35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1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13" dur="25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4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16" dur="35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7" fill="hold">
                            <p:stCondLst>
                              <p:cond delay="2480"/>
                            </p:stCondLst>
                            <p:childTnLst>
                              <p:par>
                                <p:cTn id="1218" presetID="22" presetClass="entr" fill="hold" nodeType="after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1220" dur="3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1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23" dur="3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4" fill="hold">
                            <p:stCondLst>
                              <p:cond delay="2780"/>
                            </p:stCondLst>
                            <p:childTnLst>
                              <p:par>
                                <p:cTn id="1225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27" dur="2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8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30" dur="25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1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33" dur="25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corner"/>
          <p:cNvSpPr/>
          <p:nvPr/>
        </p:nvSpPr>
        <p:spPr>
          <a:xfrm>
            <a:off x="10058400" y="152280"/>
            <a:ext cx="1320480" cy="73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20000"/>
              </a:lnSpc>
            </a:pPr>
            <a:r>
              <a:rPr lang="en-US" sz="4800" b="0" i="1" u="none" strike="noStrike">
                <a:solidFill>
                  <a:srgbClr val="D9D3C6"/>
                </a:solidFill>
                <a:effectLst/>
                <a:uFillTx/>
                <a:latin typeface="Georgia"/>
                <a:ea typeface="Georgia"/>
              </a:rPr>
              <a:t>13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tick"/>
          <p:cNvSpPr/>
          <p:nvPr/>
        </p:nvSpPr>
        <p:spPr>
          <a:xfrm>
            <a:off x="812880" y="558720"/>
            <a:ext cx="279000" cy="25200"/>
          </a:xfrm>
          <a:prstGeom prst="rect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9440" rIns="90000" bIns="-19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5" name="kicker"/>
          <p:cNvSpPr/>
          <p:nvPr/>
        </p:nvSpPr>
        <p:spPr>
          <a:xfrm>
            <a:off x="1219320" y="457200"/>
            <a:ext cx="761976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1050" b="1" u="none" spc="201" strike="noStrike">
                <a:solidFill>
                  <a:srgbClr val="0E7490"/>
                </a:solidFill>
                <a:effectLst/>
                <a:uFillTx/>
                <a:latin typeface="Arial"/>
                <a:ea typeface="Microsoft YaHei"/>
              </a:rPr>
              <a:t>MARKET · WHY NOW · 12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itle"/>
          <p:cNvSpPr/>
          <p:nvPr/>
        </p:nvSpPr>
        <p:spPr>
          <a:xfrm>
            <a:off x="812880" y="711360"/>
            <a:ext cx="1056600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2000"/>
              </a:lnSpc>
            </a:pPr>
            <a:r>
              <a:rPr lang="zh-CN" sz="2600" b="1" u="none" strike="noStrike">
                <a:solidFill>
                  <a:srgbClr val="191B1F"/>
                </a:solidFill>
                <a:effectLst/>
                <a:uFillTx/>
                <a:latin typeface="Georgia"/>
                <a:ea typeface="SimSun"/>
              </a:rPr>
              <a:t>服务有认知、缺工具的期权用户，市场窗口已经打开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standfirst"/>
          <p:cNvSpPr/>
          <p:nvPr/>
        </p:nvSpPr>
        <p:spPr>
          <a:xfrm>
            <a:off x="812880" y="1270080"/>
            <a:ext cx="10566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11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价值主张：从一句自然语言到可核验的决策卡，</a:t>
            </a:r>
            <a:r>
              <a:rPr lang="en-US" sz="11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Replay </a:t>
            </a:r>
            <a:r>
              <a:rPr lang="zh-CN" sz="11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与 </a:t>
            </a:r>
            <a:r>
              <a:rPr lang="en-US" sz="11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Live </a:t>
            </a:r>
            <a:r>
              <a:rPr lang="zh-CN" sz="11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同一条链路；数字带来源与审计链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header-rule"/>
          <p:cNvSpPr/>
          <p:nvPr/>
        </p:nvSpPr>
        <p:spPr>
          <a:xfrm>
            <a:off x="812880" y="1574640"/>
            <a:ext cx="10566000" cy="12240"/>
          </a:xfrm>
          <a:custGeom>
            <a:avLst/>
            <a:gdLst>
              <a:gd name="textAreaLeft" fmla="*/ 0 w 10566000"/>
              <a:gd name="textAreaRight" fmla="*/ 10566360 w 1056600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32" h="1">
                <a:moveTo>
                  <a:pt x="0" y="0"/>
                </a:moveTo>
                <a:lnTo>
                  <a:pt x="832" y="0"/>
                </a:lnTo>
              </a:path>
            </a:pathLst>
          </a:custGeom>
          <a:noFill/>
          <a:ln cap="rnd" w="12700">
            <a:solidFill>
              <a:srgbClr val="191B1F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user-panel"/>
          <p:cNvSpPr/>
          <p:nvPr/>
        </p:nvSpPr>
        <p:spPr>
          <a:xfrm>
            <a:off x="812880" y="1778040"/>
            <a:ext cx="5333760" cy="3504960"/>
          </a:xfrm>
          <a:prstGeom prst="rect">
            <a:avLst/>
          </a:prstGeom>
          <a:solidFill>
            <a:srgbClr val="F0EADF"/>
          </a:solidFill>
          <a:ln w="12700">
            <a:solidFill>
              <a:srgbClr val="191B1F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user-rail"/>
          <p:cNvSpPr/>
          <p:nvPr/>
        </p:nvSpPr>
        <p:spPr>
          <a:xfrm>
            <a:off x="812880" y="1778040"/>
            <a:ext cx="37800" cy="3504960"/>
          </a:xfrm>
          <a:prstGeom prst="rect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1" name="user-head"/>
          <p:cNvSpPr/>
          <p:nvPr/>
        </p:nvSpPr>
        <p:spPr>
          <a:xfrm>
            <a:off x="1066680" y="1955880"/>
            <a:ext cx="4825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2000"/>
              </a:lnSpc>
            </a:pPr>
            <a:r>
              <a:rPr lang="zh-CN" sz="1100" b="1" u="none" strike="noStrike">
                <a:solidFill>
                  <a:srgbClr val="191B1F"/>
                </a:solidFill>
                <a:effectLst/>
                <a:uFillTx/>
                <a:latin typeface="Arial"/>
                <a:ea typeface="Microsoft YaHei"/>
              </a:rPr>
              <a:t>目标用户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user-body"/>
          <p:cNvSpPr/>
          <p:nvPr/>
        </p:nvSpPr>
        <p:spPr>
          <a:xfrm>
            <a:off x="1066680" y="2260440"/>
            <a:ext cx="4825800" cy="147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会用 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Futu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、理解 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Call/Put 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与基本风险，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8000"/>
              </a:lnSpc>
            </a:pP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但缺少专业终端与完整量化流程的港美股期权投资者。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8000"/>
              </a:lnSpc>
              <a:spcBef>
                <a:spcPts val="601"/>
              </a:spcBef>
            </a:pP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核心任务：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8000"/>
              </a:lnSpc>
            </a:pP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· 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把「业绩将近、方向不确定、最多亏 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5%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」转成完整研究任务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8000"/>
              </a:lnSpc>
            </a:pP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· 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快速知道成本、盈亏边界、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IV crush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、流动性与账户影响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8000"/>
              </a:lnSpc>
            </a:pP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· 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明确为什么交易、暂缓或停止，并回到原始数据与计算依据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user-kpi"/>
          <p:cNvSpPr/>
          <p:nvPr/>
        </p:nvSpPr>
        <p:spPr>
          <a:xfrm>
            <a:off x="1066680" y="4064040"/>
            <a:ext cx="4825800" cy="83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2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P0a</a:t>
            </a:r>
            <a:r>
              <a:rPr lang="zh-CN" sz="1100" b="0" u="none" strike="noStrike">
                <a:solidFill>
                  <a:srgbClr val="191B1F"/>
                </a:solidFill>
                <a:effectLst/>
                <a:uFillTx/>
                <a:latin typeface="Arial"/>
                <a:ea typeface="Microsoft YaHei"/>
              </a:rPr>
              <a:t>　</a:t>
            </a:r>
            <a:r>
              <a:rPr lang="en-US" sz="1100" b="0" u="none" strike="noStrike">
                <a:solidFill>
                  <a:srgbClr val="191B1F"/>
                </a:solidFill>
                <a:effectLst/>
                <a:uFillTx/>
                <a:latin typeface="Arial"/>
                <a:ea typeface="Microsoft YaHei"/>
              </a:rPr>
              <a:t>Replay </a:t>
            </a:r>
            <a:r>
              <a:rPr lang="zh-CN" sz="1100" b="0" u="none" strike="noStrike">
                <a:solidFill>
                  <a:srgbClr val="191B1F"/>
                </a:solidFill>
                <a:effectLst/>
                <a:uFillTx/>
                <a:latin typeface="Arial"/>
                <a:ea typeface="Microsoft YaHei"/>
              </a:rPr>
              <a:t>已端到端跑通（无需 </a:t>
            </a:r>
            <a:r>
              <a:rPr lang="en-US" sz="1100" b="0" u="none" strike="noStrike">
                <a:solidFill>
                  <a:srgbClr val="191B1F"/>
                </a:solidFill>
                <a:effectLst/>
                <a:uFillTx/>
                <a:latin typeface="Arial"/>
                <a:ea typeface="Microsoft YaHei"/>
              </a:rPr>
              <a:t>Futu </a:t>
            </a:r>
            <a:r>
              <a:rPr lang="zh-CN" sz="1100" b="0" u="none" strike="noStrike">
                <a:solidFill>
                  <a:srgbClr val="191B1F"/>
                </a:solidFill>
                <a:effectLst/>
                <a:uFillTx/>
                <a:latin typeface="Arial"/>
                <a:ea typeface="Microsoft YaHei"/>
              </a:rPr>
              <a:t>账户）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2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P0b</a:t>
            </a:r>
            <a:r>
              <a:rPr lang="zh-CN" sz="1100" b="0" u="none" strike="noStrike">
                <a:solidFill>
                  <a:srgbClr val="191B1F"/>
                </a:solidFill>
                <a:effectLst/>
                <a:uFillTx/>
                <a:latin typeface="Arial"/>
                <a:ea typeface="Microsoft YaHei"/>
              </a:rPr>
              <a:t>　</a:t>
            </a:r>
            <a:r>
              <a:rPr lang="en-US" sz="1100" b="0" u="none" strike="noStrike">
                <a:solidFill>
                  <a:srgbClr val="191B1F"/>
                </a:solidFill>
                <a:effectLst/>
                <a:uFillTx/>
                <a:latin typeface="Arial"/>
                <a:ea typeface="Microsoft YaHei"/>
              </a:rPr>
              <a:t>Live </a:t>
            </a:r>
            <a:r>
              <a:rPr lang="zh-CN" sz="1100" b="0" u="none" strike="noStrike">
                <a:solidFill>
                  <a:srgbClr val="191B1F"/>
                </a:solidFill>
                <a:effectLst/>
                <a:uFillTx/>
                <a:latin typeface="Arial"/>
                <a:ea typeface="Microsoft YaHei"/>
              </a:rPr>
              <a:t>同链路接入实时行情（开发中）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why1-dot"/>
          <p:cNvSpPr/>
          <p:nvPr/>
        </p:nvSpPr>
        <p:spPr>
          <a:xfrm>
            <a:off x="6603840" y="1905120"/>
            <a:ext cx="101160" cy="101160"/>
          </a:xfrm>
          <a:prstGeom prst="rect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5" name="why1-label"/>
          <p:cNvSpPr/>
          <p:nvPr/>
        </p:nvSpPr>
        <p:spPr>
          <a:xfrm>
            <a:off x="6832440" y="1828800"/>
            <a:ext cx="4546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2000"/>
              </a:lnSpc>
            </a:pPr>
            <a:r>
              <a:rPr lang="zh-CN" sz="1100" b="1" u="none" strike="noStrike">
                <a:solidFill>
                  <a:srgbClr val="191B1F"/>
                </a:solidFill>
                <a:effectLst/>
                <a:uFillTx/>
                <a:latin typeface="Arial"/>
                <a:ea typeface="Microsoft YaHei"/>
              </a:rPr>
              <a:t>数据基础设施成熟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why1-desc"/>
          <p:cNvSpPr/>
          <p:nvPr/>
        </p:nvSpPr>
        <p:spPr>
          <a:xfrm>
            <a:off x="6832440" y="2082960"/>
            <a:ext cx="454608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富途 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OpenAPI + 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官方 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futuapi Skill 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开放实时行情、期权链与模拟盘，个人开发者首次能构建机构式流程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why2-dot"/>
          <p:cNvSpPr/>
          <p:nvPr/>
        </p:nvSpPr>
        <p:spPr>
          <a:xfrm>
            <a:off x="6603840" y="2768760"/>
            <a:ext cx="101160" cy="101160"/>
          </a:xfrm>
          <a:prstGeom prst="rect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8" name="why2-label"/>
          <p:cNvSpPr/>
          <p:nvPr/>
        </p:nvSpPr>
        <p:spPr>
          <a:xfrm>
            <a:off x="6832440" y="2692440"/>
            <a:ext cx="4546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2000"/>
              </a:lnSpc>
            </a:pPr>
            <a:r>
              <a:rPr lang="en-US" sz="1100" b="1" u="none" strike="noStrike">
                <a:solidFill>
                  <a:srgbClr val="191B1F"/>
                </a:solidFill>
                <a:effectLst/>
                <a:uFillTx/>
                <a:latin typeface="Arial"/>
                <a:ea typeface="Microsoft YaHei"/>
              </a:rPr>
              <a:t>LLM </a:t>
            </a:r>
            <a:r>
              <a:rPr lang="zh-CN" sz="1100" b="1" u="none" strike="noStrike">
                <a:solidFill>
                  <a:srgbClr val="191B1F"/>
                </a:solidFill>
                <a:effectLst/>
                <a:uFillTx/>
                <a:latin typeface="Arial"/>
                <a:ea typeface="Microsoft YaHei"/>
              </a:rPr>
              <a:t>工具调用成熟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why2-desc"/>
          <p:cNvSpPr/>
          <p:nvPr/>
        </p:nvSpPr>
        <p:spPr>
          <a:xfrm>
            <a:off x="6832440" y="2946240"/>
            <a:ext cx="454608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自然语言场景解析 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+ 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工具编排可用，但「会算数」仍需确定性引擎兜底，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Agent 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层成为增量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why3-dot"/>
          <p:cNvSpPr/>
          <p:nvPr/>
        </p:nvSpPr>
        <p:spPr>
          <a:xfrm>
            <a:off x="6603840" y="3632040"/>
            <a:ext cx="101160" cy="101160"/>
          </a:xfrm>
          <a:prstGeom prst="rect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1" name="why3-label"/>
          <p:cNvSpPr/>
          <p:nvPr/>
        </p:nvSpPr>
        <p:spPr>
          <a:xfrm>
            <a:off x="6832440" y="3556080"/>
            <a:ext cx="4546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2000"/>
              </a:lnSpc>
            </a:pPr>
            <a:r>
              <a:rPr lang="zh-CN" sz="1100" b="1" u="none" strike="noStrike">
                <a:solidFill>
                  <a:srgbClr val="191B1F"/>
                </a:solidFill>
                <a:effectLst/>
                <a:uFillTx/>
                <a:latin typeface="Arial"/>
                <a:ea typeface="Microsoft YaHei"/>
              </a:rPr>
              <a:t>港美股期权散户化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why3-desc"/>
          <p:cNvSpPr/>
          <p:nvPr/>
        </p:nvSpPr>
        <p:spPr>
          <a:xfrm>
            <a:off x="6832440" y="3809880"/>
            <a:ext cx="454608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港股个股期权美式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/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实物交割与 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IV crush 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让「模板化工具」频繁出错，需要规则显性化的决策支持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gap-note"/>
          <p:cNvSpPr/>
          <p:nvPr/>
        </p:nvSpPr>
        <p:spPr>
          <a:xfrm>
            <a:off x="6603840" y="4444920"/>
            <a:ext cx="477468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zh-CN" sz="9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市场缺口：</a:t>
            </a:r>
            <a:r>
              <a:rPr lang="en-US" sz="9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Bloomberg </a:t>
            </a:r>
            <a:r>
              <a:rPr lang="zh-CN" sz="9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式的流程能力，零售价格 </a:t>
            </a:r>
            <a:r>
              <a:rPr lang="en-US" sz="9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+ </a:t>
            </a:r>
            <a:r>
              <a:rPr lang="zh-CN" sz="9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中文优先；竞品多为单点计算器或预警，缺账户约束与审计闭环。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quote-rail"/>
          <p:cNvSpPr/>
          <p:nvPr/>
        </p:nvSpPr>
        <p:spPr>
          <a:xfrm>
            <a:off x="812880" y="5511960"/>
            <a:ext cx="37800" cy="583920"/>
          </a:xfrm>
          <a:prstGeom prst="rect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5" name="quote-text"/>
          <p:cNvSpPr/>
          <p:nvPr/>
        </p:nvSpPr>
        <p:spPr>
          <a:xfrm>
            <a:off x="1015920" y="5715000"/>
            <a:ext cx="1015956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Georgia"/>
                <a:ea typeface="SimSun"/>
              </a:rPr>
              <a:t>“</a:t>
            </a:r>
            <a:r>
              <a:rPr lang="zh-CN" sz="1350" b="1" u="none" strike="noStrike">
                <a:solidFill>
                  <a:srgbClr val="191B1F"/>
                </a:solidFill>
                <a:effectLst/>
                <a:uFillTx/>
                <a:latin typeface="Georgia"/>
                <a:ea typeface="SimSun"/>
              </a:rPr>
              <a:t>用户不缺一个计算器，缺的是一个能负责的决策流程。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takeaway-rule"/>
          <p:cNvSpPr/>
          <p:nvPr/>
        </p:nvSpPr>
        <p:spPr>
          <a:xfrm>
            <a:off x="812880" y="6222960"/>
            <a:ext cx="10566000" cy="12240"/>
          </a:xfrm>
          <a:custGeom>
            <a:avLst/>
            <a:gdLst>
              <a:gd name="textAreaLeft" fmla="*/ 0 w 10566000"/>
              <a:gd name="textAreaRight" fmla="*/ 10566360 w 1056600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32" h="1">
                <a:moveTo>
                  <a:pt x="0" y="0"/>
                </a:moveTo>
                <a:lnTo>
                  <a:pt x="832" y="0"/>
                </a:lnTo>
              </a:path>
            </a:pathLst>
          </a:custGeom>
          <a:noFill/>
          <a:ln cap="rnd" w="12700">
            <a:solidFill>
              <a:srgbClr val="191B1F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takeaway-text"/>
          <p:cNvSpPr/>
          <p:nvPr/>
        </p:nvSpPr>
        <p:spPr>
          <a:xfrm>
            <a:off x="812880" y="6261120"/>
            <a:ext cx="105660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2000"/>
              </a:lnSpc>
            </a:pPr>
            <a:r>
              <a:rPr lang="zh-CN" sz="10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切入点是业绩事件跨式：高频、规则复杂、</a:t>
            </a:r>
            <a:r>
              <a:rPr lang="en-US" sz="10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IV crush </a:t>
            </a:r>
            <a:r>
              <a:rPr lang="zh-CN" sz="10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后果直观；产品先把「敢说不交易」做成可验证的闭环，再扩展标的与策略。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footer-rule"/>
          <p:cNvSpPr/>
          <p:nvPr/>
        </p:nvSpPr>
        <p:spPr>
          <a:xfrm>
            <a:off x="812880" y="6654960"/>
            <a:ext cx="10566000" cy="12240"/>
          </a:xfrm>
          <a:custGeom>
            <a:avLst/>
            <a:gdLst>
              <a:gd name="textAreaLeft" fmla="*/ 0 w 10566000"/>
              <a:gd name="textAreaRight" fmla="*/ 10566360 w 1056600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32" h="1">
                <a:moveTo>
                  <a:pt x="0" y="0"/>
                </a:moveTo>
                <a:lnTo>
                  <a:pt x="832" y="0"/>
                </a:lnTo>
              </a:path>
            </a:pathLst>
          </a:custGeom>
          <a:noFill/>
          <a:ln cap="rnd" w="12700">
            <a:solidFill>
              <a:srgbClr val="191B1F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footer-left"/>
          <p:cNvSpPr/>
          <p:nvPr/>
        </p:nvSpPr>
        <p:spPr>
          <a:xfrm>
            <a:off x="812880" y="6616800"/>
            <a:ext cx="825480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来源：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docs/PRD.md §1 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用户与痛点 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· research/01-market-landscape.md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footer-right"/>
          <p:cNvSpPr/>
          <p:nvPr/>
        </p:nvSpPr>
        <p:spPr>
          <a:xfrm>
            <a:off x="8940960" y="6616800"/>
            <a:ext cx="243792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18000"/>
              </a:lnSpc>
            </a:pP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13 / 16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  <p:timing>
    <p:tnLst>
      <p:par>
        <p:cTn id="1234" dur="indefinite" restart="never" nodeType="tmRoot">
          <p:childTnLst>
            <p:seq>
              <p:cTn id="1235" dur="indefinite" nodeType="mainSeq">
                <p:childTnLst>
                  <p:par>
                    <p:cTn id="1236" fill="hold">
                      <p:stCondLst>
                        <p:cond delay="0"/>
                      </p:stCondLst>
                      <p:childTnLst>
                        <p:par>
                          <p:cTn id="1237" fill="hold">
                            <p:stCondLst>
                              <p:cond delay="0"/>
                            </p:stCondLst>
                            <p:childTnLst>
                              <p:par>
                                <p:cTn id="1238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40" dur="4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1" presetID="22" presetClass="entr" fill="hold" nodeType="with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1243" dur="25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4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46" dur="3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7" fill="hold">
                            <p:stCondLst>
                              <p:cond delay="400"/>
                            </p:stCondLst>
                            <p:childTnLst>
                              <p:par>
                                <p:cTn id="1248" presetID="34" presetClass="entr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250" dur="450" fill="hold"/>
                                        <p:tgtEl>
                                          <p:spTgt spid="3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1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53" dur="3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4" fill="hold">
                            <p:stCondLst>
                              <p:cond delay="930"/>
                            </p:stCondLst>
                            <p:childTnLst>
                              <p:par>
                                <p:cTn id="1255" presetID="22" presetClass="entr" fill="hold" nodeType="after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1257" dur="35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8" fill="hold">
                            <p:stCondLst>
                              <p:cond delay="1280"/>
                            </p:stCondLst>
                            <p:childTnLst>
                              <p:par>
                                <p:cTn id="1259" presetID="10" presetClass="entr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61" dur="4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2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64" dur="25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5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67" dur="25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8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70" dur="35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1" presetID="34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273" dur="350" fill="hold"/>
                                        <p:tgtEl>
                                          <p:spTgt spid="3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4" fill="hold">
                            <p:stCondLst>
                              <p:cond delay="1740"/>
                            </p:stCondLst>
                            <p:childTnLst>
                              <p:par>
                                <p:cTn id="1275" presetID="10" presetClass="entr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77" dur="25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8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80" dur="25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1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83" dur="3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4" fill="hold">
                            <p:stCondLst>
                              <p:cond delay="2070"/>
                            </p:stCondLst>
                            <p:childTnLst>
                              <p:par>
                                <p:cTn id="1285" presetID="10" presetClass="entr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87" dur="25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8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90" dur="25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1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93" dur="3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4" fill="hold">
                            <p:stCondLst>
                              <p:cond delay="2380"/>
                            </p:stCondLst>
                            <p:childTnLst>
                              <p:par>
                                <p:cTn id="1295" presetID="10" presetClass="entr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97" dur="25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8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300" dur="25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1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303" dur="3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4" fill="hold">
                            <p:stCondLst>
                              <p:cond delay="2690"/>
                            </p:stCondLst>
                            <p:childTnLst>
                              <p:par>
                                <p:cTn id="1305" presetID="10" presetClass="entr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307" dur="3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8" fill="hold">
                            <p:stCondLst>
                              <p:cond delay="3050"/>
                            </p:stCondLst>
                            <p:childTnLst>
                              <p:par>
                                <p:cTn id="1309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311" dur="3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2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314" dur="35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5" fill="hold">
                            <p:stCondLst>
                              <p:cond delay="3400"/>
                            </p:stCondLst>
                            <p:childTnLst>
                              <p:par>
                                <p:cTn id="1316" presetID="22" presetClass="entr" fill="hold" nodeType="after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1318" dur="300"/>
                                        <p:tgtEl>
                                          <p:spTgt spid="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321" dur="300"/>
                                        <p:tgtEl>
                                          <p:spTgt spid="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2" fill="hold">
                            <p:stCondLst>
                              <p:cond delay="3700"/>
                            </p:stCondLst>
                            <p:childTnLst>
                              <p:par>
                                <p:cTn id="1323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325" dur="20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6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328" dur="25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331" dur="25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corner"/>
          <p:cNvSpPr/>
          <p:nvPr/>
        </p:nvSpPr>
        <p:spPr>
          <a:xfrm>
            <a:off x="10058400" y="152280"/>
            <a:ext cx="1320480" cy="73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20000"/>
              </a:lnSpc>
            </a:pPr>
            <a:r>
              <a:rPr lang="en-US" sz="4800" b="0" i="1" u="none" strike="noStrike">
                <a:solidFill>
                  <a:srgbClr val="D9D3C6"/>
                </a:solidFill>
                <a:effectLst/>
                <a:uFillTx/>
                <a:latin typeface="Georgia"/>
                <a:ea typeface="Georgia"/>
              </a:rPr>
              <a:t>14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tick"/>
          <p:cNvSpPr/>
          <p:nvPr/>
        </p:nvSpPr>
        <p:spPr>
          <a:xfrm>
            <a:off x="812880" y="558720"/>
            <a:ext cx="279000" cy="25200"/>
          </a:xfrm>
          <a:prstGeom prst="rect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9440" rIns="90000" bIns="-19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3" name="kicker"/>
          <p:cNvSpPr/>
          <p:nvPr/>
        </p:nvSpPr>
        <p:spPr>
          <a:xfrm>
            <a:off x="1219320" y="457200"/>
            <a:ext cx="761976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1050" b="1" u="none" spc="201" strike="noStrike">
                <a:solidFill>
                  <a:srgbClr val="0E7490"/>
                </a:solidFill>
                <a:effectLst/>
                <a:uFillTx/>
                <a:latin typeface="Arial"/>
                <a:ea typeface="Microsoft YaHei"/>
              </a:rPr>
              <a:t>TEAM · 13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title"/>
          <p:cNvSpPr/>
          <p:nvPr/>
        </p:nvSpPr>
        <p:spPr>
          <a:xfrm>
            <a:off x="812880" y="711360"/>
            <a:ext cx="1056600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2000"/>
              </a:lnSpc>
            </a:pPr>
            <a:r>
              <a:rPr lang="zh-CN" sz="2600" b="1" u="none" strike="noStrike">
                <a:solidFill>
                  <a:srgbClr val="191B1F"/>
                </a:solidFill>
                <a:effectLst/>
                <a:uFillTx/>
                <a:latin typeface="Georgia"/>
                <a:ea typeface="SimSun"/>
              </a:rPr>
              <a:t>三角色分工，覆盖产品、策略与安全三块硬能力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standfirst"/>
          <p:cNvSpPr/>
          <p:nvPr/>
        </p:nvSpPr>
        <p:spPr>
          <a:xfrm>
            <a:off x="812880" y="1270080"/>
            <a:ext cx="10566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en-US" sz="11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3 </a:t>
            </a:r>
            <a:r>
              <a:rPr lang="zh-CN" sz="11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人团队 </a:t>
            </a:r>
            <a:r>
              <a:rPr lang="en-US" sz="11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· </a:t>
            </a:r>
            <a:r>
              <a:rPr lang="zh-CN" sz="11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每个角色与项目模块一一对应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header-rule"/>
          <p:cNvSpPr/>
          <p:nvPr/>
        </p:nvSpPr>
        <p:spPr>
          <a:xfrm>
            <a:off x="812880" y="1574640"/>
            <a:ext cx="10566000" cy="12240"/>
          </a:xfrm>
          <a:custGeom>
            <a:avLst/>
            <a:gdLst>
              <a:gd name="textAreaLeft" fmla="*/ 0 w 10566000"/>
              <a:gd name="textAreaRight" fmla="*/ 10566360 w 1056600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32" h="1">
                <a:moveTo>
                  <a:pt x="0" y="0"/>
                </a:moveTo>
                <a:lnTo>
                  <a:pt x="832" y="0"/>
                </a:lnTo>
              </a:path>
            </a:pathLst>
          </a:custGeom>
          <a:noFill/>
          <a:ln cap="rnd" w="12700">
            <a:solidFill>
              <a:srgbClr val="191B1F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t1-letter"/>
          <p:cNvSpPr/>
          <p:nvPr/>
        </p:nvSpPr>
        <p:spPr>
          <a:xfrm>
            <a:off x="812880" y="1778040"/>
            <a:ext cx="761760" cy="55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3400" b="1" u="none" strike="noStrike">
                <a:solidFill>
                  <a:srgbClr val="0E7490"/>
                </a:solidFill>
                <a:effectLst/>
                <a:uFillTx/>
                <a:latin typeface="Georgia"/>
                <a:ea typeface="Georgia"/>
              </a:rPr>
              <a:t>A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1-role"/>
          <p:cNvSpPr/>
          <p:nvPr/>
        </p:nvSpPr>
        <p:spPr>
          <a:xfrm>
            <a:off x="812880" y="2387520"/>
            <a:ext cx="325080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zh-CN" sz="1400" b="1" u="none" strike="noStrike">
                <a:solidFill>
                  <a:srgbClr val="191B1F"/>
                </a:solidFill>
                <a:effectLst/>
                <a:uFillTx/>
                <a:latin typeface="Georgia"/>
                <a:ea typeface="SimSun"/>
              </a:rPr>
              <a:t>多 </a:t>
            </a:r>
            <a:r>
              <a:rPr lang="en-US" sz="1400" b="1" u="none" strike="noStrike">
                <a:solidFill>
                  <a:srgbClr val="191B1F"/>
                </a:solidFill>
                <a:effectLst/>
                <a:uFillTx/>
                <a:latin typeface="Georgia"/>
                <a:ea typeface="SimSun"/>
              </a:rPr>
              <a:t>Agent </a:t>
            </a:r>
            <a:r>
              <a:rPr lang="zh-CN" sz="1400" b="1" u="none" strike="noStrike">
                <a:solidFill>
                  <a:srgbClr val="191B1F"/>
                </a:solidFill>
                <a:effectLst/>
                <a:uFillTx/>
                <a:latin typeface="Georgia"/>
                <a:ea typeface="SimSun"/>
              </a:rPr>
              <a:t>工程与量化研究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t1-body"/>
          <p:cNvSpPr/>
          <p:nvPr/>
        </p:nvSpPr>
        <p:spPr>
          <a:xfrm>
            <a:off x="812880" y="2717640"/>
            <a:ext cx="3250800" cy="20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负责：数据层与 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Gateway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、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Agent 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架构、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8000"/>
              </a:lnSpc>
            </a:pP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回测与 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Demo 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工程、方案 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PPT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8000"/>
              </a:lnSpc>
              <a:spcBef>
                <a:spcPts val="601"/>
              </a:spcBef>
            </a:pP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沉淀：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futu-options-agent Skill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、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8000"/>
              </a:lnSpc>
            </a:pP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自研定价引擎与回测流水线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tvr1"/>
          <p:cNvSpPr/>
          <p:nvPr/>
        </p:nvSpPr>
        <p:spPr>
          <a:xfrm>
            <a:off x="4267080" y="1778040"/>
            <a:ext cx="12240" cy="3174480"/>
          </a:xfrm>
          <a:custGeom>
            <a:avLst/>
            <a:gdLst>
              <a:gd name="textAreaLeft" fmla="*/ 0 w 12240"/>
              <a:gd name="textAreaRight" fmla="*/ 12600 w 12240"/>
              <a:gd name="textAreaTop" fmla="*/ 0 h 3174480"/>
              <a:gd name="textAreaBottom" fmla="*/ 3174840 h 3174480"/>
            </a:gdLst>
            <a:ahLst/>
            <a:cxnLst/>
            <a:rect l="textAreaLeft" t="textAreaTop" r="textAreaRight" b="textAreaBottom"/>
            <a:pathLst>
              <a:path w="1" h="250">
                <a:moveTo>
                  <a:pt x="0" y="0"/>
                </a:moveTo>
                <a:lnTo>
                  <a:pt x="0" y="250"/>
                </a:lnTo>
              </a:path>
            </a:pathLst>
          </a:custGeom>
          <a:noFill/>
          <a:ln cap="rnd" w="12700">
            <a:solidFill>
              <a:srgbClr val="191B1F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t2-letter"/>
          <p:cNvSpPr/>
          <p:nvPr/>
        </p:nvSpPr>
        <p:spPr>
          <a:xfrm>
            <a:off x="4470480" y="1778040"/>
            <a:ext cx="761760" cy="55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3400" b="1" u="none" strike="noStrike">
                <a:solidFill>
                  <a:srgbClr val="0E7490"/>
                </a:solidFill>
                <a:effectLst/>
                <a:uFillTx/>
                <a:latin typeface="Georgia"/>
                <a:ea typeface="Georgia"/>
              </a:rPr>
              <a:t>B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t2-role"/>
          <p:cNvSpPr/>
          <p:nvPr/>
        </p:nvSpPr>
        <p:spPr>
          <a:xfrm>
            <a:off x="4470480" y="2387520"/>
            <a:ext cx="325080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zh-CN" sz="1400" b="1" u="none" strike="noStrike">
                <a:solidFill>
                  <a:srgbClr val="191B1F"/>
                </a:solidFill>
                <a:effectLst/>
                <a:uFillTx/>
                <a:latin typeface="Georgia"/>
                <a:ea typeface="SimSun"/>
              </a:rPr>
              <a:t>港美股期权策略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t2-body"/>
          <p:cNvSpPr/>
          <p:nvPr/>
        </p:nvSpPr>
        <p:spPr>
          <a:xfrm>
            <a:off x="4470480" y="2717640"/>
            <a:ext cx="3250800" cy="20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负责：策略规则与场景、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Greeks/IV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8000"/>
              </a:lnSpc>
            </a:pP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解读、风险检查单、市场知识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8000"/>
              </a:lnSpc>
              <a:spcBef>
                <a:spcPts val="601"/>
              </a:spcBef>
            </a:pP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沉淀：跨式 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Hero 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用例规则集、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8000"/>
              </a:lnSpc>
            </a:pP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港美股差异清单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tvr2"/>
          <p:cNvSpPr/>
          <p:nvPr/>
        </p:nvSpPr>
        <p:spPr>
          <a:xfrm>
            <a:off x="7924680" y="1778040"/>
            <a:ext cx="12240" cy="3174480"/>
          </a:xfrm>
          <a:custGeom>
            <a:avLst/>
            <a:gdLst>
              <a:gd name="textAreaLeft" fmla="*/ 0 w 12240"/>
              <a:gd name="textAreaRight" fmla="*/ 12600 w 12240"/>
              <a:gd name="textAreaTop" fmla="*/ 0 h 3174480"/>
              <a:gd name="textAreaBottom" fmla="*/ 3174840 h 3174480"/>
            </a:gdLst>
            <a:ahLst/>
            <a:cxnLst/>
            <a:rect l="textAreaLeft" t="textAreaTop" r="textAreaRight" b="textAreaBottom"/>
            <a:pathLst>
              <a:path w="1" h="250">
                <a:moveTo>
                  <a:pt x="0" y="0"/>
                </a:moveTo>
                <a:lnTo>
                  <a:pt x="0" y="250"/>
                </a:lnTo>
              </a:path>
            </a:pathLst>
          </a:custGeom>
          <a:noFill/>
          <a:ln cap="rnd" w="12700">
            <a:solidFill>
              <a:srgbClr val="191B1F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t3-letter"/>
          <p:cNvSpPr/>
          <p:nvPr/>
        </p:nvSpPr>
        <p:spPr>
          <a:xfrm>
            <a:off x="8128080" y="1778040"/>
            <a:ext cx="761760" cy="55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3400" b="1" u="none" strike="noStrike">
                <a:solidFill>
                  <a:srgbClr val="0E7490"/>
                </a:solidFill>
                <a:effectLst/>
                <a:uFillTx/>
                <a:latin typeface="Georgia"/>
                <a:ea typeface="Georgia"/>
              </a:rPr>
              <a:t>C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t3-role"/>
          <p:cNvSpPr/>
          <p:nvPr/>
        </p:nvSpPr>
        <p:spPr>
          <a:xfrm>
            <a:off x="8128080" y="2387520"/>
            <a:ext cx="325080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zh-CN" sz="1400" b="1" u="none" strike="noStrike">
                <a:solidFill>
                  <a:srgbClr val="191B1F"/>
                </a:solidFill>
                <a:effectLst/>
                <a:uFillTx/>
                <a:latin typeface="Georgia"/>
                <a:ea typeface="SimSun"/>
              </a:rPr>
              <a:t>网络安全与合规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t3-body"/>
          <p:cNvSpPr/>
          <p:nvPr/>
        </p:nvSpPr>
        <p:spPr>
          <a:xfrm>
            <a:off x="8128080" y="2717640"/>
            <a:ext cx="3250800" cy="20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负责：合规与审计层、数据授权、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8000"/>
              </a:lnSpc>
            </a:pP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安全设计（防注入、密钥、哈希链）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8000"/>
              </a:lnSpc>
              <a:spcBef>
                <a:spcPts val="601"/>
              </a:spcBef>
            </a:pP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沉淀：审计日志与脱敏规范、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8000"/>
              </a:lnSpc>
            </a:pP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SFC / HKEX 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边界清单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map-line"/>
          <p:cNvSpPr/>
          <p:nvPr/>
        </p:nvSpPr>
        <p:spPr>
          <a:xfrm>
            <a:off x="812880" y="4902120"/>
            <a:ext cx="10566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模块对应：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A → 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数据层 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/ Agent / Demo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　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B → 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策略引擎 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/ 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场景规则　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C → 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合规审计 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/ 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数据安全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takeaway-rule"/>
          <p:cNvSpPr/>
          <p:nvPr/>
        </p:nvSpPr>
        <p:spPr>
          <a:xfrm>
            <a:off x="812880" y="5562720"/>
            <a:ext cx="10566000" cy="12240"/>
          </a:xfrm>
          <a:custGeom>
            <a:avLst/>
            <a:gdLst>
              <a:gd name="textAreaLeft" fmla="*/ 0 w 10566000"/>
              <a:gd name="textAreaRight" fmla="*/ 10566360 w 1056600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32" h="1">
                <a:moveTo>
                  <a:pt x="0" y="0"/>
                </a:moveTo>
                <a:lnTo>
                  <a:pt x="832" y="0"/>
                </a:lnTo>
              </a:path>
            </a:pathLst>
          </a:custGeom>
          <a:noFill/>
          <a:ln cap="rnd" w="12700">
            <a:solidFill>
              <a:srgbClr val="191B1F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takeaway-text"/>
          <p:cNvSpPr/>
          <p:nvPr/>
        </p:nvSpPr>
        <p:spPr>
          <a:xfrm>
            <a:off x="812880" y="5600880"/>
            <a:ext cx="105660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2000"/>
              </a:lnSpc>
            </a:pPr>
            <a:r>
              <a:rPr lang="zh-CN" sz="10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小团队的分工正好覆盖比赛要求的三块硬能力：能跑通的任务闭环、说得清的策略依据、可复核的安全边界。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footer-rule"/>
          <p:cNvSpPr/>
          <p:nvPr/>
        </p:nvSpPr>
        <p:spPr>
          <a:xfrm>
            <a:off x="812880" y="6654960"/>
            <a:ext cx="10566000" cy="12240"/>
          </a:xfrm>
          <a:custGeom>
            <a:avLst/>
            <a:gdLst>
              <a:gd name="textAreaLeft" fmla="*/ 0 w 10566000"/>
              <a:gd name="textAreaRight" fmla="*/ 10566360 w 1056600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32" h="1">
                <a:moveTo>
                  <a:pt x="0" y="0"/>
                </a:moveTo>
                <a:lnTo>
                  <a:pt x="832" y="0"/>
                </a:lnTo>
              </a:path>
            </a:pathLst>
          </a:custGeom>
          <a:noFill/>
          <a:ln cap="rnd" w="12700">
            <a:solidFill>
              <a:srgbClr val="191B1F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footer-left"/>
          <p:cNvSpPr/>
          <p:nvPr/>
        </p:nvSpPr>
        <p:spPr>
          <a:xfrm>
            <a:off x="812880" y="6616800"/>
            <a:ext cx="825480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来源：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PROJECT_STATE.md §1 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团队与分工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footer-right"/>
          <p:cNvSpPr/>
          <p:nvPr/>
        </p:nvSpPr>
        <p:spPr>
          <a:xfrm>
            <a:off x="8940960" y="6616800"/>
            <a:ext cx="243792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18000"/>
              </a:lnSpc>
            </a:pP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14 / 16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  <p:timing>
    <p:tnLst>
      <p:par>
        <p:cTn id="1332" dur="indefinite" restart="never" nodeType="tmRoot">
          <p:childTnLst>
            <p:seq>
              <p:cTn id="1333" dur="indefinite" nodeType="mainSeq">
                <p:childTnLst>
                  <p:par>
                    <p:cTn id="1334" fill="hold">
                      <p:stCondLst>
                        <p:cond delay="0"/>
                      </p:stCondLst>
                      <p:childTnLst>
                        <p:par>
                          <p:cTn id="1335" fill="hold">
                            <p:stCondLst>
                              <p:cond delay="0"/>
                            </p:stCondLst>
                            <p:childTnLst>
                              <p:par>
                                <p:cTn id="1336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338" dur="400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9" presetID="22" presetClass="entr" fill="hold" nodeType="with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1341" dur="25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2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344" dur="3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5" fill="hold">
                            <p:stCondLst>
                              <p:cond delay="400"/>
                            </p:stCondLst>
                            <p:childTnLst>
                              <p:par>
                                <p:cTn id="1346" presetID="34" presetClass="entr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48" dur="450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351" dur="3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2" fill="hold">
                            <p:stCondLst>
                              <p:cond delay="930"/>
                            </p:stCondLst>
                            <p:childTnLst>
                              <p:par>
                                <p:cTn id="1353" presetID="22" presetClass="entr" fill="hold" nodeType="after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1355" dur="35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6" fill="hold">
                            <p:stCondLst>
                              <p:cond delay="1280"/>
                            </p:stCondLst>
                            <p:childTnLst>
                              <p:par>
                                <p:cTn id="1357" presetID="34" presetClass="entr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59" dur="350" fill="hold"/>
                                        <p:tgtEl>
                                          <p:spTgt spid="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0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362" dur="25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3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365" dur="3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6" fill="hold">
                            <p:stCondLst>
                              <p:cond delay="1690"/>
                            </p:stCondLst>
                            <p:childTnLst>
                              <p:par>
                                <p:cTn id="1367" presetID="22" presetClass="entr" fill="hold" nodeType="after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369" dur="3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0" fill="hold">
                            <p:stCondLst>
                              <p:cond delay="1990"/>
                            </p:stCondLst>
                            <p:childTnLst>
                              <p:par>
                                <p:cTn id="1371" presetID="34" presetClass="entr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73" dur="350" fill="hold"/>
                                        <p:tgtEl>
                                          <p:spTgt spid="3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4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376" dur="250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7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379" dur="300"/>
                                        <p:tgtEl>
                                          <p:spTgt spid="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0" fill="hold">
                            <p:stCondLst>
                              <p:cond delay="2400"/>
                            </p:stCondLst>
                            <p:childTnLst>
                              <p:par>
                                <p:cTn id="1381" presetID="22" presetClass="entr" fill="hold" nodeType="after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383" dur="30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4" fill="hold">
                            <p:stCondLst>
                              <p:cond delay="2700"/>
                            </p:stCondLst>
                            <p:childTnLst>
                              <p:par>
                                <p:cTn id="1385" presetID="34" presetClass="entr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87" dur="350" fill="hold"/>
                                        <p:tgtEl>
                                          <p:spTgt spid="3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8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390" dur="25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1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393" dur="3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4" fill="hold">
                            <p:stCondLst>
                              <p:cond delay="3110"/>
                            </p:stCondLst>
                            <p:childTnLst>
                              <p:par>
                                <p:cTn id="1395" presetID="10" presetClass="entr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397" dur="300"/>
                                        <p:tgtEl>
                                          <p:spTgt spid="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8" fill="hold">
                            <p:stCondLst>
                              <p:cond delay="3470"/>
                            </p:stCondLst>
                            <p:childTnLst>
                              <p:par>
                                <p:cTn id="1399" presetID="22" presetClass="entr" fill="hold" nodeType="after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1401" dur="3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2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404" dur="3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5" fill="hold">
                            <p:stCondLst>
                              <p:cond delay="3770"/>
                            </p:stCondLst>
                            <p:childTnLst>
                              <p:par>
                                <p:cTn id="1406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408" dur="2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411" dur="25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2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414" dur="250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corner"/>
          <p:cNvSpPr/>
          <p:nvPr/>
        </p:nvSpPr>
        <p:spPr>
          <a:xfrm>
            <a:off x="10058400" y="152280"/>
            <a:ext cx="1320480" cy="73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20000"/>
              </a:lnSpc>
            </a:pPr>
            <a:r>
              <a:rPr lang="en-US" sz="4800" b="0" i="1" u="none" strike="noStrike">
                <a:solidFill>
                  <a:srgbClr val="D9D3C6"/>
                </a:solidFill>
                <a:effectLst/>
                <a:uFillTx/>
                <a:latin typeface="Georgia"/>
                <a:ea typeface="Georgia"/>
              </a:rPr>
              <a:t>15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tick"/>
          <p:cNvSpPr/>
          <p:nvPr/>
        </p:nvSpPr>
        <p:spPr>
          <a:xfrm>
            <a:off x="812880" y="558720"/>
            <a:ext cx="279000" cy="25200"/>
          </a:xfrm>
          <a:prstGeom prst="rect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9440" rIns="90000" bIns="-19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6" name="kicker"/>
          <p:cNvSpPr/>
          <p:nvPr/>
        </p:nvSpPr>
        <p:spPr>
          <a:xfrm>
            <a:off x="1219320" y="457200"/>
            <a:ext cx="761976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1050" b="1" u="none" spc="201" strike="noStrike">
                <a:solidFill>
                  <a:srgbClr val="0E7490"/>
                </a:solidFill>
                <a:effectLst/>
                <a:uFillTx/>
                <a:latin typeface="Arial"/>
                <a:ea typeface="Microsoft YaHei"/>
              </a:rPr>
              <a:t>COMPLIANCE · 14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title"/>
          <p:cNvSpPr/>
          <p:nvPr/>
        </p:nvSpPr>
        <p:spPr>
          <a:xfrm>
            <a:off x="812880" y="711360"/>
            <a:ext cx="1056600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2000"/>
              </a:lnSpc>
            </a:pPr>
            <a:r>
              <a:rPr lang="zh-CN" sz="2600" b="1" u="none" strike="noStrike">
                <a:solidFill>
                  <a:srgbClr val="191B1F"/>
                </a:solidFill>
                <a:effectLst/>
                <a:uFillTx/>
                <a:latin typeface="Georgia"/>
                <a:ea typeface="SimSun"/>
              </a:rPr>
              <a:t>研究 </a:t>
            </a:r>
            <a:r>
              <a:rPr lang="en-US" sz="2600" b="1" u="none" strike="noStrike">
                <a:solidFill>
                  <a:srgbClr val="191B1F"/>
                </a:solidFill>
                <a:effectLst/>
                <a:uFillTx/>
                <a:latin typeface="Georgia"/>
                <a:ea typeface="SimSun"/>
              </a:rPr>
              <a:t>/ </a:t>
            </a:r>
            <a:r>
              <a:rPr lang="zh-CN" sz="2600" b="1" u="none" strike="noStrike">
                <a:solidFill>
                  <a:srgbClr val="191B1F"/>
                </a:solidFill>
                <a:effectLst/>
                <a:uFillTx/>
                <a:latin typeface="Georgia"/>
                <a:ea typeface="SimSun"/>
              </a:rPr>
              <a:t>教育 </a:t>
            </a:r>
            <a:r>
              <a:rPr lang="en-US" sz="2600" b="1" u="none" strike="noStrike">
                <a:solidFill>
                  <a:srgbClr val="191B1F"/>
                </a:solidFill>
                <a:effectLst/>
                <a:uFillTx/>
                <a:latin typeface="Georgia"/>
                <a:ea typeface="SimSun"/>
              </a:rPr>
              <a:t>/ </a:t>
            </a:r>
            <a:r>
              <a:rPr lang="zh-CN" sz="2600" b="1" u="none" strike="noStrike">
                <a:solidFill>
                  <a:srgbClr val="191B1F"/>
                </a:solidFill>
                <a:effectLst/>
                <a:uFillTx/>
                <a:latin typeface="Georgia"/>
                <a:ea typeface="SimSun"/>
              </a:rPr>
              <a:t>决策支持工具：不荐股、不代下单、不承诺收益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standfirst"/>
          <p:cNvSpPr/>
          <p:nvPr/>
        </p:nvSpPr>
        <p:spPr>
          <a:xfrm>
            <a:off x="812880" y="1270080"/>
            <a:ext cx="10566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11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合规边界与产品铁律一一对应（</a:t>
            </a:r>
            <a:r>
              <a:rPr lang="en-US" sz="11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SFC Type 1/4/9 </a:t>
            </a:r>
            <a:r>
              <a:rPr lang="zh-CN" sz="11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牌照边界内）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header-rule"/>
          <p:cNvSpPr/>
          <p:nvPr/>
        </p:nvSpPr>
        <p:spPr>
          <a:xfrm>
            <a:off x="812880" y="1574640"/>
            <a:ext cx="10566000" cy="12240"/>
          </a:xfrm>
          <a:custGeom>
            <a:avLst/>
            <a:gdLst>
              <a:gd name="textAreaLeft" fmla="*/ 0 w 10566000"/>
              <a:gd name="textAreaRight" fmla="*/ 10566360 w 1056600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32" h="1">
                <a:moveTo>
                  <a:pt x="0" y="0"/>
                </a:moveTo>
                <a:lnTo>
                  <a:pt x="832" y="0"/>
                </a:lnTo>
              </a:path>
            </a:pathLst>
          </a:custGeom>
          <a:noFill/>
          <a:ln cap="rnd" w="12700">
            <a:solidFill>
              <a:srgbClr val="191B1F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10" name="comp-table"/>
          <p:cNvGraphicFramePr/>
          <p:nvPr/>
        </p:nvGraphicFramePr>
        <p:xfrm>
          <a:off x="812880" y="1778040"/>
          <a:ext cx="10566000" cy="3555720"/>
        </p:xfrm>
        <a:graphic>
          <a:graphicData uri="http://schemas.openxmlformats.org/drawingml/2006/table">
            <a:tbl>
              <a:tblPr/>
              <a:tblGrid>
                <a:gridCol w="3169800"/>
                <a:gridCol w="7396200"/>
              </a:tblGrid>
              <a:tr h="3200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1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边界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91B1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1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对应铁律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91B1F"/>
                      </a:solidFill>
                      <a:prstDash val="solid"/>
                    </a:lnB>
                    <a:noFill/>
                  </a:tcPr>
                </a:tc>
              </a:tr>
              <a:tr h="6469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投资建议边界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91B1F">
                          <a:alpha val="32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页面与材料声明非投资建议，无荐股表达、无收益承诺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91B1F">
                          <a:alpha val="32"/>
                        </a:srgbClr>
                      </a:solidFill>
                      <a:prstDash val="solid"/>
                    </a:lnB>
                    <a:noFill/>
                  </a:tcPr>
                </a:tc>
              </a:tr>
              <a:tr h="6469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实盘风险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91B1F">
                          <a:alpha val="32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比赛版本无实盘入口，不注册真实交易权限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91B1F">
                          <a:alpha val="32"/>
                        </a:srgbClr>
                      </a:solidFill>
                      <a:prstDash val="solid"/>
                    </a:lnB>
                    <a:noFill/>
                  </a:tcPr>
                </a:tc>
              </a:tr>
              <a:tr h="6469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模拟误操作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91B1F">
                          <a:alpha val="32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独立确认 </a:t>
                      </a:r>
                      <a:r>
                        <a:rPr lang="en-US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+ </a:t>
                      </a:r>
                      <a:r>
                        <a:rPr lang="zh-CN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提交前复核 </a:t>
                      </a:r>
                      <a:r>
                        <a:rPr lang="en-US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+ </a:t>
                      </a:r>
                      <a:r>
                        <a:rPr lang="zh-CN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幂等；禁止自动重提、补腿、追价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91B1F">
                          <a:alpha val="32"/>
                        </a:srgbClr>
                      </a:solidFill>
                      <a:prstDash val="solid"/>
                    </a:lnB>
                    <a:noFill/>
                  </a:tcPr>
                </a:tc>
              </a:tr>
              <a:tr h="6469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数据授权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91B1F">
                          <a:alpha val="32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授权行情与原始快照不重新分发；公开材料脱敏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91B1F">
                          <a:alpha val="32"/>
                        </a:srgbClr>
                      </a:solidFill>
                      <a:prstDash val="solid"/>
                    </a:lnB>
                    <a:noFill/>
                  </a:tcPr>
                </a:tc>
              </a:tr>
              <a:tr h="6469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en-US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LLM </a:t>
                      </a:r>
                      <a:r>
                        <a:rPr lang="zh-CN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幻觉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91B1F">
                          <a:alpha val="32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数值引擎 </a:t>
                      </a:r>
                      <a:r>
                        <a:rPr lang="en-US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+ </a:t>
                      </a:r>
                      <a:r>
                        <a:rPr lang="zh-CN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审计链兜底；</a:t>
                      </a:r>
                      <a:r>
                        <a:rPr lang="en-US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LLM </a:t>
                      </a:r>
                      <a:r>
                        <a:rPr lang="zh-CN" sz="1050" b="0" u="none" strike="noStrike">
                          <a:solidFill>
                            <a:srgbClr val="191B1F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只做解析、编排与解释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91B1F">
                          <a:alpha val="32"/>
                        </a:srgb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11" name="quote-rail"/>
          <p:cNvSpPr/>
          <p:nvPr/>
        </p:nvSpPr>
        <p:spPr>
          <a:xfrm>
            <a:off x="812880" y="5511960"/>
            <a:ext cx="37800" cy="583920"/>
          </a:xfrm>
          <a:prstGeom prst="rect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2" name="quote-text"/>
          <p:cNvSpPr/>
          <p:nvPr/>
        </p:nvSpPr>
        <p:spPr>
          <a:xfrm>
            <a:off x="1015920" y="5715000"/>
            <a:ext cx="1015956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Georgia"/>
                <a:ea typeface="SimSun"/>
              </a:rPr>
              <a:t>“</a:t>
            </a:r>
            <a:r>
              <a:rPr lang="zh-CN" sz="1350" b="1" u="none" strike="noStrike">
                <a:solidFill>
                  <a:srgbClr val="191B1F"/>
                </a:solidFill>
                <a:effectLst/>
                <a:uFillTx/>
                <a:latin typeface="Georgia"/>
                <a:ea typeface="SimSun"/>
              </a:rPr>
              <a:t>合规不是免责声明，是产品边界。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takeaway-rule"/>
          <p:cNvSpPr/>
          <p:nvPr/>
        </p:nvSpPr>
        <p:spPr>
          <a:xfrm>
            <a:off x="812880" y="6222960"/>
            <a:ext cx="10566000" cy="12240"/>
          </a:xfrm>
          <a:custGeom>
            <a:avLst/>
            <a:gdLst>
              <a:gd name="textAreaLeft" fmla="*/ 0 w 10566000"/>
              <a:gd name="textAreaRight" fmla="*/ 10566360 w 1056600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32" h="1">
                <a:moveTo>
                  <a:pt x="0" y="0"/>
                </a:moveTo>
                <a:lnTo>
                  <a:pt x="832" y="0"/>
                </a:lnTo>
              </a:path>
            </a:pathLst>
          </a:custGeom>
          <a:noFill/>
          <a:ln cap="rnd" w="12700">
            <a:solidFill>
              <a:srgbClr val="191B1F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takeaway-text"/>
          <p:cNvSpPr/>
          <p:nvPr/>
        </p:nvSpPr>
        <p:spPr>
          <a:xfrm>
            <a:off x="812880" y="6261120"/>
            <a:ext cx="105660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2000"/>
              </a:lnSpc>
            </a:pPr>
            <a:r>
              <a:rPr lang="en-US" sz="10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PASS </a:t>
            </a:r>
            <a:r>
              <a:rPr lang="zh-CN" sz="10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的含义是「当前数据、规则与风险门通过」，不代表盈利、成交或投资建议。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footer-rule"/>
          <p:cNvSpPr/>
          <p:nvPr/>
        </p:nvSpPr>
        <p:spPr>
          <a:xfrm>
            <a:off x="812880" y="6654960"/>
            <a:ext cx="10566000" cy="12240"/>
          </a:xfrm>
          <a:custGeom>
            <a:avLst/>
            <a:gdLst>
              <a:gd name="textAreaLeft" fmla="*/ 0 w 10566000"/>
              <a:gd name="textAreaRight" fmla="*/ 10566360 w 1056600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32" h="1">
                <a:moveTo>
                  <a:pt x="0" y="0"/>
                </a:moveTo>
                <a:lnTo>
                  <a:pt x="832" y="0"/>
                </a:lnTo>
              </a:path>
            </a:pathLst>
          </a:custGeom>
          <a:noFill/>
          <a:ln cap="rnd" w="12700">
            <a:solidFill>
              <a:srgbClr val="191B1F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footer-left"/>
          <p:cNvSpPr/>
          <p:nvPr/>
        </p:nvSpPr>
        <p:spPr>
          <a:xfrm>
            <a:off x="812880" y="6616800"/>
            <a:ext cx="825480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来源：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research/03-boundaries-risks.md · docs/PRD.md §2.3 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非目标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footer-right"/>
          <p:cNvSpPr/>
          <p:nvPr/>
        </p:nvSpPr>
        <p:spPr>
          <a:xfrm>
            <a:off x="8940960" y="6616800"/>
            <a:ext cx="243792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18000"/>
              </a:lnSpc>
            </a:pP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15 / 16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  <p:timing>
    <p:tnLst>
      <p:par>
        <p:cTn id="1415" dur="indefinite" restart="never" nodeType="tmRoot">
          <p:childTnLst>
            <p:seq>
              <p:cTn id="1416" dur="indefinite" nodeType="mainSeq">
                <p:childTnLst>
                  <p:par>
                    <p:cTn id="1417" fill="hold">
                      <p:stCondLst>
                        <p:cond delay="0"/>
                      </p:stCondLst>
                      <p:childTnLst>
                        <p:par>
                          <p:cTn id="1418" fill="hold">
                            <p:stCondLst>
                              <p:cond delay="0"/>
                            </p:stCondLst>
                            <p:childTnLst>
                              <p:par>
                                <p:cTn id="1419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421" dur="40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2" presetID="22" presetClass="entr" fill="hold" nodeType="with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1424" dur="250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5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427" dur="300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8" fill="hold">
                            <p:stCondLst>
                              <p:cond delay="400"/>
                            </p:stCondLst>
                            <p:childTnLst>
                              <p:par>
                                <p:cTn id="1429" presetID="34" presetClass="entr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431" dur="450" fill="hold"/>
                                        <p:tgtEl>
                                          <p:spTgt spid="4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2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434" dur="300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5" fill="hold">
                            <p:stCondLst>
                              <p:cond delay="930"/>
                            </p:stCondLst>
                            <p:childTnLst>
                              <p:par>
                                <p:cTn id="1436" presetID="22" presetClass="entr" fill="hold" nodeType="after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1438" dur="35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9" fill="hold">
                            <p:stCondLst>
                              <p:cond delay="1280"/>
                            </p:stCondLst>
                            <p:childTnLst>
                              <p:par>
                                <p:cTn id="1440" presetID="10" presetClass="entr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4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442" dur="40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3" fill="hold">
                            <p:stCondLst>
                              <p:cond delay="1740"/>
                            </p:stCondLst>
                            <p:childTnLst>
                              <p:par>
                                <p:cTn id="1444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446" dur="30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7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449" dur="350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0" fill="hold">
                            <p:stCondLst>
                              <p:cond delay="2090"/>
                            </p:stCondLst>
                            <p:childTnLst>
                              <p:par>
                                <p:cTn id="1451" presetID="22" presetClass="entr" fill="hold" nodeType="after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1453" dur="300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4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456" dur="300"/>
                                        <p:tgtEl>
                                          <p:spTgt spid="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7" fill="hold">
                            <p:stCondLst>
                              <p:cond delay="2390"/>
                            </p:stCondLst>
                            <p:childTnLst>
                              <p:par>
                                <p:cTn id="1458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460" dur="2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1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463" dur="250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4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466" dur="25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corner"/>
          <p:cNvSpPr/>
          <p:nvPr/>
        </p:nvSpPr>
        <p:spPr>
          <a:xfrm>
            <a:off x="10058400" y="152280"/>
            <a:ext cx="1320480" cy="73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20000"/>
              </a:lnSpc>
            </a:pPr>
            <a:r>
              <a:rPr lang="en-US" sz="4800" b="0" i="1" u="none" strike="noStrike">
                <a:solidFill>
                  <a:srgbClr val="D9D3C6"/>
                </a:solidFill>
                <a:effectLst/>
                <a:uFillTx/>
                <a:latin typeface="Georgia"/>
                <a:ea typeface="Georgia"/>
              </a:rPr>
              <a:t>16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tick"/>
          <p:cNvSpPr/>
          <p:nvPr/>
        </p:nvSpPr>
        <p:spPr>
          <a:xfrm>
            <a:off x="812880" y="558720"/>
            <a:ext cx="279000" cy="25200"/>
          </a:xfrm>
          <a:prstGeom prst="rect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9440" rIns="90000" bIns="-19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0" name="kicker"/>
          <p:cNvSpPr/>
          <p:nvPr/>
        </p:nvSpPr>
        <p:spPr>
          <a:xfrm>
            <a:off x="1219320" y="457200"/>
            <a:ext cx="761976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1050" b="1" u="none" spc="201" strike="noStrike">
                <a:solidFill>
                  <a:srgbClr val="0E7490"/>
                </a:solidFill>
                <a:effectLst/>
                <a:uFillTx/>
                <a:latin typeface="Arial"/>
                <a:ea typeface="Microsoft YaHei"/>
              </a:rPr>
              <a:t>ROADMAP · 15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title"/>
          <p:cNvSpPr/>
          <p:nvPr/>
        </p:nvSpPr>
        <p:spPr>
          <a:xfrm>
            <a:off x="812880" y="711360"/>
            <a:ext cx="1056600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2000"/>
              </a:lnSpc>
            </a:pPr>
            <a:r>
              <a:rPr lang="zh-CN" sz="2600" b="1" u="none" strike="noStrike">
                <a:solidFill>
                  <a:srgbClr val="191B1F"/>
                </a:solidFill>
                <a:effectLst/>
                <a:uFillTx/>
                <a:latin typeface="Georgia"/>
                <a:ea typeface="SimSun"/>
              </a:rPr>
              <a:t>先证明可验证的决策，再接 </a:t>
            </a:r>
            <a:r>
              <a:rPr lang="en-US" sz="2600" b="1" u="none" strike="noStrike">
                <a:solidFill>
                  <a:srgbClr val="191B1F"/>
                </a:solidFill>
                <a:effectLst/>
                <a:uFillTx/>
                <a:latin typeface="Georgia"/>
                <a:ea typeface="SimSun"/>
              </a:rPr>
              <a:t>Live </a:t>
            </a:r>
            <a:r>
              <a:rPr lang="zh-CN" sz="2600" b="1" u="none" strike="noStrike">
                <a:solidFill>
                  <a:srgbClr val="191B1F"/>
                </a:solidFill>
                <a:effectLst/>
                <a:uFillTx/>
                <a:latin typeface="Georgia"/>
                <a:ea typeface="SimSun"/>
              </a:rPr>
              <a:t>与模拟闭环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standfirst"/>
          <p:cNvSpPr/>
          <p:nvPr/>
        </p:nvSpPr>
        <p:spPr>
          <a:xfrm>
            <a:off x="812880" y="1270080"/>
            <a:ext cx="10566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11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三个发布切片（</a:t>
            </a:r>
            <a:r>
              <a:rPr lang="en-US" sz="11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P0a → P0b → P0c</a:t>
            </a:r>
            <a:r>
              <a:rPr lang="zh-CN" sz="1150" b="0" u="none" strike="noStrike">
                <a:solidFill>
                  <a:srgbClr val="5A6270"/>
                </a:solidFill>
                <a:effectLst/>
                <a:uFillTx/>
                <a:latin typeface="Arial"/>
                <a:ea typeface="Microsoft YaHei"/>
              </a:rPr>
              <a:t>），每个都有独立验证门；对外只宣传最高已验证切片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header-rule"/>
          <p:cNvSpPr/>
          <p:nvPr/>
        </p:nvSpPr>
        <p:spPr>
          <a:xfrm>
            <a:off x="812880" y="1574640"/>
            <a:ext cx="10566000" cy="12240"/>
          </a:xfrm>
          <a:custGeom>
            <a:avLst/>
            <a:gdLst>
              <a:gd name="textAreaLeft" fmla="*/ 0 w 10566000"/>
              <a:gd name="textAreaRight" fmla="*/ 10566360 w 1056600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32" h="1">
                <a:moveTo>
                  <a:pt x="0" y="0"/>
                </a:moveTo>
                <a:lnTo>
                  <a:pt x="832" y="0"/>
                </a:lnTo>
              </a:path>
            </a:pathLst>
          </a:custGeom>
          <a:noFill/>
          <a:ln cap="rnd" w="12700">
            <a:solidFill>
              <a:srgbClr val="191B1F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phase1-chip"/>
          <p:cNvSpPr/>
          <p:nvPr/>
        </p:nvSpPr>
        <p:spPr>
          <a:xfrm>
            <a:off x="812880" y="1778040"/>
            <a:ext cx="3250800" cy="380520"/>
          </a:xfrm>
          <a:prstGeom prst="rect">
            <a:avLst/>
          </a:prstGeom>
          <a:solidFill>
            <a:srgbClr val="0E7C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5" name="phase1-chip-text"/>
          <p:cNvSpPr/>
          <p:nvPr/>
        </p:nvSpPr>
        <p:spPr>
          <a:xfrm>
            <a:off x="965160" y="1841400"/>
            <a:ext cx="294588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2000"/>
              </a:lnSpc>
            </a:pPr>
            <a:r>
              <a:rPr lang="en-US" sz="1100" b="1" u="none" strike="noStrike">
                <a:solidFill>
                  <a:srgbClr val="F7F4ED"/>
                </a:solidFill>
                <a:effectLst/>
                <a:uFillTx/>
                <a:latin typeface="Arial"/>
                <a:ea typeface="Microsoft YaHei"/>
              </a:rPr>
              <a:t>P0a Replay · </a:t>
            </a:r>
            <a:r>
              <a:rPr lang="zh-CN" sz="1100" b="1" u="none" strike="noStrike">
                <a:solidFill>
                  <a:srgbClr val="F7F4ED"/>
                </a:solidFill>
                <a:effectLst/>
                <a:uFillTx/>
                <a:latin typeface="Arial"/>
                <a:ea typeface="Microsoft YaHei"/>
              </a:rPr>
              <a:t>已完成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phase1-body"/>
          <p:cNvSpPr/>
          <p:nvPr/>
        </p:nvSpPr>
        <p:spPr>
          <a:xfrm>
            <a:off x="812880" y="2286000"/>
            <a:ext cx="3250800" cy="16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· 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冻结快照 → 决策卡 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+ 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审计链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8000"/>
              </a:lnSpc>
            </a:pP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· 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端到端 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Hero 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通过（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NO_TRADE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）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8000"/>
              </a:lnSpc>
            </a:pP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· 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当前对外宣传上限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ph-arrow1"/>
          <p:cNvSpPr/>
          <p:nvPr/>
        </p:nvSpPr>
        <p:spPr>
          <a:xfrm>
            <a:off x="4089240" y="1955880"/>
            <a:ext cx="329760" cy="25200"/>
          </a:xfrm>
          <a:custGeom>
            <a:avLst/>
            <a:gdLst>
              <a:gd name="textAreaLeft" fmla="*/ 0 w 329760"/>
              <a:gd name="textAreaRight" fmla="*/ 330120 w 329760"/>
              <a:gd name="textAreaTop" fmla="*/ 0 h 25200"/>
              <a:gd name="textAreaBottom" fmla="*/ 25560 h 25200"/>
            </a:gdLst>
            <a:ahLst/>
            <a:cxnLst/>
            <a:rect l="textAreaLeft" t="textAreaTop" r="textAreaRight" b="textAreaBottom"/>
            <a:pathLst>
              <a:path w="26" h="2">
                <a:moveTo>
                  <a:pt x="0" y="1"/>
                </a:moveTo>
                <a:lnTo>
                  <a:pt x="26" y="1"/>
                </a:lnTo>
              </a:path>
            </a:pathLst>
          </a:custGeom>
          <a:noFill/>
          <a:ln cap="rnd" w="15875">
            <a:solidFill>
              <a:srgbClr val="0E7490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tIns="-19440" rIns="90000" bIns="-194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phase2-chip"/>
          <p:cNvSpPr/>
          <p:nvPr/>
        </p:nvSpPr>
        <p:spPr>
          <a:xfrm>
            <a:off x="4470480" y="1778040"/>
            <a:ext cx="3250800" cy="380520"/>
          </a:xfrm>
          <a:prstGeom prst="rect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9" name="phase2-chip-text"/>
          <p:cNvSpPr/>
          <p:nvPr/>
        </p:nvSpPr>
        <p:spPr>
          <a:xfrm>
            <a:off x="4622760" y="1841400"/>
            <a:ext cx="294588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2000"/>
              </a:lnSpc>
            </a:pPr>
            <a:r>
              <a:rPr lang="en-US" sz="1100" b="1" u="none" strike="noStrike">
                <a:solidFill>
                  <a:srgbClr val="F7F4ED"/>
                </a:solidFill>
                <a:effectLst/>
                <a:uFillTx/>
                <a:latin typeface="Arial"/>
                <a:ea typeface="Microsoft YaHei"/>
              </a:rPr>
              <a:t>P0b Connected Read-only · </a:t>
            </a:r>
            <a:r>
              <a:rPr lang="zh-CN" sz="1100" b="1" u="none" strike="noStrike">
                <a:solidFill>
                  <a:srgbClr val="F7F4ED"/>
                </a:solidFill>
                <a:effectLst/>
                <a:uFillTx/>
                <a:latin typeface="Arial"/>
                <a:ea typeface="Microsoft YaHei"/>
              </a:rPr>
              <a:t>开发中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phase2-body"/>
          <p:cNvSpPr/>
          <p:nvPr/>
        </p:nvSpPr>
        <p:spPr>
          <a:xfrm>
            <a:off x="4470480" y="2286000"/>
            <a:ext cx="3250800" cy="16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· Live 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行情 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+ 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账户只读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8000"/>
              </a:lnSpc>
            </a:pP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· 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验证：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OpenD 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权限、新鲜度、降级路径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8000"/>
              </a:lnSpc>
            </a:pP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· 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产出无副作用草稿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ph-arrow2"/>
          <p:cNvSpPr/>
          <p:nvPr/>
        </p:nvSpPr>
        <p:spPr>
          <a:xfrm>
            <a:off x="7746840" y="1955880"/>
            <a:ext cx="329760" cy="25200"/>
          </a:xfrm>
          <a:custGeom>
            <a:avLst/>
            <a:gdLst>
              <a:gd name="textAreaLeft" fmla="*/ 0 w 329760"/>
              <a:gd name="textAreaRight" fmla="*/ 330120 w 329760"/>
              <a:gd name="textAreaTop" fmla="*/ 0 h 25200"/>
              <a:gd name="textAreaBottom" fmla="*/ 25560 h 25200"/>
            </a:gdLst>
            <a:ahLst/>
            <a:cxnLst/>
            <a:rect l="textAreaLeft" t="textAreaTop" r="textAreaRight" b="textAreaBottom"/>
            <a:pathLst>
              <a:path w="26" h="2">
                <a:moveTo>
                  <a:pt x="0" y="1"/>
                </a:moveTo>
                <a:lnTo>
                  <a:pt x="26" y="1"/>
                </a:lnTo>
              </a:path>
            </a:pathLst>
          </a:custGeom>
          <a:noFill/>
          <a:ln cap="rnd" w="15875">
            <a:solidFill>
              <a:srgbClr val="0E7490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tIns="-19440" rIns="90000" bIns="-194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phase3-chip"/>
          <p:cNvSpPr/>
          <p:nvPr/>
        </p:nvSpPr>
        <p:spPr>
          <a:xfrm>
            <a:off x="8128080" y="1778040"/>
            <a:ext cx="3250800" cy="380520"/>
          </a:xfrm>
          <a:prstGeom prst="rect">
            <a:avLst/>
          </a:prstGeom>
          <a:solidFill>
            <a:srgbClr val="A1620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3" name="phase3-chip-text"/>
          <p:cNvSpPr/>
          <p:nvPr/>
        </p:nvSpPr>
        <p:spPr>
          <a:xfrm>
            <a:off x="8280360" y="1841400"/>
            <a:ext cx="294588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2000"/>
              </a:lnSpc>
            </a:pPr>
            <a:r>
              <a:rPr lang="en-US" sz="1100" b="1" u="none" strike="noStrike">
                <a:solidFill>
                  <a:srgbClr val="191B1F"/>
                </a:solidFill>
                <a:effectLst/>
                <a:uFillTx/>
                <a:latin typeface="Arial"/>
                <a:ea typeface="Microsoft YaHei"/>
              </a:rPr>
              <a:t>P0c Simulation · </a:t>
            </a:r>
            <a:r>
              <a:rPr lang="zh-CN" sz="1100" b="1" u="none" strike="noStrike">
                <a:solidFill>
                  <a:srgbClr val="191B1F"/>
                </a:solidFill>
                <a:effectLst/>
                <a:uFillTx/>
                <a:latin typeface="Arial"/>
                <a:ea typeface="Microsoft YaHei"/>
              </a:rPr>
              <a:t>待验证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phase3-body"/>
          <p:cNvSpPr/>
          <p:nvPr/>
        </p:nvSpPr>
        <p:spPr>
          <a:xfrm>
            <a:off x="8128080" y="2286000"/>
            <a:ext cx="3250800" cy="16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· 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独立确认 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+ 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提交前复核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8000"/>
              </a:lnSpc>
            </a:pP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· 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幂等 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+ 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异常接管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8000"/>
              </a:lnSpc>
            </a:pP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· 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验证：无重复订单、人工接管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tl-line"/>
          <p:cNvSpPr/>
          <p:nvPr/>
        </p:nvSpPr>
        <p:spPr>
          <a:xfrm>
            <a:off x="812880" y="4368960"/>
            <a:ext cx="10566000" cy="12240"/>
          </a:xfrm>
          <a:custGeom>
            <a:avLst/>
            <a:gdLst>
              <a:gd name="textAreaLeft" fmla="*/ 0 w 10566000"/>
              <a:gd name="textAreaRight" fmla="*/ 10566360 w 1056600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32" h="1">
                <a:moveTo>
                  <a:pt x="0" y="0"/>
                </a:moveTo>
                <a:lnTo>
                  <a:pt x="832" y="0"/>
                </a:lnTo>
              </a:path>
            </a:pathLst>
          </a:custGeom>
          <a:noFill/>
          <a:ln cap="rnd" w="12700">
            <a:solidFill>
              <a:srgbClr val="191B1F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tl-dot1"/>
          <p:cNvSpPr/>
          <p:nvPr/>
        </p:nvSpPr>
        <p:spPr>
          <a:xfrm>
            <a:off x="1397160" y="4305240"/>
            <a:ext cx="126720" cy="126720"/>
          </a:xfrm>
          <a:prstGeom prst="ellipse">
            <a:avLst/>
          </a:prstGeom>
          <a:solidFill>
            <a:srgbClr val="0E7C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7" name="tl1-text"/>
          <p:cNvSpPr/>
          <p:nvPr/>
        </p:nvSpPr>
        <p:spPr>
          <a:xfrm>
            <a:off x="812880" y="4521240"/>
            <a:ext cx="241272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18000"/>
              </a:lnSpc>
            </a:pPr>
            <a:r>
              <a:rPr lang="en-US" sz="95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8.16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18000"/>
              </a:lnSpc>
            </a:pP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初赛提交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tl-dot2"/>
          <p:cNvSpPr/>
          <p:nvPr/>
        </p:nvSpPr>
        <p:spPr>
          <a:xfrm>
            <a:off x="3936960" y="4305240"/>
            <a:ext cx="126720" cy="12672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9" name="tl2-text"/>
          <p:cNvSpPr/>
          <p:nvPr/>
        </p:nvSpPr>
        <p:spPr>
          <a:xfrm>
            <a:off x="3238560" y="4521240"/>
            <a:ext cx="152352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18000"/>
              </a:lnSpc>
            </a:pPr>
            <a:r>
              <a:rPr lang="en-US" sz="95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8.17–8.24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18000"/>
              </a:lnSpc>
            </a:pP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初赛评审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tl-dot3"/>
          <p:cNvSpPr/>
          <p:nvPr/>
        </p:nvSpPr>
        <p:spPr>
          <a:xfrm>
            <a:off x="6858000" y="4305240"/>
            <a:ext cx="126720" cy="126720"/>
          </a:xfrm>
          <a:prstGeom prst="ellipse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1" name="tl3-text"/>
          <p:cNvSpPr/>
          <p:nvPr/>
        </p:nvSpPr>
        <p:spPr>
          <a:xfrm>
            <a:off x="5969160" y="4521240"/>
            <a:ext cx="190476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18000"/>
              </a:lnSpc>
            </a:pPr>
            <a:r>
              <a:rPr lang="en-US" sz="95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8.25–9.10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18000"/>
              </a:lnSpc>
            </a:pP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复赛可运行 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Demo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tl-dot4"/>
          <p:cNvSpPr/>
          <p:nvPr/>
        </p:nvSpPr>
        <p:spPr>
          <a:xfrm>
            <a:off x="10159920" y="4305240"/>
            <a:ext cx="126720" cy="126720"/>
          </a:xfrm>
          <a:prstGeom prst="ellipse">
            <a:avLst/>
          </a:prstGeom>
          <a:solidFill>
            <a:srgbClr val="A1620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3" name="tl4-text"/>
          <p:cNvSpPr/>
          <p:nvPr/>
        </p:nvSpPr>
        <p:spPr>
          <a:xfrm>
            <a:off x="9398160" y="4521240"/>
            <a:ext cx="203148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18000"/>
              </a:lnSpc>
            </a:pPr>
            <a:r>
              <a:rPr lang="en-US" sz="95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9.22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18000"/>
              </a:lnSpc>
            </a:pP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决赛答辩（杭州）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band"/>
          <p:cNvSpPr/>
          <p:nvPr/>
        </p:nvSpPr>
        <p:spPr>
          <a:xfrm>
            <a:off x="812880" y="5130720"/>
            <a:ext cx="10566000" cy="964800"/>
          </a:xfrm>
          <a:prstGeom prst="rect">
            <a:avLst/>
          </a:prstGeom>
          <a:solidFill>
            <a:srgbClr val="191B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5" name="band-rail"/>
          <p:cNvSpPr/>
          <p:nvPr/>
        </p:nvSpPr>
        <p:spPr>
          <a:xfrm>
            <a:off x="812880" y="5130720"/>
            <a:ext cx="37800" cy="964800"/>
          </a:xfrm>
          <a:prstGeom prst="rect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6" name="band-text"/>
          <p:cNvSpPr/>
          <p:nvPr/>
        </p:nvSpPr>
        <p:spPr>
          <a:xfrm>
            <a:off x="1066680" y="5257800"/>
            <a:ext cx="10058040" cy="71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2000"/>
              </a:lnSpc>
            </a:pPr>
            <a:r>
              <a:rPr lang="zh-CN" sz="1100" b="1" u="none" strike="noStrike">
                <a:solidFill>
                  <a:srgbClr val="F7F4ED"/>
                </a:solidFill>
                <a:effectLst/>
                <a:uFillTx/>
                <a:latin typeface="Arial"/>
                <a:ea typeface="Microsoft YaHei"/>
              </a:rPr>
              <a:t>立场：先把「敢说不交易」做成系统能力，再接入实时数据。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2000"/>
              </a:lnSpc>
              <a:spcBef>
                <a:spcPts val="400"/>
              </a:spcBef>
            </a:pPr>
            <a:r>
              <a:rPr lang="zh-CN" sz="1100" b="0" u="none" strike="noStrike">
                <a:solidFill>
                  <a:srgbClr val="F7F4ED"/>
                </a:solidFill>
                <a:effectLst/>
                <a:uFillTx/>
                <a:latin typeface="Arial"/>
                <a:ea typeface="Microsoft YaHei"/>
              </a:rPr>
              <a:t>让每一次期权决策可核验、可复核、敢拒绝。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footer-rule"/>
          <p:cNvSpPr/>
          <p:nvPr/>
        </p:nvSpPr>
        <p:spPr>
          <a:xfrm>
            <a:off x="812880" y="6654960"/>
            <a:ext cx="10566000" cy="12240"/>
          </a:xfrm>
          <a:custGeom>
            <a:avLst/>
            <a:gdLst>
              <a:gd name="textAreaLeft" fmla="*/ 0 w 10566000"/>
              <a:gd name="textAreaRight" fmla="*/ 10566360 w 1056600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32" h="1">
                <a:moveTo>
                  <a:pt x="0" y="0"/>
                </a:moveTo>
                <a:lnTo>
                  <a:pt x="832" y="0"/>
                </a:lnTo>
              </a:path>
            </a:pathLst>
          </a:custGeom>
          <a:noFill/>
          <a:ln cap="rnd" w="12700">
            <a:solidFill>
              <a:srgbClr val="191B1F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footer-left"/>
          <p:cNvSpPr/>
          <p:nvPr/>
        </p:nvSpPr>
        <p:spPr>
          <a:xfrm>
            <a:off x="812880" y="6616800"/>
            <a:ext cx="825480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GOAI 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港美股期权智能终端 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· </a:t>
            </a:r>
            <a:r>
              <a:rPr lang="zh-CN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初赛方案 </a:t>
            </a: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v3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footer-right"/>
          <p:cNvSpPr/>
          <p:nvPr/>
        </p:nvSpPr>
        <p:spPr>
          <a:xfrm>
            <a:off x="8940960" y="6616800"/>
            <a:ext cx="243792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18000"/>
              </a:lnSpc>
            </a:pPr>
            <a:r>
              <a:rPr lang="en-US" sz="950" b="0" u="none" strike="noStrike">
                <a:solidFill>
                  <a:srgbClr val="8B93A1"/>
                </a:solidFill>
                <a:effectLst/>
                <a:uFillTx/>
                <a:latin typeface="Arial"/>
                <a:ea typeface="Microsoft YaHei"/>
              </a:rPr>
              <a:t>16 / 16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  <p:timing>
    <p:tnLst>
      <p:par>
        <p:cTn id="1467" dur="indefinite" restart="never" nodeType="tmRoot">
          <p:childTnLst>
            <p:seq>
              <p:cTn id="1468" dur="indefinite" nodeType="mainSeq">
                <p:childTnLst>
                  <p:par>
                    <p:cTn id="1469" fill="hold">
                      <p:stCondLst>
                        <p:cond delay="0"/>
                      </p:stCondLst>
                      <p:childTnLst>
                        <p:par>
                          <p:cTn id="1470" fill="hold">
                            <p:stCondLst>
                              <p:cond delay="0"/>
                            </p:stCondLst>
                            <p:childTnLst>
                              <p:par>
                                <p:cTn id="1471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473" dur="4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4" presetID="22" presetClass="entr" fill="hold" nodeType="with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1476" dur="25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7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479" dur="300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0" fill="hold">
                            <p:stCondLst>
                              <p:cond delay="400"/>
                            </p:stCondLst>
                            <p:childTnLst>
                              <p:par>
                                <p:cTn id="1481" presetID="34" presetClass="entr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483" dur="450" fill="hold"/>
                                        <p:tgtEl>
                                          <p:spTgt spid="4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4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486" dur="300"/>
                                        <p:tgtEl>
                                          <p:spTgt spid="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7" fill="hold">
                            <p:stCondLst>
                              <p:cond delay="930"/>
                            </p:stCondLst>
                            <p:childTnLst>
                              <p:par>
                                <p:cTn id="1488" presetID="22" presetClass="entr" fill="hold" nodeType="after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1490" dur="350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1" fill="hold">
                            <p:stCondLst>
                              <p:cond delay="1280"/>
                            </p:stCondLst>
                            <p:childTnLst>
                              <p:par>
                                <p:cTn id="1492" presetID="10" presetClass="entr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4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494" dur="3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5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497" dur="25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8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500" dur="300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1" fill="hold">
                            <p:stCondLst>
                              <p:cond delay="1640"/>
                            </p:stCondLst>
                            <p:childTnLst>
                              <p:par>
                                <p:cTn id="1502" presetID="22" presetClass="entr" fill="hold" nodeType="after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1504" dur="250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5" fill="hold">
                            <p:stCondLst>
                              <p:cond delay="1890"/>
                            </p:stCondLst>
                            <p:childTnLst>
                              <p:par>
                                <p:cTn id="1506" presetID="10" presetClass="entr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5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508" dur="30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511" dur="25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2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514" dur="300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5" fill="hold">
                            <p:stCondLst>
                              <p:cond delay="2250"/>
                            </p:stCondLst>
                            <p:childTnLst>
                              <p:par>
                                <p:cTn id="1516" presetID="22" presetClass="entr" fill="hold" nodeType="after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1518" dur="250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9" fill="hold">
                            <p:stCondLst>
                              <p:cond delay="2500"/>
                            </p:stCondLst>
                            <p:childTnLst>
                              <p:par>
                                <p:cTn id="1520" presetID="10" presetClass="entr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5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522" dur="300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3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525" dur="250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6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528" dur="3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9" fill="hold">
                            <p:stCondLst>
                              <p:cond delay="2860"/>
                            </p:stCondLst>
                            <p:childTnLst>
                              <p:par>
                                <p:cTn id="1530" presetID="22" presetClass="entr" fill="hold" nodeType="after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1532" dur="350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3" presetID="23" presetClass="entr" fill="hold" nodeType="with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535" dur="250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536" dur="250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537" dur="250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538" dur="250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541" dur="250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2" fill="hold">
                            <p:stCondLst>
                              <p:cond delay="3210"/>
                            </p:stCondLst>
                            <p:childTnLst>
                              <p:par>
                                <p:cTn id="1543" presetID="23" presetClass="entr" fill="hold" nodeType="afterEffect" presetSubtype="16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5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545" dur="250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546" dur="250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547" dur="250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548" dur="250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551" dur="250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2" fill="hold">
                            <p:stCondLst>
                              <p:cond delay="3540"/>
                            </p:stCondLst>
                            <p:childTnLst>
                              <p:par>
                                <p:cTn id="1553" presetID="23" presetClass="entr" fill="hold" nodeType="afterEffect" presetSubtype="16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5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555" dur="250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556" dur="250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557" dur="250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558" dur="250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561" dur="250"/>
                                        <p:tgtEl>
                                          <p:spTgt spid="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2" fill="hold">
                            <p:stCondLst>
                              <p:cond delay="3870"/>
                            </p:stCondLst>
                            <p:childTnLst>
                              <p:par>
                                <p:cTn id="1563" presetID="23" presetClass="entr" fill="hold" nodeType="afterEffect" presetSubtype="16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5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565" dur="250" fill="hold"/>
                                        <p:tgtEl>
                                          <p:spTgt spid="4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566" dur="250" fill="hold"/>
                                        <p:tgtEl>
                                          <p:spTgt spid="4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567" dur="250" fill="hold"/>
                                        <p:tgtEl>
                                          <p:spTgt spid="4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568" dur="250" fill="hold"/>
                                        <p:tgtEl>
                                          <p:spTgt spid="4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571" dur="250"/>
                                        <p:tgtEl>
                                          <p:spTgt spid="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2" fill="hold">
                            <p:stCondLst>
                              <p:cond delay="4200"/>
                            </p:stCondLst>
                            <p:childTnLst>
                              <p:par>
                                <p:cTn id="1573" presetID="22" presetClass="entr" fill="hold" nodeType="after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1575" dur="450"/>
                                        <p:tgtEl>
                                          <p:spTgt spid="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6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578" dur="250"/>
                                        <p:tgtEl>
                                          <p:spTgt spid="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581" dur="350"/>
                                        <p:tgtEl>
                                          <p:spTgt spid="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2" fill="hold">
                            <p:stCondLst>
                              <p:cond delay="4650"/>
                            </p:stCondLst>
                            <p:childTnLst>
                              <p:par>
                                <p:cTn id="1583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585" dur="200"/>
                                        <p:tgtEl>
                                          <p:spTgt spid="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6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588" dur="250"/>
                                        <p:tgtEl>
                                          <p:spTgt spid="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591" dur="25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 pitchFamily="0" charset="1"/>
        <a:ea typeface="MiSans" pitchFamily="0" charset="1"/>
        <a:cs typeface="MiSans" pitchFamily="0" charset="1"/>
      </a:majorFont>
      <a:minorFont>
        <a:latin typeface="MiSans" pitchFamily="0" charset="1"/>
        <a:ea typeface="MiSans" pitchFamily="0" charset="1"/>
        <a:cs typeface="MiSans" pitchFamily="0" charset="1"/>
      </a:minorFont>
    </a:fontScheme>
    <a:fmtScheme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prstDash val="solid"/>
        </a:ln>
        <a:ln w="12700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LibreOffice/26.2.4.2$Windows_X86_64 LibreOffice_project/0229ac93fcf0d7cbc6376066c6f35021cef002dc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zh-CN</dc:language>
  <cp:lastModifiedBy/>
  <cp:revision>0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/>
  </property>
  <property fmtid="{D5CDD505-2E9C-101B-9397-08002B2CF9AE}" pid="3" name="Slides">
    <vt:r8>16</vt:r8>
  </property>
</Properties>
</file>