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812800" y="1066800"/>
            <a:ext cx="812800" cy="50800"/>
          </a:xfrm>
          <a:prstGeom prst="rect">
            <a:avLst/>
          </a:prstGeom>
          <a:solidFill>
            <a:srgbClr val="F5B942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812800" y="1346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F5B942"/>
                </a:solidFill>
                <a:latin typeface="Consolas"/>
                <a:ea typeface="Microsoft YaHei"/>
              </a:rPr>
              <a:t>GOAI · BOUNDLESS AGENTS · AI+金融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1778000"/>
            <a:ext cx="10566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F2F5F9"/>
                </a:solidFill>
                <a:latin typeface="Arial"/>
                <a:ea typeface="Microsoft YaHei"/>
              </a:rPr>
              <a:t>GOAI · DeepSeek Harness 金融期权终端</a:t>
            </a:r>
            <a:endParaRPr lang="en-US" sz="4000" noProof="1"/>
          </a:p>
        </p:txBody>
      </p:sp>
      <p:sp>
        <p:nvSpPr>
          <p:cNvPr id="5" name="subtitle"/>
          <p:cNvSpPr txBox="1"/>
          <p:nvPr/>
        </p:nvSpPr>
        <p:spPr>
          <a:xfrm>
            <a:off x="812800" y="2743200"/>
            <a:ext cx="990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8B93A3"/>
                </a:solidFill>
                <a:latin typeface="Arial"/>
                <a:ea typeface="Microsoft YaHei"/>
              </a:rPr>
              <a:t>一个敢对用户说「别买」的港美股期权决策 Agent</a:t>
            </a:r>
            <a:endParaRPr lang="en-US" sz="1600" noProof="1"/>
          </a:p>
        </p:txBody>
      </p:sp>
      <p:sp>
        <p:nvSpPr>
          <p:cNvPr id="6" name="style-chip"/>
          <p:cNvSpPr/>
          <p:nvPr/>
        </p:nvSpPr>
        <p:spPr>
          <a:xfrm>
            <a:off x="812800" y="3657600"/>
            <a:ext cx="2667000" cy="4318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937"/>
            </a:solidFill>
          </a:ln>
        </p:spPr>
      </p:sp>
      <p:sp>
        <p:nvSpPr>
          <p:cNvPr id="7" name="style-label"/>
          <p:cNvSpPr txBox="1"/>
          <p:nvPr/>
        </p:nvSpPr>
        <p:spPr>
          <a:xfrm>
            <a:off x="990600" y="3733800"/>
            <a:ext cx="2336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F5B942"/>
                </a:solidFill>
                <a:latin typeface="Consolas"/>
                <a:ea typeface="Microsoft YaHei"/>
              </a:rPr>
              <a:t>STYLE A · 深色终端风</a:t>
            </a:r>
            <a:endParaRPr lang="en-US" sz="1200" noProof="1"/>
          </a:p>
        </p:txBody>
      </p:sp>
      <p:sp>
        <p:nvSpPr>
          <p:cNvPr id="8" name="footer"/>
          <p:cNvSpPr txBox="1"/>
          <p:nvPr/>
        </p:nvSpPr>
        <p:spPr>
          <a:xfrm>
            <a:off x="812800" y="5867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8B93A3"/>
                </a:solidFill>
                <a:latin typeface="Arial"/>
                <a:ea typeface="Microsoft YaHei"/>
              </a:rPr>
              <a:t>GOAI 世界人工智能开源大赛 · Boundless Agents · AI+金融 · 队伍 Mogen Xdengly · 视觉预览参考版</a:t>
            </a:r>
            <a:endParaRPr lang="en-US" sz="1000" noProof="1"/>
          </a:p>
        </p:txBody>
      </p:sp>
      <p:sp>
        <p:nvSpPr>
          <p:cNvPr id="9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3A3"/>
                </a:solidFill>
                <a:latin typeface="Consolas"/>
                <a:ea typeface="Microsoft YaHei"/>
              </a:rPr>
              <a:t>01 / 10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F5B942"/>
                </a:solidFill>
                <a:latin typeface="Consolas"/>
                <a:ea typeface="Microsoft YaHei"/>
              </a:rPr>
              <a:t>结论先行 · 内容页解剖示例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382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F2F5F9"/>
                </a:solidFill>
                <a:latin typeface="Arial"/>
                <a:ea typeface="Microsoft YaHei"/>
              </a:rPr>
              <a:t>同一份数据，别的产品想卖给你，我们劝你别买</a:t>
            </a:r>
            <a:endParaRPr lang="en-US" sz="2200" noProof="1"/>
          </a:p>
        </p:txBody>
      </p:sp>
      <p:sp>
        <p:nvSpPr>
          <p:cNvPr id="4" name="row1-panel"/>
          <p:cNvSpPr/>
          <p:nvPr/>
        </p:nvSpPr>
        <p:spPr>
          <a:xfrm>
            <a:off x="812800" y="1752600"/>
            <a:ext cx="10566400" cy="8382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937"/>
            </a:solidFill>
          </a:ln>
        </p:spPr>
      </p:sp>
      <p:sp>
        <p:nvSpPr>
          <p:cNvPr id="5" name="row1-tag"/>
          <p:cNvSpPr txBox="1"/>
          <p:nvPr/>
        </p:nvSpPr>
        <p:spPr>
          <a:xfrm>
            <a:off x="1066800" y="19812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F5B942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6" name="row1-body"/>
          <p:cNvSpPr txBox="1"/>
          <p:nvPr/>
        </p:nvSpPr>
        <p:spPr>
          <a:xfrm>
            <a:off x="1854200" y="18796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F2F5F9"/>
                </a:solidFill>
                <a:latin typeface="Arial"/>
                <a:ea typeface="Microsoft YaHei"/>
              </a:rPr>
              <a:t>预期波动 3.92% ＜ 回本所需 4.41%</a:t>
            </a:r>
            <a:r>
              <a:rPr lang="en-US" sz="1250" noProof="1">
                <a:solidFill>
                  <a:srgbClr val="F2F5F9"/>
                </a:solidFill>
                <a:latin typeface="Arial"/>
                <a:ea typeface="Microsoft YaHei"/>
              </a:rPr>
              <a:t> · 腾讯财报前 480 跨式，Edge 门 FAIL</a:t>
            </a:r>
            <a:endParaRPr lang="en-US" sz="1250" noProof="1"/>
          </a:p>
        </p:txBody>
      </p:sp>
      <p:sp>
        <p:nvSpPr>
          <p:cNvPr id="7" name="row2-panel"/>
          <p:cNvSpPr/>
          <p:nvPr/>
        </p:nvSpPr>
        <p:spPr>
          <a:xfrm>
            <a:off x="812800" y="2743200"/>
            <a:ext cx="10566400" cy="8382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937"/>
            </a:solidFill>
          </a:ln>
        </p:spPr>
      </p:sp>
      <p:sp>
        <p:nvSpPr>
          <p:cNvPr id="8" name="row2-tag"/>
          <p:cNvSpPr txBox="1"/>
          <p:nvPr/>
        </p:nvSpPr>
        <p:spPr>
          <a:xfrm>
            <a:off x="1066800" y="29718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F5B942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9" name="row2-body"/>
          <p:cNvSpPr txBox="1"/>
          <p:nvPr/>
        </p:nvSpPr>
        <p:spPr>
          <a:xfrm>
            <a:off x="1854200" y="28702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F2F5F9"/>
                </a:solidFill>
                <a:latin typeface="Arial"/>
                <a:ea typeface="Microsoft YaHei"/>
              </a:rPr>
              <a:t>历史 11 期财报跨式 d+2 平均 -7.8%、胜率 36.4%</a:t>
            </a:r>
            <a:r>
              <a:rPr lang="en-US" sz="1250" noProof="1">
                <a:solidFill>
                  <a:srgbClr val="F2F5F9"/>
                </a:solidFill>
                <a:latin typeface="Arial"/>
                <a:ea typeface="Microsoft YaHei"/>
              </a:rPr>
              <a:t> · 负期望，不是巧合</a:t>
            </a:r>
            <a:endParaRPr lang="en-US" sz="1250" noProof="1"/>
          </a:p>
        </p:txBody>
      </p:sp>
      <p:sp>
        <p:nvSpPr>
          <p:cNvPr id="10" name="row3-panel"/>
          <p:cNvSpPr/>
          <p:nvPr/>
        </p:nvSpPr>
        <p:spPr>
          <a:xfrm>
            <a:off x="812800" y="3733800"/>
            <a:ext cx="10566400" cy="8382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937"/>
            </a:solidFill>
          </a:ln>
        </p:spPr>
      </p:sp>
      <p:sp>
        <p:nvSpPr>
          <p:cNvPr id="11" name="row3-tag"/>
          <p:cNvSpPr txBox="1"/>
          <p:nvPr/>
        </p:nvSpPr>
        <p:spPr>
          <a:xfrm>
            <a:off x="1066800" y="39624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F5B942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2" name="row3-body"/>
          <p:cNvSpPr txBox="1"/>
          <p:nvPr/>
        </p:nvSpPr>
        <p:spPr>
          <a:xfrm>
            <a:off x="1854200" y="38608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F2F5F9"/>
                </a:solidFill>
                <a:latin typeface="Arial"/>
                <a:ea typeface="Microsoft YaHei"/>
              </a:rPr>
              <a:t>IV crush -20% 压力测试最差仍亏 -711 港币</a:t>
            </a:r>
            <a:r>
              <a:rPr lang="en-US" sz="1250" noProof="1">
                <a:solidFill>
                  <a:srgbClr val="F2F5F9"/>
                </a:solidFill>
                <a:latin typeface="Arial"/>
                <a:ea typeface="Microsoft YaHei"/>
              </a:rPr>
              <a:t> · 方向对了也亏</a:t>
            </a:r>
            <a:endParaRPr lang="en-US" sz="1250" noProof="1"/>
          </a:p>
        </p:txBody>
      </p:sp>
      <p:sp>
        <p:nvSpPr>
          <p:cNvPr id="13" name="quote-bar"/>
          <p:cNvSpPr/>
          <p:nvPr/>
        </p:nvSpPr>
        <p:spPr>
          <a:xfrm>
            <a:off x="812800" y="4876800"/>
            <a:ext cx="50800" cy="609600"/>
          </a:xfrm>
          <a:prstGeom prst="rect">
            <a:avLst/>
          </a:prstGeom>
          <a:solidFill>
            <a:srgbClr val="F5B942"/>
          </a:solidFill>
          <a:ln>
            <a:noFill/>
          </a:ln>
        </p:spPr>
      </p:sp>
      <p:sp>
        <p:nvSpPr>
          <p:cNvPr id="14" name="quote"/>
          <p:cNvSpPr txBox="1"/>
          <p:nvPr/>
        </p:nvSpPr>
        <p:spPr>
          <a:xfrm>
            <a:off x="1041400" y="4902200"/>
            <a:ext cx="10134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300" noProof="1" b="1">
                <a:solidFill>
                  <a:srgbClr val="F2F5F9"/>
                </a:solidFill>
                <a:latin typeface="Arial"/>
                <a:ea typeface="Microsoft YaHei"/>
              </a:rPr>
              <a:t>在金融产品里，敢于「不买」比敢于「买」难得多——我们把难的那件事做成了产品。</a:t>
            </a:r>
            <a:endParaRPr lang="en-US" sz="1300" noProof="1"/>
          </a:p>
        </p:txBody>
      </p:sp>
      <p:sp>
        <p:nvSpPr>
          <p:cNvPr id="15" name="source"/>
          <p:cNvSpPr txBox="1"/>
          <p:nvPr/>
        </p:nvSpPr>
        <p:spPr>
          <a:xfrm>
            <a:off x="812800" y="5740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8B93A3"/>
                </a:solidFill>
                <a:latin typeface="Consolas"/>
                <a:ea typeface="Microsoft YaHei"/>
              </a:rPr>
              <a:t>data/decision_card_2026-08-13.json · 快照 2026-08-08T11:56:30+08:00 · verdict NO_TRADE</a:t>
            </a:r>
            <a:endParaRPr lang="en-US" sz="950" noProof="1"/>
          </a:p>
        </p:txBody>
      </p:sp>
      <p:sp>
        <p:nvSpPr>
          <p:cNvPr id="16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3A3"/>
                </a:solidFill>
                <a:latin typeface="Consolas"/>
                <a:ea typeface="Microsoft YaHei"/>
              </a:rPr>
              <a:t>02 / 10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C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812800" y="1066800"/>
            <a:ext cx="812800" cy="508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812800" y="1346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1D4ED8"/>
                </a:solidFill>
                <a:latin typeface="Consolas"/>
                <a:ea typeface="Microsoft YaHei"/>
              </a:rPr>
              <a:t>GOAI · BOUNDLESS AGENTS · AI+金融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1778000"/>
            <a:ext cx="10566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161A20"/>
                </a:solidFill>
                <a:latin typeface="Georgia"/>
                <a:ea typeface="SimSun"/>
              </a:rPr>
              <a:t>GOAI · DeepSeek Harness 金融期权终端</a:t>
            </a:r>
            <a:endParaRPr lang="en-US" sz="4000" noProof="1"/>
          </a:p>
        </p:txBody>
      </p:sp>
      <p:sp>
        <p:nvSpPr>
          <p:cNvPr id="5" name="subtitle"/>
          <p:cNvSpPr txBox="1"/>
          <p:nvPr/>
        </p:nvSpPr>
        <p:spPr>
          <a:xfrm>
            <a:off x="812800" y="2743200"/>
            <a:ext cx="990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566070"/>
                </a:solidFill>
                <a:latin typeface="Arial"/>
                <a:ea typeface="Microsoft YaHei"/>
              </a:rPr>
              <a:t>一个敢对用户说「别买」的港美股期权决策 Agent</a:t>
            </a:r>
            <a:endParaRPr lang="en-US" sz="1600" noProof="1"/>
          </a:p>
        </p:txBody>
      </p:sp>
      <p:sp>
        <p:nvSpPr>
          <p:cNvPr id="6" name="style-chip"/>
          <p:cNvSpPr/>
          <p:nvPr/>
        </p:nvSpPr>
        <p:spPr>
          <a:xfrm>
            <a:off x="812800" y="3657600"/>
            <a:ext cx="2667000" cy="43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6CE"/>
            </a:solidFill>
          </a:ln>
        </p:spPr>
      </p:sp>
      <p:sp>
        <p:nvSpPr>
          <p:cNvPr id="7" name="style-label"/>
          <p:cNvSpPr txBox="1"/>
          <p:nvPr/>
        </p:nvSpPr>
        <p:spPr>
          <a:xfrm>
            <a:off x="990600" y="3733800"/>
            <a:ext cx="2336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D4ED8"/>
                </a:solidFill>
                <a:latin typeface="Consolas"/>
                <a:ea typeface="Microsoft YaHei"/>
              </a:rPr>
              <a:t>STYLE B · 纸底编辑风</a:t>
            </a:r>
            <a:endParaRPr lang="en-US" sz="1200" noProof="1"/>
          </a:p>
        </p:txBody>
      </p:sp>
      <p:sp>
        <p:nvSpPr>
          <p:cNvPr id="8" name="footer"/>
          <p:cNvSpPr txBox="1"/>
          <p:nvPr/>
        </p:nvSpPr>
        <p:spPr>
          <a:xfrm>
            <a:off x="812800" y="5867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566070"/>
                </a:solidFill>
                <a:latin typeface="Arial"/>
                <a:ea typeface="Microsoft YaHei"/>
              </a:rPr>
              <a:t>GOAI 世界人工智能开源大赛 · Boundless Agents · AI+金融 · 队伍 Mogen Xdengly · 视觉预览参考版</a:t>
            </a:r>
            <a:endParaRPr lang="en-US" sz="1000" noProof="1"/>
          </a:p>
        </p:txBody>
      </p:sp>
      <p:sp>
        <p:nvSpPr>
          <p:cNvPr id="9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66070"/>
                </a:solidFill>
                <a:latin typeface="Consolas"/>
                <a:ea typeface="Microsoft YaHei"/>
              </a:rPr>
              <a:t>03 / 10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C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1D4ED8"/>
                </a:solidFill>
                <a:latin typeface="Consolas"/>
                <a:ea typeface="Microsoft YaHei"/>
              </a:rPr>
              <a:t>结论先行 · 内容页解剖示例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382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61A20"/>
                </a:solidFill>
                <a:latin typeface="Georgia"/>
                <a:ea typeface="SimSun"/>
              </a:rPr>
              <a:t>同一份数据，别的产品想卖给你，我们劝你别买</a:t>
            </a:r>
            <a:endParaRPr lang="en-US" sz="2200" noProof="1"/>
          </a:p>
        </p:txBody>
      </p:sp>
      <p:sp>
        <p:nvSpPr>
          <p:cNvPr id="4" name="row1-panel"/>
          <p:cNvSpPr/>
          <p:nvPr/>
        </p:nvSpPr>
        <p:spPr>
          <a:xfrm>
            <a:off x="812800" y="1752600"/>
            <a:ext cx="105664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6CE"/>
            </a:solidFill>
          </a:ln>
        </p:spPr>
      </p:sp>
      <p:sp>
        <p:nvSpPr>
          <p:cNvPr id="5" name="row1-tag"/>
          <p:cNvSpPr txBox="1"/>
          <p:nvPr/>
        </p:nvSpPr>
        <p:spPr>
          <a:xfrm>
            <a:off x="1066800" y="19812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D4ED8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6" name="row1-body"/>
          <p:cNvSpPr txBox="1"/>
          <p:nvPr/>
        </p:nvSpPr>
        <p:spPr>
          <a:xfrm>
            <a:off x="1854200" y="18796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61A20"/>
                </a:solidFill>
                <a:latin typeface="Arial"/>
                <a:ea typeface="Microsoft YaHei"/>
              </a:rPr>
              <a:t>预期波动 3.92% ＜ 回本所需 4.41%</a:t>
            </a:r>
            <a:r>
              <a:rPr lang="en-US" sz="1250" noProof="1">
                <a:solidFill>
                  <a:srgbClr val="161A20"/>
                </a:solidFill>
                <a:latin typeface="Arial"/>
                <a:ea typeface="Microsoft YaHei"/>
              </a:rPr>
              <a:t> · 腾讯财报前 480 跨式，Edge 门 FAIL</a:t>
            </a:r>
            <a:endParaRPr lang="en-US" sz="1250" noProof="1"/>
          </a:p>
        </p:txBody>
      </p:sp>
      <p:sp>
        <p:nvSpPr>
          <p:cNvPr id="7" name="row2-panel"/>
          <p:cNvSpPr/>
          <p:nvPr/>
        </p:nvSpPr>
        <p:spPr>
          <a:xfrm>
            <a:off x="812800" y="2743200"/>
            <a:ext cx="105664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6CE"/>
            </a:solidFill>
          </a:ln>
        </p:spPr>
      </p:sp>
      <p:sp>
        <p:nvSpPr>
          <p:cNvPr id="8" name="row2-tag"/>
          <p:cNvSpPr txBox="1"/>
          <p:nvPr/>
        </p:nvSpPr>
        <p:spPr>
          <a:xfrm>
            <a:off x="1066800" y="29718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D4ED8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9" name="row2-body"/>
          <p:cNvSpPr txBox="1"/>
          <p:nvPr/>
        </p:nvSpPr>
        <p:spPr>
          <a:xfrm>
            <a:off x="1854200" y="28702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61A20"/>
                </a:solidFill>
                <a:latin typeface="Arial"/>
                <a:ea typeface="Microsoft YaHei"/>
              </a:rPr>
              <a:t>历史 11 期财报跨式 d+2 平均 -7.8%、胜率 36.4%</a:t>
            </a:r>
            <a:r>
              <a:rPr lang="en-US" sz="1250" noProof="1">
                <a:solidFill>
                  <a:srgbClr val="161A20"/>
                </a:solidFill>
                <a:latin typeface="Arial"/>
                <a:ea typeface="Microsoft YaHei"/>
              </a:rPr>
              <a:t> · 负期望，不是巧合</a:t>
            </a:r>
            <a:endParaRPr lang="en-US" sz="1250" noProof="1"/>
          </a:p>
        </p:txBody>
      </p:sp>
      <p:sp>
        <p:nvSpPr>
          <p:cNvPr id="10" name="row3-panel"/>
          <p:cNvSpPr/>
          <p:nvPr/>
        </p:nvSpPr>
        <p:spPr>
          <a:xfrm>
            <a:off x="812800" y="3733800"/>
            <a:ext cx="105664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6CE"/>
            </a:solidFill>
          </a:ln>
        </p:spPr>
      </p:sp>
      <p:sp>
        <p:nvSpPr>
          <p:cNvPr id="11" name="row3-tag"/>
          <p:cNvSpPr txBox="1"/>
          <p:nvPr/>
        </p:nvSpPr>
        <p:spPr>
          <a:xfrm>
            <a:off x="1066800" y="39624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D4ED8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2" name="row3-body"/>
          <p:cNvSpPr txBox="1"/>
          <p:nvPr/>
        </p:nvSpPr>
        <p:spPr>
          <a:xfrm>
            <a:off x="1854200" y="38608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61A20"/>
                </a:solidFill>
                <a:latin typeface="Arial"/>
                <a:ea typeface="Microsoft YaHei"/>
              </a:rPr>
              <a:t>IV crush -20% 压力测试最差仍亏 -711 港币</a:t>
            </a:r>
            <a:r>
              <a:rPr lang="en-US" sz="1250" noProof="1">
                <a:solidFill>
                  <a:srgbClr val="161A20"/>
                </a:solidFill>
                <a:latin typeface="Arial"/>
                <a:ea typeface="Microsoft YaHei"/>
              </a:rPr>
              <a:t> · 方向对了也亏</a:t>
            </a:r>
            <a:endParaRPr lang="en-US" sz="1250" noProof="1"/>
          </a:p>
        </p:txBody>
      </p:sp>
      <p:sp>
        <p:nvSpPr>
          <p:cNvPr id="13" name="quote-bar"/>
          <p:cNvSpPr/>
          <p:nvPr/>
        </p:nvSpPr>
        <p:spPr>
          <a:xfrm>
            <a:off x="812800" y="4876800"/>
            <a:ext cx="50800" cy="6096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4" name="quote"/>
          <p:cNvSpPr txBox="1"/>
          <p:nvPr/>
        </p:nvSpPr>
        <p:spPr>
          <a:xfrm>
            <a:off x="1041400" y="4902200"/>
            <a:ext cx="10134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300" noProof="1" b="1">
                <a:solidFill>
                  <a:srgbClr val="161A20"/>
                </a:solidFill>
                <a:latin typeface="Arial"/>
                <a:ea typeface="Microsoft YaHei"/>
              </a:rPr>
              <a:t>在金融产品里，敢于「不买」比敢于「买」难得多——我们把难的那件事做成了产品。</a:t>
            </a:r>
            <a:endParaRPr lang="en-US" sz="1300" noProof="1"/>
          </a:p>
        </p:txBody>
      </p:sp>
      <p:sp>
        <p:nvSpPr>
          <p:cNvPr id="15" name="source"/>
          <p:cNvSpPr txBox="1"/>
          <p:nvPr/>
        </p:nvSpPr>
        <p:spPr>
          <a:xfrm>
            <a:off x="812800" y="5740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566070"/>
                </a:solidFill>
                <a:latin typeface="Consolas"/>
                <a:ea typeface="Microsoft YaHei"/>
              </a:rPr>
              <a:t>data/decision_card_2026-08-13.json · 快照 2026-08-08T11:56:30+08:00 · verdict NO_TRADE</a:t>
            </a:r>
            <a:endParaRPr lang="en-US" sz="950" noProof="1"/>
          </a:p>
        </p:txBody>
      </p:sp>
      <p:sp>
        <p:nvSpPr>
          <p:cNvPr id="16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66070"/>
                </a:solidFill>
                <a:latin typeface="Consolas"/>
                <a:ea typeface="Microsoft YaHei"/>
              </a:rPr>
              <a:t>04 / 10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812800" y="1066800"/>
            <a:ext cx="812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812800" y="1346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38BDF8"/>
                </a:solidFill>
                <a:latin typeface="Consolas"/>
                <a:ea typeface="Microsoft YaHei"/>
              </a:rPr>
              <a:t>GOAI · BOUNDLESS AGENTS · AI+金融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1778000"/>
            <a:ext cx="10566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E8F0F8"/>
                </a:solidFill>
                <a:latin typeface="Arial"/>
                <a:ea typeface="Microsoft YaHei"/>
              </a:rPr>
              <a:t>GOAI · DeepSeek Harness 金融期权终端</a:t>
            </a:r>
            <a:endParaRPr lang="en-US" sz="4000" noProof="1"/>
          </a:p>
        </p:txBody>
      </p:sp>
      <p:sp>
        <p:nvSpPr>
          <p:cNvPr id="5" name="subtitle"/>
          <p:cNvSpPr txBox="1"/>
          <p:nvPr/>
        </p:nvSpPr>
        <p:spPr>
          <a:xfrm>
            <a:off x="812800" y="2743200"/>
            <a:ext cx="990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8FA6BF"/>
                </a:solidFill>
                <a:latin typeface="Arial"/>
                <a:ea typeface="Microsoft YaHei"/>
              </a:rPr>
              <a:t>一个敢对用户说「别买」的港美股期权决策 Agent</a:t>
            </a:r>
            <a:endParaRPr lang="en-US" sz="1600" noProof="1"/>
          </a:p>
        </p:txBody>
      </p:sp>
      <p:sp>
        <p:nvSpPr>
          <p:cNvPr id="6" name="style-chip"/>
          <p:cNvSpPr/>
          <p:nvPr/>
        </p:nvSpPr>
        <p:spPr>
          <a:xfrm>
            <a:off x="812800" y="3657600"/>
            <a:ext cx="2667000" cy="431800"/>
          </a:xfrm>
          <a:prstGeom prst="roundRect">
            <a:avLst/>
          </a:prstGeom>
          <a:solidFill>
            <a:srgbClr val="12243E"/>
          </a:solidFill>
          <a:ln w="12700">
            <a:solidFill>
              <a:srgbClr val="1E3A5F"/>
            </a:solidFill>
          </a:ln>
        </p:spPr>
      </p:sp>
      <p:sp>
        <p:nvSpPr>
          <p:cNvPr id="7" name="style-label"/>
          <p:cNvSpPr txBox="1"/>
          <p:nvPr/>
        </p:nvSpPr>
        <p:spPr>
          <a:xfrm>
            <a:off x="990600" y="3733800"/>
            <a:ext cx="2336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38BDF8"/>
                </a:solidFill>
                <a:latin typeface="Consolas"/>
                <a:ea typeface="Microsoft YaHei"/>
              </a:rPr>
              <a:t>STYLE C · 深蓝金融科技风</a:t>
            </a:r>
            <a:endParaRPr lang="en-US" sz="1200" noProof="1"/>
          </a:p>
        </p:txBody>
      </p:sp>
      <p:sp>
        <p:nvSpPr>
          <p:cNvPr id="8" name="footer"/>
          <p:cNvSpPr txBox="1"/>
          <p:nvPr/>
        </p:nvSpPr>
        <p:spPr>
          <a:xfrm>
            <a:off x="812800" y="5867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8FA6BF"/>
                </a:solidFill>
                <a:latin typeface="Arial"/>
                <a:ea typeface="Microsoft YaHei"/>
              </a:rPr>
              <a:t>GOAI 世界人工智能开源大赛 · Boundless Agents · AI+金融 · 队伍 Mogen Xdengly · 视觉预览参考版</a:t>
            </a:r>
            <a:endParaRPr lang="en-US" sz="1000" noProof="1"/>
          </a:p>
        </p:txBody>
      </p:sp>
      <p:sp>
        <p:nvSpPr>
          <p:cNvPr id="9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FA6BF"/>
                </a:solidFill>
                <a:latin typeface="Consolas"/>
                <a:ea typeface="Microsoft YaHei"/>
              </a:rPr>
              <a:t>05 / 10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38BDF8"/>
                </a:solidFill>
                <a:latin typeface="Consolas"/>
                <a:ea typeface="Microsoft YaHei"/>
              </a:rPr>
              <a:t>结论先行 · 内容页解剖示例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382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E8F0F8"/>
                </a:solidFill>
                <a:latin typeface="Arial"/>
                <a:ea typeface="Microsoft YaHei"/>
              </a:rPr>
              <a:t>同一份数据，别的产品想卖给你，我们劝你别买</a:t>
            </a:r>
            <a:endParaRPr lang="en-US" sz="2200" noProof="1"/>
          </a:p>
        </p:txBody>
      </p:sp>
      <p:sp>
        <p:nvSpPr>
          <p:cNvPr id="4" name="row1-panel"/>
          <p:cNvSpPr/>
          <p:nvPr/>
        </p:nvSpPr>
        <p:spPr>
          <a:xfrm>
            <a:off x="812800" y="1752600"/>
            <a:ext cx="10566400" cy="838200"/>
          </a:xfrm>
          <a:prstGeom prst="roundRect">
            <a:avLst/>
          </a:prstGeom>
          <a:solidFill>
            <a:srgbClr val="12243E"/>
          </a:solidFill>
          <a:ln w="12700">
            <a:solidFill>
              <a:srgbClr val="1E3A5F"/>
            </a:solidFill>
          </a:ln>
        </p:spPr>
      </p:sp>
      <p:sp>
        <p:nvSpPr>
          <p:cNvPr id="5" name="row1-tag"/>
          <p:cNvSpPr txBox="1"/>
          <p:nvPr/>
        </p:nvSpPr>
        <p:spPr>
          <a:xfrm>
            <a:off x="1066800" y="19812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38BDF8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6" name="row1-body"/>
          <p:cNvSpPr txBox="1"/>
          <p:nvPr/>
        </p:nvSpPr>
        <p:spPr>
          <a:xfrm>
            <a:off x="1854200" y="18796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E8F0F8"/>
                </a:solidFill>
                <a:latin typeface="Arial"/>
                <a:ea typeface="Microsoft YaHei"/>
              </a:rPr>
              <a:t>预期波动 3.92% ＜ 回本所需 4.41%</a:t>
            </a:r>
            <a:r>
              <a:rPr lang="en-US" sz="1250" noProof="1">
                <a:solidFill>
                  <a:srgbClr val="E8F0F8"/>
                </a:solidFill>
                <a:latin typeface="Arial"/>
                <a:ea typeface="Microsoft YaHei"/>
              </a:rPr>
              <a:t> · 腾讯财报前 480 跨式，Edge 门 FAIL</a:t>
            </a:r>
            <a:endParaRPr lang="en-US" sz="1250" noProof="1"/>
          </a:p>
        </p:txBody>
      </p:sp>
      <p:sp>
        <p:nvSpPr>
          <p:cNvPr id="7" name="row2-panel"/>
          <p:cNvSpPr/>
          <p:nvPr/>
        </p:nvSpPr>
        <p:spPr>
          <a:xfrm>
            <a:off x="812800" y="2743200"/>
            <a:ext cx="10566400" cy="838200"/>
          </a:xfrm>
          <a:prstGeom prst="roundRect">
            <a:avLst/>
          </a:prstGeom>
          <a:solidFill>
            <a:srgbClr val="12243E"/>
          </a:solidFill>
          <a:ln w="12700">
            <a:solidFill>
              <a:srgbClr val="1E3A5F"/>
            </a:solidFill>
          </a:ln>
        </p:spPr>
      </p:sp>
      <p:sp>
        <p:nvSpPr>
          <p:cNvPr id="8" name="row2-tag"/>
          <p:cNvSpPr txBox="1"/>
          <p:nvPr/>
        </p:nvSpPr>
        <p:spPr>
          <a:xfrm>
            <a:off x="1066800" y="29718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38BDF8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9" name="row2-body"/>
          <p:cNvSpPr txBox="1"/>
          <p:nvPr/>
        </p:nvSpPr>
        <p:spPr>
          <a:xfrm>
            <a:off x="1854200" y="28702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E8F0F8"/>
                </a:solidFill>
                <a:latin typeface="Arial"/>
                <a:ea typeface="Microsoft YaHei"/>
              </a:rPr>
              <a:t>历史 11 期财报跨式 d+2 平均 -7.8%、胜率 36.4%</a:t>
            </a:r>
            <a:r>
              <a:rPr lang="en-US" sz="1250" noProof="1">
                <a:solidFill>
                  <a:srgbClr val="E8F0F8"/>
                </a:solidFill>
                <a:latin typeface="Arial"/>
                <a:ea typeface="Microsoft YaHei"/>
              </a:rPr>
              <a:t> · 负期望，不是巧合</a:t>
            </a:r>
            <a:endParaRPr lang="en-US" sz="1250" noProof="1"/>
          </a:p>
        </p:txBody>
      </p:sp>
      <p:sp>
        <p:nvSpPr>
          <p:cNvPr id="10" name="row3-panel"/>
          <p:cNvSpPr/>
          <p:nvPr/>
        </p:nvSpPr>
        <p:spPr>
          <a:xfrm>
            <a:off x="812800" y="3733800"/>
            <a:ext cx="10566400" cy="838200"/>
          </a:xfrm>
          <a:prstGeom prst="roundRect">
            <a:avLst/>
          </a:prstGeom>
          <a:solidFill>
            <a:srgbClr val="12243E"/>
          </a:solidFill>
          <a:ln w="12700">
            <a:solidFill>
              <a:srgbClr val="1E3A5F"/>
            </a:solidFill>
          </a:ln>
        </p:spPr>
      </p:sp>
      <p:sp>
        <p:nvSpPr>
          <p:cNvPr id="11" name="row3-tag"/>
          <p:cNvSpPr txBox="1"/>
          <p:nvPr/>
        </p:nvSpPr>
        <p:spPr>
          <a:xfrm>
            <a:off x="1066800" y="39624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38BDF8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2" name="row3-body"/>
          <p:cNvSpPr txBox="1"/>
          <p:nvPr/>
        </p:nvSpPr>
        <p:spPr>
          <a:xfrm>
            <a:off x="1854200" y="38608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E8F0F8"/>
                </a:solidFill>
                <a:latin typeface="Arial"/>
                <a:ea typeface="Microsoft YaHei"/>
              </a:rPr>
              <a:t>IV crush -20% 压力测试最差仍亏 -711 港币</a:t>
            </a:r>
            <a:r>
              <a:rPr lang="en-US" sz="1250" noProof="1">
                <a:solidFill>
                  <a:srgbClr val="E8F0F8"/>
                </a:solidFill>
                <a:latin typeface="Arial"/>
                <a:ea typeface="Microsoft YaHei"/>
              </a:rPr>
              <a:t> · 方向对了也亏</a:t>
            </a:r>
            <a:endParaRPr lang="en-US" sz="1250" noProof="1"/>
          </a:p>
        </p:txBody>
      </p:sp>
      <p:sp>
        <p:nvSpPr>
          <p:cNvPr id="13" name="quote-bar"/>
          <p:cNvSpPr/>
          <p:nvPr/>
        </p:nvSpPr>
        <p:spPr>
          <a:xfrm>
            <a:off x="812800" y="4876800"/>
            <a:ext cx="50800" cy="60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14" name="quote"/>
          <p:cNvSpPr txBox="1"/>
          <p:nvPr/>
        </p:nvSpPr>
        <p:spPr>
          <a:xfrm>
            <a:off x="1041400" y="4902200"/>
            <a:ext cx="10134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300" noProof="1" b="1">
                <a:solidFill>
                  <a:srgbClr val="E8F0F8"/>
                </a:solidFill>
                <a:latin typeface="Arial"/>
                <a:ea typeface="Microsoft YaHei"/>
              </a:rPr>
              <a:t>在金融产品里，敢于「不买」比敢于「买」难得多——我们把难的那件事做成了产品。</a:t>
            </a:r>
            <a:endParaRPr lang="en-US" sz="1300" noProof="1"/>
          </a:p>
        </p:txBody>
      </p:sp>
      <p:sp>
        <p:nvSpPr>
          <p:cNvPr id="15" name="source"/>
          <p:cNvSpPr txBox="1"/>
          <p:nvPr/>
        </p:nvSpPr>
        <p:spPr>
          <a:xfrm>
            <a:off x="812800" y="5740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8FA6BF"/>
                </a:solidFill>
                <a:latin typeface="Consolas"/>
                <a:ea typeface="Microsoft YaHei"/>
              </a:rPr>
              <a:t>data/decision_card_2026-08-13.json · 快照 2026-08-08T11:56:30+08:00 · verdict NO_TRADE</a:t>
            </a:r>
            <a:endParaRPr lang="en-US" sz="950" noProof="1"/>
          </a:p>
        </p:txBody>
      </p:sp>
      <p:sp>
        <p:nvSpPr>
          <p:cNvPr id="16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FA6BF"/>
                </a:solidFill>
                <a:latin typeface="Consolas"/>
                <a:ea typeface="Microsoft YaHei"/>
              </a:rPr>
              <a:t>06 / 10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812800" y="1066800"/>
            <a:ext cx="812800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812800" y="1346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C81E1E"/>
                </a:solidFill>
                <a:latin typeface="Consolas"/>
                <a:ea typeface="Microsoft YaHei"/>
              </a:rPr>
              <a:t>GOAI · BOUNDLESS AGENTS · AI+金融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1778000"/>
            <a:ext cx="10566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111111"/>
                </a:solidFill>
                <a:latin typeface="Arial"/>
                <a:ea typeface="Microsoft YaHei"/>
              </a:rPr>
              <a:t>GOAI · DeepSeek Harness 金融期权终端</a:t>
            </a:r>
            <a:endParaRPr lang="en-US" sz="4000" noProof="1"/>
          </a:p>
        </p:txBody>
      </p:sp>
      <p:sp>
        <p:nvSpPr>
          <p:cNvPr id="5" name="subtitle"/>
          <p:cNvSpPr txBox="1"/>
          <p:nvPr/>
        </p:nvSpPr>
        <p:spPr>
          <a:xfrm>
            <a:off x="812800" y="2743200"/>
            <a:ext cx="990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5F5F5F"/>
                </a:solidFill>
                <a:latin typeface="Arial"/>
                <a:ea typeface="Microsoft YaHei"/>
              </a:rPr>
              <a:t>一个敢对用户说「别买」的港美股期权决策 Agent</a:t>
            </a:r>
            <a:endParaRPr lang="en-US" sz="1600" noProof="1"/>
          </a:p>
        </p:txBody>
      </p:sp>
      <p:sp>
        <p:nvSpPr>
          <p:cNvPr id="6" name="style-chip"/>
          <p:cNvSpPr/>
          <p:nvPr/>
        </p:nvSpPr>
        <p:spPr>
          <a:xfrm>
            <a:off x="812800" y="3657600"/>
            <a:ext cx="2667000" cy="43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7" name="style-label"/>
          <p:cNvSpPr txBox="1"/>
          <p:nvPr/>
        </p:nvSpPr>
        <p:spPr>
          <a:xfrm>
            <a:off x="990600" y="3733800"/>
            <a:ext cx="2336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81E1E"/>
                </a:solidFill>
                <a:latin typeface="Consolas"/>
                <a:ea typeface="Microsoft YaHei"/>
              </a:rPr>
              <a:t>STYLE D · 极简黑白风</a:t>
            </a:r>
            <a:endParaRPr lang="en-US" sz="1200" noProof="1"/>
          </a:p>
        </p:txBody>
      </p:sp>
      <p:sp>
        <p:nvSpPr>
          <p:cNvPr id="8" name="footer"/>
          <p:cNvSpPr txBox="1"/>
          <p:nvPr/>
        </p:nvSpPr>
        <p:spPr>
          <a:xfrm>
            <a:off x="812800" y="5867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5F5F5F"/>
                </a:solidFill>
                <a:latin typeface="Arial"/>
                <a:ea typeface="Microsoft YaHei"/>
              </a:rPr>
              <a:t>GOAI 世界人工智能开源大赛 · Boundless Agents · AI+金融 · 队伍 Mogen Xdengly · 视觉预览参考版</a:t>
            </a:r>
            <a:endParaRPr lang="en-US" sz="1000" noProof="1"/>
          </a:p>
        </p:txBody>
      </p:sp>
      <p:sp>
        <p:nvSpPr>
          <p:cNvPr id="9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F5F5F"/>
                </a:solidFill>
                <a:latin typeface="Consolas"/>
                <a:ea typeface="Microsoft YaHei"/>
              </a:rPr>
              <a:t>07 / 10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C81E1E"/>
                </a:solidFill>
                <a:latin typeface="Consolas"/>
                <a:ea typeface="Microsoft YaHei"/>
              </a:rPr>
              <a:t>结论先行 · 内容页解剖示例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382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11111"/>
                </a:solidFill>
                <a:latin typeface="Arial"/>
                <a:ea typeface="Microsoft YaHei"/>
              </a:rPr>
              <a:t>同一份数据，别的产品想卖给你，我们劝你别买</a:t>
            </a:r>
            <a:endParaRPr lang="en-US" sz="2200" noProof="1"/>
          </a:p>
        </p:txBody>
      </p:sp>
      <p:sp>
        <p:nvSpPr>
          <p:cNvPr id="4" name="row1-panel"/>
          <p:cNvSpPr/>
          <p:nvPr/>
        </p:nvSpPr>
        <p:spPr>
          <a:xfrm>
            <a:off x="812800" y="1752600"/>
            <a:ext cx="105664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5" name="row1-tag"/>
          <p:cNvSpPr txBox="1"/>
          <p:nvPr/>
        </p:nvSpPr>
        <p:spPr>
          <a:xfrm>
            <a:off x="1066800" y="19812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C81E1E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6" name="row1-body"/>
          <p:cNvSpPr txBox="1"/>
          <p:nvPr/>
        </p:nvSpPr>
        <p:spPr>
          <a:xfrm>
            <a:off x="1854200" y="18796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11111"/>
                </a:solidFill>
                <a:latin typeface="Arial"/>
                <a:ea typeface="Microsoft YaHei"/>
              </a:rPr>
              <a:t>预期波动 3.92% ＜ 回本所需 4.41%</a:t>
            </a:r>
            <a:r>
              <a:rPr lang="en-US" sz="1250" noProof="1">
                <a:solidFill>
                  <a:srgbClr val="111111"/>
                </a:solidFill>
                <a:latin typeface="Arial"/>
                <a:ea typeface="Microsoft YaHei"/>
              </a:rPr>
              <a:t> · 腾讯财报前 480 跨式，Edge 门 FAIL</a:t>
            </a:r>
            <a:endParaRPr lang="en-US" sz="1250" noProof="1"/>
          </a:p>
        </p:txBody>
      </p:sp>
      <p:sp>
        <p:nvSpPr>
          <p:cNvPr id="7" name="row2-panel"/>
          <p:cNvSpPr/>
          <p:nvPr/>
        </p:nvSpPr>
        <p:spPr>
          <a:xfrm>
            <a:off x="812800" y="2743200"/>
            <a:ext cx="105664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8" name="row2-tag"/>
          <p:cNvSpPr txBox="1"/>
          <p:nvPr/>
        </p:nvSpPr>
        <p:spPr>
          <a:xfrm>
            <a:off x="1066800" y="29718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C81E1E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9" name="row2-body"/>
          <p:cNvSpPr txBox="1"/>
          <p:nvPr/>
        </p:nvSpPr>
        <p:spPr>
          <a:xfrm>
            <a:off x="1854200" y="28702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11111"/>
                </a:solidFill>
                <a:latin typeface="Arial"/>
                <a:ea typeface="Microsoft YaHei"/>
              </a:rPr>
              <a:t>历史 11 期财报跨式 d+2 平均 -7.8%、胜率 36.4%</a:t>
            </a:r>
            <a:r>
              <a:rPr lang="en-US" sz="1250" noProof="1">
                <a:solidFill>
                  <a:srgbClr val="111111"/>
                </a:solidFill>
                <a:latin typeface="Arial"/>
                <a:ea typeface="Microsoft YaHei"/>
              </a:rPr>
              <a:t> · 负期望，不是巧合</a:t>
            </a:r>
            <a:endParaRPr lang="en-US" sz="1250" noProof="1"/>
          </a:p>
        </p:txBody>
      </p:sp>
      <p:sp>
        <p:nvSpPr>
          <p:cNvPr id="10" name="row3-panel"/>
          <p:cNvSpPr/>
          <p:nvPr/>
        </p:nvSpPr>
        <p:spPr>
          <a:xfrm>
            <a:off x="812800" y="3733800"/>
            <a:ext cx="105664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1" name="row3-tag"/>
          <p:cNvSpPr txBox="1"/>
          <p:nvPr/>
        </p:nvSpPr>
        <p:spPr>
          <a:xfrm>
            <a:off x="1066800" y="39624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C81E1E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2" name="row3-body"/>
          <p:cNvSpPr txBox="1"/>
          <p:nvPr/>
        </p:nvSpPr>
        <p:spPr>
          <a:xfrm>
            <a:off x="1854200" y="38608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11111"/>
                </a:solidFill>
                <a:latin typeface="Arial"/>
                <a:ea typeface="Microsoft YaHei"/>
              </a:rPr>
              <a:t>IV crush -20% 压力测试最差仍亏 -711 港币</a:t>
            </a:r>
            <a:r>
              <a:rPr lang="en-US" sz="1250" noProof="1">
                <a:solidFill>
                  <a:srgbClr val="111111"/>
                </a:solidFill>
                <a:latin typeface="Arial"/>
                <a:ea typeface="Microsoft YaHei"/>
              </a:rPr>
              <a:t> · 方向对了也亏</a:t>
            </a:r>
            <a:endParaRPr lang="en-US" sz="1250" noProof="1"/>
          </a:p>
        </p:txBody>
      </p:sp>
      <p:sp>
        <p:nvSpPr>
          <p:cNvPr id="13" name="quote-bar"/>
          <p:cNvSpPr/>
          <p:nvPr/>
        </p:nvSpPr>
        <p:spPr>
          <a:xfrm>
            <a:off x="812800" y="4876800"/>
            <a:ext cx="50800" cy="609600"/>
          </a:xfrm>
          <a:prstGeom prst="rect">
            <a:avLst/>
          </a:prstGeom>
          <a:solidFill>
            <a:srgbClr val="C81E1E"/>
          </a:solidFill>
          <a:ln>
            <a:noFill/>
          </a:ln>
        </p:spPr>
      </p:sp>
      <p:sp>
        <p:nvSpPr>
          <p:cNvPr id="14" name="quote"/>
          <p:cNvSpPr txBox="1"/>
          <p:nvPr/>
        </p:nvSpPr>
        <p:spPr>
          <a:xfrm>
            <a:off x="1041400" y="4902200"/>
            <a:ext cx="10134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300" noProof="1" b="1">
                <a:solidFill>
                  <a:srgbClr val="111111"/>
                </a:solidFill>
                <a:latin typeface="Arial"/>
                <a:ea typeface="Microsoft YaHei"/>
              </a:rPr>
              <a:t>在金融产品里，敢于「不买」比敢于「买」难得多——我们把难的那件事做成了产品。</a:t>
            </a:r>
            <a:endParaRPr lang="en-US" sz="1300" noProof="1"/>
          </a:p>
        </p:txBody>
      </p:sp>
      <p:sp>
        <p:nvSpPr>
          <p:cNvPr id="15" name="source"/>
          <p:cNvSpPr txBox="1"/>
          <p:nvPr/>
        </p:nvSpPr>
        <p:spPr>
          <a:xfrm>
            <a:off x="812800" y="5740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5F5F5F"/>
                </a:solidFill>
                <a:latin typeface="Consolas"/>
                <a:ea typeface="Microsoft YaHei"/>
              </a:rPr>
              <a:t>data/decision_card_2026-08-13.json · 快照 2026-08-08T11:56:30+08:00 · verdict NO_TRADE</a:t>
            </a:r>
            <a:endParaRPr lang="en-US" sz="950" noProof="1"/>
          </a:p>
        </p:txBody>
      </p:sp>
      <p:sp>
        <p:nvSpPr>
          <p:cNvPr id="16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F5F5F"/>
                </a:solidFill>
                <a:latin typeface="Consolas"/>
                <a:ea typeface="Microsoft YaHei"/>
              </a:rPr>
              <a:t>08 / 10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812800" y="1066800"/>
            <a:ext cx="812800" cy="508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812800" y="1346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GOAI · BOUNDLESS AGENTS · AI+金融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1778000"/>
            <a:ext cx="10566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1F2A2A"/>
                </a:solidFill>
                <a:latin typeface="Georgia"/>
                <a:ea typeface="SimSun"/>
              </a:rPr>
              <a:t>GOAI · DeepSeek Harness 金融期权终端</a:t>
            </a:r>
            <a:endParaRPr lang="en-US" sz="4000" noProof="1"/>
          </a:p>
        </p:txBody>
      </p:sp>
      <p:sp>
        <p:nvSpPr>
          <p:cNvPr id="5" name="subtitle"/>
          <p:cNvSpPr txBox="1"/>
          <p:nvPr/>
        </p:nvSpPr>
        <p:spPr>
          <a:xfrm>
            <a:off x="812800" y="2743200"/>
            <a:ext cx="990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6B726C"/>
                </a:solidFill>
                <a:latin typeface="Arial"/>
                <a:ea typeface="Microsoft YaHei"/>
              </a:rPr>
              <a:t>一个敢对用户说「别买」的港美股期权决策 Agent</a:t>
            </a:r>
            <a:endParaRPr lang="en-US" sz="1600" noProof="1"/>
          </a:p>
        </p:txBody>
      </p:sp>
      <p:sp>
        <p:nvSpPr>
          <p:cNvPr id="6" name="style-chip"/>
          <p:cNvSpPr/>
          <p:nvPr/>
        </p:nvSpPr>
        <p:spPr>
          <a:xfrm>
            <a:off x="812800" y="3657600"/>
            <a:ext cx="2667000" cy="431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7" name="style-label"/>
          <p:cNvSpPr txBox="1"/>
          <p:nvPr/>
        </p:nvSpPr>
        <p:spPr>
          <a:xfrm>
            <a:off x="990600" y="3733800"/>
            <a:ext cx="2336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0E7C4A"/>
                </a:solidFill>
                <a:latin typeface="Consolas"/>
                <a:ea typeface="Microsoft YaHei"/>
              </a:rPr>
              <a:t>STYLE E · 券商报告风</a:t>
            </a:r>
            <a:endParaRPr lang="en-US" sz="1200" noProof="1"/>
          </a:p>
        </p:txBody>
      </p:sp>
      <p:sp>
        <p:nvSpPr>
          <p:cNvPr id="8" name="footer"/>
          <p:cNvSpPr txBox="1"/>
          <p:nvPr/>
        </p:nvSpPr>
        <p:spPr>
          <a:xfrm>
            <a:off x="812800" y="5867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6B726C"/>
                </a:solidFill>
                <a:latin typeface="Arial"/>
                <a:ea typeface="Microsoft YaHei"/>
              </a:rPr>
              <a:t>GOAI 世界人工智能开源大赛 · Boundless Agents · AI+金融 · 队伍 Mogen Xdengly · 视觉预览参考版</a:t>
            </a:r>
            <a:endParaRPr lang="en-US" sz="1000" noProof="1"/>
          </a:p>
        </p:txBody>
      </p:sp>
      <p:sp>
        <p:nvSpPr>
          <p:cNvPr id="9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09 / 10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结论先行 · 内容页解剖示例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382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F2A2A"/>
                </a:solidFill>
                <a:latin typeface="Georgia"/>
                <a:ea typeface="SimSun"/>
              </a:rPr>
              <a:t>同一份数据，别的产品想卖给你，我们劝你别买</a:t>
            </a:r>
            <a:endParaRPr lang="en-US" sz="2200" noProof="1"/>
          </a:p>
        </p:txBody>
      </p:sp>
      <p:sp>
        <p:nvSpPr>
          <p:cNvPr id="4" name="row1-panel"/>
          <p:cNvSpPr/>
          <p:nvPr/>
        </p:nvSpPr>
        <p:spPr>
          <a:xfrm>
            <a:off x="812800" y="1752600"/>
            <a:ext cx="10566400" cy="8382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5" name="row1-tag"/>
          <p:cNvSpPr txBox="1"/>
          <p:nvPr/>
        </p:nvSpPr>
        <p:spPr>
          <a:xfrm>
            <a:off x="1066800" y="19812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6" name="row1-body"/>
          <p:cNvSpPr txBox="1"/>
          <p:nvPr/>
        </p:nvSpPr>
        <p:spPr>
          <a:xfrm>
            <a:off x="1854200" y="18796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预期波动 3.92% ＜ 回本所需 4.41%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腾讯财报前 480 跨式，Edge 门 FAIL</a:t>
            </a:r>
            <a:endParaRPr lang="en-US" sz="1250" noProof="1"/>
          </a:p>
        </p:txBody>
      </p:sp>
      <p:sp>
        <p:nvSpPr>
          <p:cNvPr id="7" name="row2-panel"/>
          <p:cNvSpPr/>
          <p:nvPr/>
        </p:nvSpPr>
        <p:spPr>
          <a:xfrm>
            <a:off x="812800" y="2743200"/>
            <a:ext cx="10566400" cy="8382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8" name="row2-tag"/>
          <p:cNvSpPr txBox="1"/>
          <p:nvPr/>
        </p:nvSpPr>
        <p:spPr>
          <a:xfrm>
            <a:off x="1066800" y="29718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9" name="row2-body"/>
          <p:cNvSpPr txBox="1"/>
          <p:nvPr/>
        </p:nvSpPr>
        <p:spPr>
          <a:xfrm>
            <a:off x="1854200" y="28702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历史 11 期财报跨式 d+2 平均 -7.8%、胜率 36.4%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负期望，不是巧合</a:t>
            </a:r>
            <a:endParaRPr lang="en-US" sz="1250" noProof="1"/>
          </a:p>
        </p:txBody>
      </p:sp>
      <p:sp>
        <p:nvSpPr>
          <p:cNvPr id="10" name="row3-panel"/>
          <p:cNvSpPr/>
          <p:nvPr/>
        </p:nvSpPr>
        <p:spPr>
          <a:xfrm>
            <a:off x="812800" y="3733800"/>
            <a:ext cx="10566400" cy="8382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1" name="row3-tag"/>
          <p:cNvSpPr txBox="1"/>
          <p:nvPr/>
        </p:nvSpPr>
        <p:spPr>
          <a:xfrm>
            <a:off x="1066800" y="39624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2" name="row3-body"/>
          <p:cNvSpPr txBox="1"/>
          <p:nvPr/>
        </p:nvSpPr>
        <p:spPr>
          <a:xfrm>
            <a:off x="1854200" y="38608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IV crush -20% 压力测试最差仍亏 -711 港币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方向对了也亏</a:t>
            </a:r>
            <a:endParaRPr lang="en-US" sz="1250" noProof="1"/>
          </a:p>
        </p:txBody>
      </p:sp>
      <p:sp>
        <p:nvSpPr>
          <p:cNvPr id="13" name="quote-bar"/>
          <p:cNvSpPr/>
          <p:nvPr/>
        </p:nvSpPr>
        <p:spPr>
          <a:xfrm>
            <a:off x="812800" y="4876800"/>
            <a:ext cx="50800" cy="6096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4" name="quote"/>
          <p:cNvSpPr txBox="1"/>
          <p:nvPr/>
        </p:nvSpPr>
        <p:spPr>
          <a:xfrm>
            <a:off x="1041400" y="4902200"/>
            <a:ext cx="10134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300" noProof="1" b="1">
                <a:solidFill>
                  <a:srgbClr val="1F2A2A"/>
                </a:solidFill>
                <a:latin typeface="Arial"/>
                <a:ea typeface="Microsoft YaHei"/>
              </a:rPr>
              <a:t>在金融产品里，敢于「不买」比敢于「买」难得多——我们把难的那件事做成了产品。</a:t>
            </a:r>
            <a:endParaRPr lang="en-US" sz="1300" noProof="1"/>
          </a:p>
        </p:txBody>
      </p:sp>
      <p:sp>
        <p:nvSpPr>
          <p:cNvPr id="15" name="source"/>
          <p:cNvSpPr txBox="1"/>
          <p:nvPr/>
        </p:nvSpPr>
        <p:spPr>
          <a:xfrm>
            <a:off x="812800" y="5740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data/decision_card_2026-08-13.json · 快照 2026-08-08T11:56:30+08:00 · verdict NO_TRADE</a:t>
            </a:r>
            <a:endParaRPr lang="en-US" sz="950" noProof="1"/>
          </a:p>
        </p:txBody>
      </p:sp>
      <p:sp>
        <p:nvSpPr>
          <p:cNvPr id="16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10 / 10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10</Slides>
</Properties>
</file>

<file path=docProps/core.xml><?xml version="1.0" encoding="utf-8"?>
<cp:coreProperties xmlns:dc="http://purl.org/dc/elements/1.1/" xmlns:cp="http://schemas.openxmlformats.org/package/2006/metadata/core-properties"/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