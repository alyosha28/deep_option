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1783FF"/>
            </a:solidFill>
            <a:ln w="25560">
              <a:solidFill>
                <a:srgbClr val="0A0E14"/>
              </a:solidFill>
              <a:round/>
            </a:ln>
          </c:spPr>
          <c:explosion val="0"/>
          <c:dPt>
            <c:idx val="0"/>
            <c:spPr>
              <a:solidFill>
                <a:srgbClr val="34D399"/>
              </a:solidFill>
              <a:ln w="0">
                <a:noFill/>
              </a:ln>
            </c:spPr>
          </c:dPt>
          <c:dPt>
            <c:idx val="1"/>
            <c:spPr>
              <a:solidFill>
                <a:srgbClr val="F59E0B"/>
              </a:solidFill>
              <a:ln w="0">
                <a:noFill/>
              </a:ln>
            </c:spPr>
          </c:dPt>
          <c:dPt>
            <c:idx val="2"/>
            <c:spPr>
              <a:solidFill>
                <a:srgbClr val="8B949E"/>
              </a:solidFill>
              <a:ln w="0">
                <a:noFill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sz="10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sz="10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sz="1000" b="0" u="none" strike="noStrik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A0E14"/>
                  </a:solidFill>
                </a:ln>
              </c:spPr>
            </c:leaderLines>
          </c:dLbls>
          <c:cat>
            <c:strRef>
              <c:f>categories</c:f>
              <c:strCache>
                <c:ptCount val="3"/>
                <c:pt idx="0">
                  <c:v>P0a</c:v>
                </c:pt>
                <c:pt idx="1">
                  <c:v>P0b</c:v>
                </c:pt>
                <c:pt idx="2">
                  <c:v>P0c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firstSliceAng val="90"/>
        <c:holeSize val="50"/>
      </c:doughnutChart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单击以移动幻灯片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6AAD5AF-7152-45A7-A71F-C38DB9B8D94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封面页：项目名、一句话价值主张、赛道、初赛提交日期与团队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人。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动画为单个自动组：终端网格装饰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fade-in →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主标题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fade-in →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元信息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fade-in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（锁文件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§6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封面行）。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一句话定位页：左栏大字陈述（观点收拢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+ Hero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输入输出对照），右栏两个支撑卡（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90s/60s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价值主张、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NO_TRADE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成功结果）；卡框常驻，内容分两段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wipe-in(right)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四个痛点各配一句后果，按不对称双列（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520/296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）错位排布；卡框与编号常驻，卡内容分两组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wipe-in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入场。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页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04/16 · Hero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场景。把「业绩前方向不确定」的模糊诉求冻结为账户、风险硬顶与候选策略三组可复算参数。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G1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标题栏与场景面板自动淡入；点击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放大参数表；点击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上滑推论条。金句与总结承接第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05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页「为什么需要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Agent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」。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三种解法对比：固定计算器只会算、通用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LLM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会编数字、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GOAI Agent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让数字全部出自确定性工具。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点击一次：对比表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wipe-in(right)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从左到右逐栏揭示三列；再点击一次：结论条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fade-in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Hero A Demo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：诚实的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NO_TRADE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左侧终端窗（概念示意）回放决策路径：场景解析 →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FROZEN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冻结数据 → 自研引擎 → 成本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盈亏平衡 →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Edge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门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项检查全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FAIL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（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LOW_EDGE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）→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Risk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门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PASS + 3 WARN → Action NO_TRADE →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审计链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条完整。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右侧为到期盈亏双成本口径曲线（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ask/mid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）与最终裁决框。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演示口径：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Replay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冻结快照（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2026-08-08T11:56:30+08:00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），非实时行情；数字全部来自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data/decision_card_2026-08-12.json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与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data/hero_inputs.json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首屏六件事按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PRD §3.4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：结论与含义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三条依据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成本与最大亏损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数据模式与时间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改变结论的条件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唯一下一步。焦点卡展示四种结论枚举，本轮为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NO_TRADE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。数字均引自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data/decision_card_2026-08-12.json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（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facts.md §1/§4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）。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左侧为数据层四组件卡片；右侧为四层架构线框（概念示意）。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口径：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Live/Replay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同合同、只读边界、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20s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可终止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worker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Replay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兜底（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yfinance 429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教训）。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自研定价引擎页（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10/16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）。核心口径：不发明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BS/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二叉树，只做确定性实现与可复算口径；港股规格路由（个股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=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美式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实物，指数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=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欧式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现金）；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executable-cost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分栏（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mid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观察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4,219.0 vs ask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可成交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4,414.0 =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最大亏损）；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bump-and-reprice Greeks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与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OpenD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期权报价口径对齐。数字来源：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data/decision_card_2026-08-12.json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data/hero_inputs.json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（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2026-08-08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快照）。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风险硬门与信任边界页。核心信息：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Edge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与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Risk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分离（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Edge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可明确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NO_TRADE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）、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Risk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一票否决、审计链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JSONL + SHA-256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（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Hero 7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条记录，每条链上前一条）、防注入（敏感字段拒绝、遍历上限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10,000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）、比赛版本仅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Futu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模拟盘且须用户独立确认、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PASS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固定含义（门通过 ≠ 盈利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成交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投资建议）。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数字均来自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data/decision_card_2026-08-12.json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与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docs/PRD.md §5.3 / §7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：预期波动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3.92% vs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盈亏平衡所需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4.41%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、口径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d+2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平均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ROI -7.8%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IV crush -20%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最差情景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-711 HKD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、最大亏损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4,414 ≤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预算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5,000 HKD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risk_gate decision=PASS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且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blocked=[]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（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findings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含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PASS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多项与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条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WARN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facts.md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未列稳定总数，页面不写总数）、审计链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条记录。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发布切片与完成度。左侧范围环：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个切片中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个已毕业（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P0a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）；右侧三张切片卡：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P0a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焦点卡（已有资产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尚缺两栏）、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P0b / P0c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未毕业卡。口径：对外只宣传最高已验证切片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P0a Replay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；旧模拟单如实标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LEGACY_PROTOTYPE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回测证据与验收指标页（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14/16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）。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左：口径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A/B d+2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平均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ROI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对比图（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media/backtest_roi_comparison.png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16:9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fit contain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）。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右：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PRD §9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验收指标目标值表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+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回测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条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caveats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数字来源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data/backtest_tencent_straddle.json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（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facts.md §2 / §9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），日期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2026-08-12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团队三人分工（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A/B/C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代号，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facts.md §10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）与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2026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赛事时间线（北京时间）：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8.16 23:59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初赛提交截止（简介约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500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字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+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方案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PPT/PDF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）→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8.24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复赛名单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Top 30 → 9.10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决赛名单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Top 15 → 9.22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杭州线下决赛答辩（次日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9.23 GOAI DAY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颁奖）。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来源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PROJECT_STATE.md §1/§6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。动画：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G1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标题栏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+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时间轴自动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fade-in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；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G2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点击揭示节点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1–2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；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G3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点击揭示节点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3–4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结尾页（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16/16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）：核心信息重述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+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风险提示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+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感谢。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页面进入自动播放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G1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：金句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标题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fade-in →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确定性数字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KPI fade-in → 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完成度与感谢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fade-in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（依次）；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点击播放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G2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：免责声明条 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wipe-in</a:t>
            </a: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（向上）。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免责声明为逐字文本（锁文件红线），讲述时不得省略或改写。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ecor-grid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960" h="540">
                <a:moveTo>
                  <a:pt x="700" y="46"/>
                </a:moveTo>
                <a:lnTo>
                  <a:pt x="940" y="46"/>
                </a:lnTo>
                <a:moveTo>
                  <a:pt x="700" y="86"/>
                </a:moveTo>
                <a:lnTo>
                  <a:pt x="940" y="86"/>
                </a:lnTo>
                <a:moveTo>
                  <a:pt x="700" y="126"/>
                </a:moveTo>
                <a:lnTo>
                  <a:pt x="940" y="126"/>
                </a:lnTo>
                <a:moveTo>
                  <a:pt x="700" y="46"/>
                </a:moveTo>
                <a:lnTo>
                  <a:pt x="700" y="150"/>
                </a:lnTo>
                <a:moveTo>
                  <a:pt x="740" y="46"/>
                </a:moveTo>
                <a:lnTo>
                  <a:pt x="740" y="150"/>
                </a:lnTo>
                <a:moveTo>
                  <a:pt x="780" y="46"/>
                </a:moveTo>
                <a:lnTo>
                  <a:pt x="780" y="150"/>
                </a:lnTo>
                <a:moveTo>
                  <a:pt x="820" y="46"/>
                </a:moveTo>
                <a:lnTo>
                  <a:pt x="820" y="150"/>
                </a:lnTo>
                <a:moveTo>
                  <a:pt x="700" y="150"/>
                </a:moveTo>
                <a:lnTo>
                  <a:pt x="940" y="150"/>
                </a:lnTo>
                <a:moveTo>
                  <a:pt x="500" y="430"/>
                </a:moveTo>
                <a:lnTo>
                  <a:pt x="896" y="430"/>
                </a:lnTo>
                <a:moveTo>
                  <a:pt x="500" y="470"/>
                </a:moveTo>
                <a:lnTo>
                  <a:pt x="896" y="470"/>
                </a:lnTo>
                <a:moveTo>
                  <a:pt x="500" y="510"/>
                </a:moveTo>
                <a:lnTo>
                  <a:pt x="896" y="510"/>
                </a:lnTo>
              </a:path>
            </a:pathLst>
          </a:custGeom>
          <a:noFill/>
          <a:ln w="12700">
            <a:solidFill>
              <a:srgbClr val="1F2937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decor-brackets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cxnLst/>
            <a:rect l="textAreaLeft" t="textAreaTop" r="textAreaRight" b="textAreaBottom"/>
            <a:pathLst>
              <a:path w="960" h="540">
                <a:moveTo>
                  <a:pt x="64" y="84"/>
                </a:moveTo>
                <a:lnTo>
                  <a:pt x="64" y="94"/>
                </a:lnTo>
                <a:moveTo>
                  <a:pt x="64" y="94"/>
                </a:moveTo>
                <a:lnTo>
                  <a:pt x="74" y="94"/>
                </a:lnTo>
                <a:moveTo>
                  <a:pt x="886" y="500"/>
                </a:moveTo>
                <a:lnTo>
                  <a:pt x="896" y="500"/>
                </a:lnTo>
                <a:moveTo>
                  <a:pt x="896" y="490"/>
                </a:moveTo>
                <a:lnTo>
                  <a:pt x="896" y="500"/>
                </a:lnTo>
              </a:path>
            </a:pathLst>
          </a:custGeom>
          <a:noFill/>
          <a:ln w="254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tatusbar"/>
          <p:cNvSpPr/>
          <p:nvPr/>
        </p:nvSpPr>
        <p:spPr>
          <a:xfrm>
            <a:off x="8712360" y="279360"/>
            <a:ext cx="26665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20000"/>
              </a:lnSpc>
            </a:pPr>
            <a:r>
              <a:rPr lang="en-US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GOAI · TERMINAL — </a:t>
            </a:r>
            <a:r>
              <a:rPr lang="zh-CN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初赛评审 </a:t>
            </a:r>
            <a:r>
              <a:rPr lang="en-US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01/16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eyebrow"/>
          <p:cNvSpPr/>
          <p:nvPr/>
        </p:nvSpPr>
        <p:spPr>
          <a:xfrm>
            <a:off x="812880" y="812880"/>
            <a:ext cx="63496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9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GOAI · OPTION DECISION AGENT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cover-title"/>
          <p:cNvSpPr/>
          <p:nvPr/>
        </p:nvSpPr>
        <p:spPr>
          <a:xfrm>
            <a:off x="812880" y="1320840"/>
            <a:ext cx="10566000" cy="81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44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GOAI · </a:t>
            </a:r>
            <a:r>
              <a:rPr lang="zh-CN" sz="44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期权决策智能体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cover-info"/>
          <p:cNvSpPr/>
          <p:nvPr/>
        </p:nvSpPr>
        <p:spPr>
          <a:xfrm>
            <a:off x="812880" y="2184480"/>
            <a:ext cx="10566000" cy="279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GOAI </a:t>
            </a: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港美股期权智能终端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  <a:spcBef>
                <a:spcPts val="1599"/>
              </a:spcBef>
            </a:pPr>
            <a:r>
              <a:rPr lang="zh-CN" sz="14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不替你猜涨跌——把自然语言观点收拢为</a:t>
            </a:r>
            <a:r>
              <a:rPr lang="zh-CN" sz="1400" b="1" u="none" strike="noStrike">
                <a:solidFill>
                  <a:srgbClr val="22D3EE"/>
                </a:solidFill>
                <a:effectLst/>
                <a:uFillTx/>
                <a:latin typeface="Arial"/>
                <a:ea typeface="Microsoft YaHei"/>
              </a:rPr>
              <a:t>可核验决策卡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  <a:spcBef>
                <a:spcPts val="2801"/>
              </a:spcBef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GOAI </a:t>
            </a: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世界人工智能开源大赛 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· Boundless Agents · </a:t>
            </a: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金融服务赛道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  <a:spcBef>
                <a:spcPts val="1199"/>
              </a:spcBef>
            </a:pP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初赛提交 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2026-08-16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  <a:spcBef>
                <a:spcPts val="2599"/>
              </a:spcBef>
            </a:pP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团队 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3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人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  <a:spcBef>
                <a:spcPts val="601"/>
              </a:spcBef>
            </a:pPr>
            <a:r>
              <a:rPr lang="en-US" sz="1200" b="0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A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多 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Agent </a:t>
            </a: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工程与量化研究 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en-US" sz="1200" b="0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B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港美股期权策略 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en-US" sz="1200" b="0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C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网络安全与合规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page-number"/>
          <p:cNvSpPr/>
          <p:nvPr/>
        </p:nvSpPr>
        <p:spPr>
          <a:xfrm>
            <a:off x="10617120" y="6578640"/>
            <a:ext cx="7617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20000"/>
              </a:lnSpc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01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ck"/>
          <p:cNvSpPr/>
          <p:nvPr/>
        </p:nvSpPr>
        <p:spPr>
          <a:xfrm>
            <a:off x="812880" y="355680"/>
            <a:ext cx="37800" cy="27900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eyebrow"/>
          <p:cNvSpPr/>
          <p:nvPr/>
        </p:nvSpPr>
        <p:spPr>
          <a:xfrm>
            <a:off x="990720" y="330120"/>
            <a:ext cx="27936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9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02 · POSITIONING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tatusbar"/>
          <p:cNvSpPr/>
          <p:nvPr/>
        </p:nvSpPr>
        <p:spPr>
          <a:xfrm>
            <a:off x="8128080" y="254160"/>
            <a:ext cx="3250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GOAI · TERMINAL — </a:t>
            </a:r>
            <a:r>
              <a:rPr lang="zh-CN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初赛评审   </a:t>
            </a:r>
            <a:r>
              <a:rPr lang="en-US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02/16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itle"/>
          <p:cNvSpPr/>
          <p:nvPr/>
        </p:nvSpPr>
        <p:spPr>
          <a:xfrm>
            <a:off x="990720" y="558720"/>
            <a:ext cx="1038816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不猜方向，只交付可核验决策卡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ubtitle"/>
          <p:cNvSpPr/>
          <p:nvPr/>
        </p:nvSpPr>
        <p:spPr>
          <a:xfrm>
            <a:off x="990720" y="939960"/>
            <a:ext cx="103881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一句话定位与两个支撑论点：可核验决策卡、敢说不交易。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hairline-header"/>
          <p:cNvSpPr/>
          <p:nvPr/>
        </p:nvSpPr>
        <p:spPr>
          <a:xfrm>
            <a:off x="812880" y="11685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1"/>
                </a:moveTo>
                <a:lnTo>
                  <a:pt x="832" y="1"/>
                </a:lnTo>
              </a:path>
            </a:pathLst>
          </a:custGeom>
          <a:noFill/>
          <a:ln cap="rnd"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pos-statement"/>
          <p:cNvSpPr/>
          <p:nvPr/>
        </p:nvSpPr>
        <p:spPr>
          <a:xfrm>
            <a:off x="812880" y="1320840"/>
            <a:ext cx="4673160" cy="34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不替你</a:t>
            </a:r>
            <a:r>
              <a:rPr lang="zh-CN" sz="2600" b="1" u="none" strike="noStrike">
                <a:solidFill>
                  <a:srgbClr val="22D3EE"/>
                </a:solidFill>
                <a:effectLst/>
                <a:uFillTx/>
                <a:latin typeface="Arial"/>
                <a:ea typeface="Microsoft YaHei"/>
              </a:rPr>
              <a:t>猜涨跌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spcBef>
                <a:spcPts val="1001"/>
              </a:spcBef>
            </a:pP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把自然语言观点收拢为可核验决策卡；每个数字可溯源，每条结论带依据。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spcBef>
                <a:spcPts val="1800"/>
              </a:spcBef>
            </a:pP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输入示例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· PRD §3.2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「腾讯业绩快到了，方向不确定。账户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10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万港币，单笔最多亏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5%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，帮我看看跨式。」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spcBef>
                <a:spcPts val="1599"/>
              </a:spcBef>
            </a:pP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输出：决策卡结论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en-US" sz="11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NO_TRADE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，成功结果而非失败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card1-box"/>
          <p:cNvSpPr/>
          <p:nvPr/>
        </p:nvSpPr>
        <p:spPr>
          <a:xfrm>
            <a:off x="5689440" y="1320840"/>
            <a:ext cx="5689080" cy="187920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card2-box"/>
          <p:cNvSpPr/>
          <p:nvPr/>
        </p:nvSpPr>
        <p:spPr>
          <a:xfrm>
            <a:off x="5689440" y="3301920"/>
            <a:ext cx="5689080" cy="142200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card1-text"/>
          <p:cNvSpPr/>
          <p:nvPr/>
        </p:nvSpPr>
        <p:spPr>
          <a:xfrm>
            <a:off x="5842080" y="1473120"/>
            <a:ext cx="5384520" cy="157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把观点收拢为可核验决策卡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spcBef>
                <a:spcPts val="601"/>
              </a:spcBef>
            </a:pPr>
            <a:r>
              <a:rPr lang="en-US" sz="30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90s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　首次用户即获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Replay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决策价值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en-US" sz="30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60s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　应用就绪后形成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Live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决策卡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所有模拟动作仍须用户独立确认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card2-text"/>
          <p:cNvSpPr/>
          <p:nvPr/>
        </p:nvSpPr>
        <p:spPr>
          <a:xfrm>
            <a:off x="5842080" y="3454560"/>
            <a:ext cx="5384520" cy="11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</a:pP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NO_TRADE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是成功结果，敢说「不交易」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spcBef>
                <a:spcPts val="601"/>
              </a:spcBef>
            </a:pP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不会为了展示下单而调低门槛；定位为决策支持——不做执行、不做荐股。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spcBef>
                <a:spcPts val="601"/>
              </a:spcBef>
            </a:pPr>
            <a:r>
              <a:rPr lang="en-US" sz="11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NO_TRADE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= </a:t>
            </a:r>
            <a:r>
              <a:rPr lang="zh-CN" sz="11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当前成本和证据不支持交易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quote-bar"/>
          <p:cNvSpPr/>
          <p:nvPr/>
        </p:nvSpPr>
        <p:spPr>
          <a:xfrm>
            <a:off x="812880" y="4876920"/>
            <a:ext cx="10566000" cy="507600"/>
          </a:xfrm>
          <a:prstGeom prst="roundRect">
            <a:avLst>
              <a:gd name="adj" fmla="val 5000"/>
            </a:avLst>
          </a:prstGeom>
          <a:solidFill>
            <a:srgbClr val="22D3EE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quote-rail"/>
          <p:cNvSpPr/>
          <p:nvPr/>
        </p:nvSpPr>
        <p:spPr>
          <a:xfrm>
            <a:off x="812880" y="4876920"/>
            <a:ext cx="37800" cy="50760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quote-mark"/>
          <p:cNvSpPr/>
          <p:nvPr/>
        </p:nvSpPr>
        <p:spPr>
          <a:xfrm>
            <a:off x="965160" y="4902120"/>
            <a:ext cx="253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quote-text"/>
          <p:cNvSpPr/>
          <p:nvPr/>
        </p:nvSpPr>
        <p:spPr>
          <a:xfrm>
            <a:off x="1219320" y="4876920"/>
            <a:ext cx="1015956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14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不猜涨跌，但每个结论都可核验。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ummary-bar"/>
          <p:cNvSpPr/>
          <p:nvPr/>
        </p:nvSpPr>
        <p:spPr>
          <a:xfrm>
            <a:off x="812880" y="5537160"/>
            <a:ext cx="10566000" cy="60912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ummary-cap"/>
          <p:cNvSpPr/>
          <p:nvPr/>
        </p:nvSpPr>
        <p:spPr>
          <a:xfrm>
            <a:off x="990720" y="5537160"/>
            <a:ext cx="5331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9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结论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ummary-text"/>
          <p:cNvSpPr/>
          <p:nvPr/>
        </p:nvSpPr>
        <p:spPr>
          <a:xfrm>
            <a:off x="1650960" y="5537160"/>
            <a:ext cx="965160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把观点收拢为可核验决策卡；</a:t>
            </a:r>
            <a:r>
              <a:rPr lang="en-US" sz="11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NO_TRADE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是成功结果；不做执行、不做荐股。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hairline-footer"/>
          <p:cNvSpPr/>
          <p:nvPr/>
        </p:nvSpPr>
        <p:spPr>
          <a:xfrm>
            <a:off x="812880" y="650232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1"/>
                </a:moveTo>
                <a:lnTo>
                  <a:pt x="832" y="1"/>
                </a:lnTo>
              </a:path>
            </a:pathLst>
          </a:custGeom>
          <a:noFill/>
          <a:ln cap="rnd"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footer-left"/>
          <p:cNvSpPr/>
          <p:nvPr/>
        </p:nvSpPr>
        <p:spPr>
          <a:xfrm>
            <a:off x="812880" y="6578640"/>
            <a:ext cx="63496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来源</a:t>
            </a: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: docs/PRD.md / README.md · 2026-08-12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footer-right"/>
          <p:cNvSpPr/>
          <p:nvPr/>
        </p:nvSpPr>
        <p:spPr>
          <a:xfrm>
            <a:off x="10541160" y="6578640"/>
            <a:ext cx="8377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02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19" dur="indefinite" restart="never" nodeType="tmRoot">
          <p:childTnLst>
            <p:seq>
              <p:cTn id="20" dur="indefinite" nodeType="mainSeq"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fill="hold" nodeType="click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fill="hold" nodeType="click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ck"/>
          <p:cNvSpPr/>
          <p:nvPr/>
        </p:nvSpPr>
        <p:spPr>
          <a:xfrm>
            <a:off x="812880" y="355680"/>
            <a:ext cx="37800" cy="27900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eyebrow"/>
          <p:cNvSpPr/>
          <p:nvPr/>
        </p:nvSpPr>
        <p:spPr>
          <a:xfrm>
            <a:off x="990720" y="330120"/>
            <a:ext cx="27936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9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03 · PAINPOINTS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tatusbar"/>
          <p:cNvSpPr/>
          <p:nvPr/>
        </p:nvSpPr>
        <p:spPr>
          <a:xfrm>
            <a:off x="8128080" y="254160"/>
            <a:ext cx="3250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GOAI · TERMINAL — </a:t>
            </a:r>
            <a:r>
              <a:rPr lang="zh-CN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初赛评审   </a:t>
            </a:r>
            <a:r>
              <a:rPr lang="en-US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03/16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itle"/>
          <p:cNvSpPr/>
          <p:nvPr/>
        </p:nvSpPr>
        <p:spPr>
          <a:xfrm>
            <a:off x="990720" y="558720"/>
            <a:ext cx="1038816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四个痛点，指向同一个缺口：数据可溯源、成本可成交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ubtitle"/>
          <p:cNvSpPr/>
          <p:nvPr/>
        </p:nvSpPr>
        <p:spPr>
          <a:xfrm>
            <a:off x="990720" y="939960"/>
            <a:ext cx="103881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定义问题域：为什么需要一个期权决策中间层——本页给出四个断点。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hairline-header"/>
          <p:cNvSpPr/>
          <p:nvPr/>
        </p:nvSpPr>
        <p:spPr>
          <a:xfrm>
            <a:off x="812880" y="11685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1"/>
                </a:moveTo>
                <a:lnTo>
                  <a:pt x="832" y="1"/>
                </a:lnTo>
              </a:path>
            </a:pathLst>
          </a:custGeom>
          <a:noFill/>
          <a:ln cap="rnd"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card1-box"/>
          <p:cNvSpPr/>
          <p:nvPr/>
        </p:nvSpPr>
        <p:spPr>
          <a:xfrm>
            <a:off x="812880" y="1320840"/>
            <a:ext cx="6603480" cy="162540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card1-num"/>
          <p:cNvSpPr/>
          <p:nvPr/>
        </p:nvSpPr>
        <p:spPr>
          <a:xfrm>
            <a:off x="965160" y="1447920"/>
            <a:ext cx="35532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9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card1-text"/>
          <p:cNvSpPr/>
          <p:nvPr/>
        </p:nvSpPr>
        <p:spPr>
          <a:xfrm>
            <a:off x="965160" y="1676520"/>
            <a:ext cx="629892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</a:pP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信息分散：行情 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/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规则 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/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社区各在一处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spcBef>
                <a:spcPts val="1001"/>
              </a:spcBef>
            </a:pP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拼一张完整的决策图，需要手动跑遍行情、交易规则、社区观点多个渠道，再逐一对齐口径。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card2-box"/>
          <p:cNvSpPr/>
          <p:nvPr/>
        </p:nvSpPr>
        <p:spPr>
          <a:xfrm>
            <a:off x="7620120" y="1320840"/>
            <a:ext cx="3758760" cy="162540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card2-num"/>
          <p:cNvSpPr/>
          <p:nvPr/>
        </p:nvSpPr>
        <p:spPr>
          <a:xfrm>
            <a:off x="7772400" y="1447920"/>
            <a:ext cx="35532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9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02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card2-text"/>
          <p:cNvSpPr/>
          <p:nvPr/>
        </p:nvSpPr>
        <p:spPr>
          <a:xfrm>
            <a:off x="7772400" y="1676520"/>
            <a:ext cx="3454200" cy="11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</a:pP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理论价 ≠ 可成交价：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exec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口径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spcBef>
                <a:spcPts val="1001"/>
              </a:spcBef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mid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只是观察值；买入成本必须按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ask ×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乘数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+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费用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+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滑点，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exec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口径才算真成本。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card3-box"/>
          <p:cNvSpPr/>
          <p:nvPr/>
        </p:nvSpPr>
        <p:spPr>
          <a:xfrm>
            <a:off x="812880" y="3048120"/>
            <a:ext cx="6603480" cy="162540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card3-num"/>
          <p:cNvSpPr/>
          <p:nvPr/>
        </p:nvSpPr>
        <p:spPr>
          <a:xfrm>
            <a:off x="965160" y="3174840"/>
            <a:ext cx="35532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9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03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card3-text"/>
          <p:cNvSpPr/>
          <p:nvPr/>
        </p:nvSpPr>
        <p:spPr>
          <a:xfrm>
            <a:off x="965160" y="3403440"/>
            <a:ext cx="6298920" cy="11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</a:pP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港股规则差异：美式实物 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vs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欧式现金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spcBef>
                <a:spcPts val="1001"/>
              </a:spcBef>
            </a:pP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个股期权美式、实物交割；指数期权欧式、现金结算——混淆行权与交割方式，盈亏与风险都会算错。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card4-box"/>
          <p:cNvSpPr/>
          <p:nvPr/>
        </p:nvSpPr>
        <p:spPr>
          <a:xfrm>
            <a:off x="7620120" y="3048120"/>
            <a:ext cx="3758760" cy="162540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card4-num"/>
          <p:cNvSpPr/>
          <p:nvPr/>
        </p:nvSpPr>
        <p:spPr>
          <a:xfrm>
            <a:off x="7772400" y="3174840"/>
            <a:ext cx="35532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9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04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card4-text"/>
          <p:cNvSpPr/>
          <p:nvPr/>
        </p:nvSpPr>
        <p:spPr>
          <a:xfrm>
            <a:off x="7772400" y="3403440"/>
            <a:ext cx="335232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</a:pP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LLM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编造金融数字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spcBef>
                <a:spcPts val="1001"/>
              </a:spcBef>
            </a:pP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金融数字编造为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0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是硬指标；每个数字必须能回答「来源文件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+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字段路径」。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quote-bar"/>
          <p:cNvSpPr/>
          <p:nvPr/>
        </p:nvSpPr>
        <p:spPr>
          <a:xfrm>
            <a:off x="812880" y="4876920"/>
            <a:ext cx="10566000" cy="507600"/>
          </a:xfrm>
          <a:prstGeom prst="roundRect">
            <a:avLst>
              <a:gd name="adj" fmla="val 5000"/>
            </a:avLst>
          </a:prstGeom>
          <a:solidFill>
            <a:srgbClr val="22D3EE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quote-rail"/>
          <p:cNvSpPr/>
          <p:nvPr/>
        </p:nvSpPr>
        <p:spPr>
          <a:xfrm>
            <a:off x="812880" y="4876920"/>
            <a:ext cx="37800" cy="50760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quote-mark"/>
          <p:cNvSpPr/>
          <p:nvPr/>
        </p:nvSpPr>
        <p:spPr>
          <a:xfrm>
            <a:off x="965160" y="4902120"/>
            <a:ext cx="253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quote-text"/>
          <p:cNvSpPr/>
          <p:nvPr/>
        </p:nvSpPr>
        <p:spPr>
          <a:xfrm>
            <a:off x="1219320" y="4876920"/>
            <a:ext cx="1015956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14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看得见行情，算不清成本，信不过结论。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ummary-bar"/>
          <p:cNvSpPr/>
          <p:nvPr/>
        </p:nvSpPr>
        <p:spPr>
          <a:xfrm>
            <a:off x="812880" y="5537160"/>
            <a:ext cx="10566000" cy="60912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ummary-cap"/>
          <p:cNvSpPr/>
          <p:nvPr/>
        </p:nvSpPr>
        <p:spPr>
          <a:xfrm>
            <a:off x="990720" y="5537160"/>
            <a:ext cx="5331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9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结论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ummary-text"/>
          <p:cNvSpPr/>
          <p:nvPr/>
        </p:nvSpPr>
        <p:spPr>
          <a:xfrm>
            <a:off x="1650960" y="5537160"/>
            <a:ext cx="965160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四个断点落在数据、定价、规则与信任上；后面的方案必须逐一打通，缺一不可。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hairline-footer"/>
          <p:cNvSpPr/>
          <p:nvPr/>
        </p:nvSpPr>
        <p:spPr>
          <a:xfrm>
            <a:off x="812880" y="650232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1"/>
                </a:moveTo>
                <a:lnTo>
                  <a:pt x="832" y="1"/>
                </a:lnTo>
              </a:path>
            </a:pathLst>
          </a:custGeom>
          <a:noFill/>
          <a:ln cap="rnd"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footer-left"/>
          <p:cNvSpPr/>
          <p:nvPr/>
        </p:nvSpPr>
        <p:spPr>
          <a:xfrm>
            <a:off x="812880" y="6578640"/>
            <a:ext cx="63496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来源</a:t>
            </a: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: docs/PRD.md / README.md · </a:t>
            </a: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痛点归纳 </a:t>
            </a: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2026-08-12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footer-right"/>
          <p:cNvSpPr/>
          <p:nvPr/>
        </p:nvSpPr>
        <p:spPr>
          <a:xfrm>
            <a:off x="10541160" y="6578640"/>
            <a:ext cx="8377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03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49" dur="indefinite" restart="never" nodeType="tmRoot">
          <p:childTnLst>
            <p:seq>
              <p:cTn id="50" dur="indefinite" nodeType="mainSeq"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7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7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8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header-tick"/>
          <p:cNvSpPr/>
          <p:nvPr/>
        </p:nvSpPr>
        <p:spPr>
          <a:xfrm>
            <a:off x="812880" y="355680"/>
            <a:ext cx="37800" cy="27900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header-hairline"/>
          <p:cNvSpPr/>
          <p:nvPr/>
        </p:nvSpPr>
        <p:spPr>
          <a:xfrm>
            <a:off x="812880" y="11685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1"/>
                </a:moveTo>
                <a:lnTo>
                  <a:pt x="832" y="1"/>
                </a:lnTo>
              </a:path>
            </a:pathLst>
          </a:custGeom>
          <a:noFill/>
          <a:ln cap="rnd"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tatusbar-04"/>
          <p:cNvSpPr/>
          <p:nvPr/>
        </p:nvSpPr>
        <p:spPr>
          <a:xfrm>
            <a:off x="9982080" y="279360"/>
            <a:ext cx="1396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20000"/>
              </a:lnSpc>
            </a:pPr>
            <a:r>
              <a:rPr lang="en-US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GOAI · TERMINAL — </a:t>
            </a:r>
            <a:r>
              <a:rPr lang="zh-CN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初赛评审  </a:t>
            </a:r>
            <a:r>
              <a:rPr lang="en-US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04/16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eyebrow-04"/>
          <p:cNvSpPr/>
          <p:nvPr/>
        </p:nvSpPr>
        <p:spPr>
          <a:xfrm>
            <a:off x="990720" y="330120"/>
            <a:ext cx="380952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9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04 · HERO SCENARIO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itle-04"/>
          <p:cNvSpPr/>
          <p:nvPr/>
        </p:nvSpPr>
        <p:spPr>
          <a:xfrm>
            <a:off x="990720" y="558720"/>
            <a:ext cx="103881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Hero </a:t>
            </a:r>
            <a:r>
              <a:rPr lang="zh-CN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场景：业绩前方向不明，</a:t>
            </a:r>
            <a:r>
              <a:rPr lang="en-US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480 ATM </a:t>
            </a:r>
            <a:r>
              <a:rPr lang="zh-CN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长跨式进入量化评估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ubtitle-04"/>
          <p:cNvSpPr/>
          <p:nvPr/>
        </p:nvSpPr>
        <p:spPr>
          <a:xfrm>
            <a:off x="990720" y="914400"/>
            <a:ext cx="101595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唯一完整 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P0 </a:t>
            </a: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场景：把模糊诉求转成账户、风险硬顶与候选策略三组可复算参数。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cene-panel"/>
          <p:cNvSpPr/>
          <p:nvPr/>
        </p:nvSpPr>
        <p:spPr>
          <a:xfrm>
            <a:off x="812880" y="1320840"/>
            <a:ext cx="6349680" cy="203148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cene-title"/>
          <p:cNvSpPr/>
          <p:nvPr/>
        </p:nvSpPr>
        <p:spPr>
          <a:xfrm>
            <a:off x="965160" y="1447920"/>
            <a:ext cx="40636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场景快照 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· SCENARIO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cene-badge"/>
          <p:cNvSpPr/>
          <p:nvPr/>
        </p:nvSpPr>
        <p:spPr>
          <a:xfrm>
            <a:off x="5537160" y="1397160"/>
            <a:ext cx="1472760" cy="279000"/>
          </a:xfrm>
          <a:prstGeom prst="roundRect">
            <a:avLst>
              <a:gd name="adj" fmla="val 50000"/>
            </a:avLst>
          </a:prstGeom>
          <a:solidFill>
            <a:srgbClr val="F59E0B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cene-badge-text"/>
          <p:cNvSpPr/>
          <p:nvPr/>
        </p:nvSpPr>
        <p:spPr>
          <a:xfrm>
            <a:off x="5537160" y="1397160"/>
            <a:ext cx="147276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zh-CN" sz="1000" b="0" u="none" strike="noStrike">
                <a:solidFill>
                  <a:srgbClr val="F59E0B"/>
                </a:solidFill>
                <a:effectLst/>
                <a:uFillTx/>
                <a:latin typeface="Arial"/>
                <a:ea typeface="Microsoft YaHei"/>
              </a:rPr>
              <a:t>方向不确定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kpi-spot"/>
          <p:cNvSpPr/>
          <p:nvPr/>
        </p:nvSpPr>
        <p:spPr>
          <a:xfrm>
            <a:off x="965160" y="1752480"/>
            <a:ext cx="20314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34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478.8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kpi-label"/>
          <p:cNvSpPr/>
          <p:nvPr/>
        </p:nvSpPr>
        <p:spPr>
          <a:xfrm>
            <a:off x="965160" y="2311560"/>
            <a:ext cx="203148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现价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HKD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kpi-note"/>
          <p:cNvSpPr/>
          <p:nvPr/>
        </p:nvSpPr>
        <p:spPr>
          <a:xfrm>
            <a:off x="965160" y="2527200"/>
            <a:ext cx="203148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prev_close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479.2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cene-labels"/>
          <p:cNvSpPr/>
          <p:nvPr/>
        </p:nvSpPr>
        <p:spPr>
          <a:xfrm>
            <a:off x="3174840" y="1752480"/>
            <a:ext cx="609120" cy="86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</a:pPr>
            <a:r>
              <a:rPr lang="zh-CN" sz="11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标的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zh-CN" sz="11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事件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zh-CN" sz="11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行权价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zh-CN" sz="11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待评估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cene-values"/>
          <p:cNvSpPr/>
          <p:nvPr/>
        </p:nvSpPr>
        <p:spPr>
          <a:xfrm>
            <a:off x="3784680" y="1752480"/>
            <a:ext cx="3225600" cy="86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HK.00700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·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腾讯控股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2026-08-12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业绩公布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2026Q2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480.0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（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ATM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）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长跨式（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straddle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）是否值得交易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params-table"/>
          <p:cNvGraphicFramePr/>
          <p:nvPr/>
        </p:nvGraphicFramePr>
        <p:xfrm>
          <a:off x="7365960" y="1320840"/>
          <a:ext cx="4012920" cy="2031480"/>
        </p:xfrm>
        <a:graphic>
          <a:graphicData uri="http://schemas.openxmlformats.org/drawingml/2006/table">
            <a:tbl>
              <a:tblPr/>
              <a:tblGrid>
                <a:gridCol w="1524960"/>
                <a:gridCol w="2487960"/>
              </a:tblGrid>
              <a:tr h="3250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参数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22D3EE"/>
                      </a:solidFill>
                      <a:prstDash val="soli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数值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22D3EE"/>
                      </a:solidFill>
                      <a:prstDash val="solid"/>
                    </a:lnB>
                    <a:solidFill>
                      <a:srgbClr val="10161F"/>
                    </a:solidFill>
                  </a:tcPr>
                </a:tc>
              </a:tr>
              <a:tr h="3412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账户现金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100,000 HKD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</a:tr>
              <a:tr h="3412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单笔风险预算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5%</a:t>
                      </a:r>
                      <a:r>
                        <a:rPr lang="zh-CN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（上限 </a:t>
                      </a:r>
                      <a:r>
                        <a:rPr lang="en-US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5,000 HKD</a:t>
                      </a:r>
                      <a:r>
                        <a:rPr lang="zh-CN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）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</a:tr>
              <a:tr h="3412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合约乘数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100 </a:t>
                      </a:r>
                      <a:r>
                        <a:rPr lang="zh-CN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股</a:t>
                      </a:r>
                      <a:r>
                        <a:rPr lang="en-US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/</a:t>
                      </a:r>
                      <a:r>
                        <a:rPr lang="zh-CN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张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</a:tr>
              <a:tr h="3412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候选策略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480 ATM </a:t>
                      </a:r>
                      <a:r>
                        <a:rPr lang="zh-CN" sz="110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长跨式 </a:t>
                      </a:r>
                      <a:r>
                        <a:rPr lang="en-US" sz="110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× 2 </a:t>
                      </a:r>
                      <a:r>
                        <a:rPr lang="zh-CN" sz="110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张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</a:tr>
              <a:tr h="3412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主到期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1F2937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2026-08-14</a:t>
                      </a:r>
                      <a:r>
                        <a:rPr lang="zh-CN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（</a:t>
                      </a:r>
                      <a:r>
                        <a:rPr lang="en-US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dte 6</a:t>
                      </a:r>
                      <a:r>
                        <a:rPr lang="zh-CN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）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1F2937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2" name="inference-bar"/>
          <p:cNvSpPr/>
          <p:nvPr/>
        </p:nvSpPr>
        <p:spPr>
          <a:xfrm>
            <a:off x="812880" y="3556080"/>
            <a:ext cx="10566000" cy="76176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inference-cap"/>
          <p:cNvSpPr/>
          <p:nvPr/>
        </p:nvSpPr>
        <p:spPr>
          <a:xfrm>
            <a:off x="990720" y="3556080"/>
            <a:ext cx="5583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9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推论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inference-arrow"/>
          <p:cNvSpPr/>
          <p:nvPr/>
        </p:nvSpPr>
        <p:spPr>
          <a:xfrm>
            <a:off x="1574640" y="3835440"/>
            <a:ext cx="202680" cy="202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inference-text"/>
          <p:cNvSpPr/>
          <p:nvPr/>
        </p:nvSpPr>
        <p:spPr>
          <a:xfrm>
            <a:off x="1981080" y="3606840"/>
            <a:ext cx="8635680" cy="65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50000"/>
              </a:lnSpc>
            </a:pP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单笔亏损硬顶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=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100,000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×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5%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= </a:t>
            </a:r>
            <a:r>
              <a:rPr lang="en-US" sz="11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5,000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HKD ——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任何候选策略不得超过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候选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= </a:t>
            </a:r>
            <a:r>
              <a:rPr lang="en-US" sz="11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480 ATM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长跨式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×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2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张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主到期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2026-08-14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——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是否值得买，由引擎与回测裁决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quote-bg"/>
          <p:cNvSpPr/>
          <p:nvPr/>
        </p:nvSpPr>
        <p:spPr>
          <a:xfrm>
            <a:off x="812880" y="4876920"/>
            <a:ext cx="10566000" cy="507600"/>
          </a:xfrm>
          <a:prstGeom prst="roundRect">
            <a:avLst>
              <a:gd name="adj" fmla="val 5000"/>
            </a:avLst>
          </a:prstGeom>
          <a:solidFill>
            <a:srgbClr val="22D3EE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quote-tick"/>
          <p:cNvSpPr/>
          <p:nvPr/>
        </p:nvSpPr>
        <p:spPr>
          <a:xfrm>
            <a:off x="812880" y="4876920"/>
            <a:ext cx="37800" cy="50760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quote-prompt"/>
          <p:cNvSpPr/>
          <p:nvPr/>
        </p:nvSpPr>
        <p:spPr>
          <a:xfrm>
            <a:off x="965160" y="4876920"/>
            <a:ext cx="20268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quote-text"/>
          <p:cNvSpPr/>
          <p:nvPr/>
        </p:nvSpPr>
        <p:spPr>
          <a:xfrm>
            <a:off x="1219320" y="4876920"/>
            <a:ext cx="977868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14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先算成本与硬顶，再谈方向与收益。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ummary-bg"/>
          <p:cNvSpPr/>
          <p:nvPr/>
        </p:nvSpPr>
        <p:spPr>
          <a:xfrm>
            <a:off x="812880" y="5537160"/>
            <a:ext cx="10566000" cy="60912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ummary-cap"/>
          <p:cNvSpPr/>
          <p:nvPr/>
        </p:nvSpPr>
        <p:spPr>
          <a:xfrm>
            <a:off x="990720" y="5537160"/>
            <a:ext cx="5583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9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结论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ummary-text"/>
          <p:cNvSpPr/>
          <p:nvPr/>
        </p:nvSpPr>
        <p:spPr>
          <a:xfrm>
            <a:off x="1650960" y="5537160"/>
            <a:ext cx="9524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50000"/>
              </a:lnSpc>
            </a:pP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场景已冻结：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10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万港币、单笔 ≤ </a:t>
            </a:r>
            <a:r>
              <a:rPr lang="en-US" sz="1100" b="0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5%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，候选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480 ATM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长跨式进入量化评估。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footer-hairline"/>
          <p:cNvSpPr/>
          <p:nvPr/>
        </p:nvSpPr>
        <p:spPr>
          <a:xfrm>
            <a:off x="812880" y="650232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1"/>
                </a:moveTo>
                <a:lnTo>
                  <a:pt x="832" y="1"/>
                </a:lnTo>
              </a:path>
            </a:pathLst>
          </a:custGeom>
          <a:noFill/>
          <a:ln cap="rnd"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footer-source"/>
          <p:cNvSpPr/>
          <p:nvPr/>
        </p:nvSpPr>
        <p:spPr>
          <a:xfrm>
            <a:off x="812880" y="6578640"/>
            <a:ext cx="76197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来源</a:t>
            </a: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: facts.md §11 + data/decision_card_2026-08-12.json + hero_inputs.json · </a:t>
            </a: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快照 </a:t>
            </a: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2026-08-08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footer-page"/>
          <p:cNvSpPr/>
          <p:nvPr/>
        </p:nvSpPr>
        <p:spPr>
          <a:xfrm>
            <a:off x="10744200" y="6578640"/>
            <a:ext cx="6346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20000"/>
              </a:lnSpc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04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81" dur="indefinite" restart="never" nodeType="tmRoot">
          <p:childTnLst>
            <p:seq>
              <p:cTn id="82" dur="indefinite" nodeType="mainSeq"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8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9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3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0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10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header-tick"/>
          <p:cNvSpPr/>
          <p:nvPr/>
        </p:nvSpPr>
        <p:spPr>
          <a:xfrm>
            <a:off x="812880" y="355680"/>
            <a:ext cx="37800" cy="27900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header-eyebrow"/>
          <p:cNvSpPr/>
          <p:nvPr/>
        </p:nvSpPr>
        <p:spPr>
          <a:xfrm>
            <a:off x="990720" y="330120"/>
            <a:ext cx="38095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9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05 · WHY AGENT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header-title"/>
          <p:cNvSpPr/>
          <p:nvPr/>
        </p:nvSpPr>
        <p:spPr>
          <a:xfrm>
            <a:off x="990720" y="533520"/>
            <a:ext cx="99057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可信来自分工：</a:t>
            </a:r>
            <a:r>
              <a:rPr lang="en-US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LLM </a:t>
            </a:r>
            <a:r>
              <a:rPr lang="zh-CN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管理解与编排，数字全由工具产出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header-subtitle"/>
          <p:cNvSpPr/>
          <p:nvPr/>
        </p:nvSpPr>
        <p:spPr>
          <a:xfrm>
            <a:off x="990720" y="914400"/>
            <a:ext cx="99057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三种解法对比：固定计算器只会算、通用 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LLM </a:t>
            </a: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会编数字、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GOAI Agent </a:t>
            </a: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让数字全部出自工具。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header-hairline"/>
          <p:cNvSpPr/>
          <p:nvPr/>
        </p:nvSpPr>
        <p:spPr>
          <a:xfrm>
            <a:off x="812880" y="11685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1"/>
                </a:moveTo>
                <a:lnTo>
                  <a:pt x="832" y="1"/>
                </a:lnTo>
              </a:path>
            </a:pathLst>
          </a:custGeom>
          <a:noFill/>
          <a:ln cap="rnd"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tatus-line"/>
          <p:cNvSpPr/>
          <p:nvPr/>
        </p:nvSpPr>
        <p:spPr>
          <a:xfrm>
            <a:off x="9982080" y="279360"/>
            <a:ext cx="13968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20000"/>
              </a:lnSpc>
            </a:pPr>
            <a:r>
              <a:rPr lang="en-US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GOAI · TERMINAL — </a:t>
            </a:r>
            <a:r>
              <a:rPr lang="zh-CN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初赛评审   </a:t>
            </a:r>
            <a:r>
              <a:rPr lang="en-US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05/16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2" name="compare-table"/>
          <p:cNvGraphicFramePr/>
          <p:nvPr/>
        </p:nvGraphicFramePr>
        <p:xfrm>
          <a:off x="812880" y="1320840"/>
          <a:ext cx="10566000" cy="3403080"/>
        </p:xfrm>
        <a:graphic>
          <a:graphicData uri="http://schemas.openxmlformats.org/drawingml/2006/table">
            <a:tbl>
              <a:tblPr/>
              <a:tblGrid>
                <a:gridCol w="1690560"/>
                <a:gridCol w="2958480"/>
                <a:gridCol w="2958480"/>
                <a:gridCol w="2958480"/>
              </a:tblGrid>
              <a:tr h="5104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维度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22D3EE"/>
                      </a:solidFill>
                      <a:prstDash val="soli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固定计算器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22D3EE"/>
                      </a:solidFill>
                      <a:prstDash val="soli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通用 </a:t>
                      </a:r>
                      <a:r>
                        <a:rPr lang="en-US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LLM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22D3EE"/>
                      </a:solidFill>
                      <a:prstDash val="soli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GOAI Agent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22D3EE"/>
                      </a:solidFill>
                      <a:prstDash val="solid"/>
                    </a:lnB>
                    <a:solidFill>
                      <a:srgbClr val="10161F"/>
                    </a:solidFill>
                  </a:tcPr>
                </a:tc>
              </a:tr>
              <a:tr h="54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场景理解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读不懂「业绩前方向不确定」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听得懂场景，还能追问补全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解析场景、编排工具、写结论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</a:tr>
              <a:tr h="54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数字从哪来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公式写死在代码里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概率生成，会编数字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确定性工具产出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</a:tr>
              <a:tr h="54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可复算 </a:t>
                      </a:r>
                      <a:r>
                        <a:rPr lang="en-US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/ </a:t>
                      </a: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可核验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能复算，但只会预设项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同问不同答，无法核验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SHA-256 </a:t>
                      </a:r>
                      <a:r>
                        <a:rPr lang="zh-CN" sz="110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审计，数字可溯源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</a:tr>
              <a:tr h="544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出错的表现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报错 → 改代码重跑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错了不自知，还很笃定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证据不足就 </a:t>
                      </a:r>
                      <a:r>
                        <a:rPr lang="en-US" sz="110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NO_TRADE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</a:tr>
              <a:tr h="7146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判决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1F2937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会算，但只会算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1F2937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F59E0B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会编，但数字不可信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1F2937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理解归 </a:t>
                      </a:r>
                      <a:r>
                        <a:rPr lang="en-US" sz="110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LLM</a:t>
                      </a:r>
                      <a:r>
                        <a:rPr lang="zh-CN" sz="110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，数字归工具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1F2937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3" name="compare-header-rule"/>
          <p:cNvSpPr/>
          <p:nvPr/>
        </p:nvSpPr>
        <p:spPr>
          <a:xfrm>
            <a:off x="812880" y="183132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1"/>
                </a:moveTo>
                <a:lnTo>
                  <a:pt x="832" y="1"/>
                </a:lnTo>
              </a:path>
            </a:pathLst>
          </a:custGeom>
          <a:noFill/>
          <a:ln cap="rnd"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quote-bg"/>
          <p:cNvSpPr/>
          <p:nvPr/>
        </p:nvSpPr>
        <p:spPr>
          <a:xfrm>
            <a:off x="812880" y="4876920"/>
            <a:ext cx="10566000" cy="507600"/>
          </a:xfrm>
          <a:prstGeom prst="roundRect">
            <a:avLst>
              <a:gd name="adj" fmla="val 5000"/>
            </a:avLst>
          </a:prstGeom>
          <a:solidFill>
            <a:srgbClr val="22D3EE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quote-rail"/>
          <p:cNvSpPr/>
          <p:nvPr/>
        </p:nvSpPr>
        <p:spPr>
          <a:xfrm>
            <a:off x="812880" y="4876920"/>
            <a:ext cx="37800" cy="50760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quote-prompt"/>
          <p:cNvSpPr/>
          <p:nvPr/>
        </p:nvSpPr>
        <p:spPr>
          <a:xfrm>
            <a:off x="965160" y="4876920"/>
            <a:ext cx="2538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quote-text"/>
          <p:cNvSpPr/>
          <p:nvPr/>
        </p:nvSpPr>
        <p:spPr>
          <a:xfrm>
            <a:off x="1219320" y="4876920"/>
            <a:ext cx="1003248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14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数字的每一次出现，都要答得上「谁算的、依据什么、何时」。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conclusion-bg"/>
          <p:cNvSpPr/>
          <p:nvPr/>
        </p:nvSpPr>
        <p:spPr>
          <a:xfrm>
            <a:off x="812880" y="5537160"/>
            <a:ext cx="10566000" cy="60912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conclusion-cap"/>
          <p:cNvSpPr/>
          <p:nvPr/>
        </p:nvSpPr>
        <p:spPr>
          <a:xfrm>
            <a:off x="990720" y="5537160"/>
            <a:ext cx="5583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9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结论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conclusion-body"/>
          <p:cNvSpPr/>
          <p:nvPr/>
        </p:nvSpPr>
        <p:spPr>
          <a:xfrm>
            <a:off x="1650960" y="5537160"/>
            <a:ext cx="9524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50000"/>
              </a:lnSpc>
            </a:pP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分工让「会编」退场：理解与表达归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LLM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，数字与溯源归工具；数字编造目标为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0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footer-hairline"/>
          <p:cNvSpPr/>
          <p:nvPr/>
        </p:nvSpPr>
        <p:spPr>
          <a:xfrm>
            <a:off x="812880" y="650232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1"/>
                </a:moveTo>
                <a:lnTo>
                  <a:pt x="832" y="1"/>
                </a:lnTo>
              </a:path>
            </a:pathLst>
          </a:custGeom>
          <a:noFill/>
          <a:ln cap="rnd"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footer-source"/>
          <p:cNvSpPr/>
          <p:nvPr/>
        </p:nvSpPr>
        <p:spPr>
          <a:xfrm>
            <a:off x="812880" y="6578640"/>
            <a:ext cx="76197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来源</a:t>
            </a: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: docs/PRD.md §7 </a:t>
            </a: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溯源要求 </a:t>
            </a: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· §9.1 </a:t>
            </a: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验收指标 </a:t>
            </a: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· facts.md</a:t>
            </a: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（</a:t>
            </a: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2026-08-12</a:t>
            </a: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）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footer-page"/>
          <p:cNvSpPr/>
          <p:nvPr/>
        </p:nvSpPr>
        <p:spPr>
          <a:xfrm>
            <a:off x="10617120" y="6578640"/>
            <a:ext cx="7617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20000"/>
              </a:lnSpc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05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110" dur="indefinite" restart="never" nodeType="tmRoot">
          <p:childTnLst>
            <p:seq>
              <p:cTn id="111" dur="indefinite" nodeType="mainSeq">
                <p:childTnLst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1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fill="hold" nodeType="click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3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3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1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4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head-tick"/>
          <p:cNvSpPr/>
          <p:nvPr/>
        </p:nvSpPr>
        <p:spPr>
          <a:xfrm>
            <a:off x="812880" y="355680"/>
            <a:ext cx="37800" cy="27900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head-eyebrow"/>
          <p:cNvSpPr/>
          <p:nvPr/>
        </p:nvSpPr>
        <p:spPr>
          <a:xfrm>
            <a:off x="990720" y="330120"/>
            <a:ext cx="380952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9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06 · DECISION PIPELINE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head-title"/>
          <p:cNvSpPr/>
          <p:nvPr/>
        </p:nvSpPr>
        <p:spPr>
          <a:xfrm>
            <a:off x="990720" y="558720"/>
            <a:ext cx="888948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端到端管线全程留痕：</a:t>
            </a:r>
            <a:r>
              <a:rPr lang="en-US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Edge </a:t>
            </a:r>
            <a:r>
              <a:rPr lang="zh-CN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未过即停，</a:t>
            </a:r>
            <a:r>
              <a:rPr lang="en-US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NO_TRADE </a:t>
            </a:r>
            <a:r>
              <a:rPr lang="zh-CN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是结论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head-subtitle"/>
          <p:cNvSpPr/>
          <p:nvPr/>
        </p:nvSpPr>
        <p:spPr>
          <a:xfrm>
            <a:off x="990720" y="914400"/>
            <a:ext cx="88894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P0a Replay </a:t>
            </a: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端到端已跑通：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NO_TRADE </a:t>
            </a: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决策卡与 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7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条审计记录随管线一次生成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head-status"/>
          <p:cNvSpPr/>
          <p:nvPr/>
        </p:nvSpPr>
        <p:spPr>
          <a:xfrm>
            <a:off x="8636040" y="279360"/>
            <a:ext cx="27428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20000"/>
              </a:lnSpc>
            </a:pPr>
            <a:r>
              <a:rPr lang="en-US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GOAI · TERMINAL — </a:t>
            </a:r>
            <a:r>
              <a:rPr lang="zh-CN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初赛评审   </a:t>
            </a:r>
            <a:r>
              <a:rPr lang="en-US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06/16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head-hairline"/>
          <p:cNvSpPr/>
          <p:nvPr/>
        </p:nvSpPr>
        <p:spPr>
          <a:xfrm>
            <a:off x="812880" y="11685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1"/>
                </a:moveTo>
                <a:lnTo>
                  <a:pt x="832" y="1"/>
                </a:lnTo>
              </a:path>
            </a:pathLst>
          </a:custGeom>
          <a:noFill/>
          <a:ln cap="rnd"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flow-track"/>
          <p:cNvSpPr/>
          <p:nvPr/>
        </p:nvSpPr>
        <p:spPr>
          <a:xfrm>
            <a:off x="812880" y="198108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1"/>
                </a:moveTo>
                <a:lnTo>
                  <a:pt x="832" y="1"/>
                </a:lnTo>
              </a:path>
            </a:pathLst>
          </a:custGeom>
          <a:noFill/>
          <a:ln cap="rnd"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chevron-1"/>
          <p:cNvSpPr/>
          <p:nvPr/>
        </p:nvSpPr>
        <p:spPr>
          <a:xfrm>
            <a:off x="2743200" y="1879560"/>
            <a:ext cx="202680" cy="202680"/>
          </a:xfrm>
          <a:prstGeom prst="chevron">
            <a:avLst>
              <a:gd name="adj" fmla="val 50000"/>
            </a:avLst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chevron-2"/>
          <p:cNvSpPr/>
          <p:nvPr/>
        </p:nvSpPr>
        <p:spPr>
          <a:xfrm>
            <a:off x="4902120" y="1879560"/>
            <a:ext cx="202680" cy="202680"/>
          </a:xfrm>
          <a:prstGeom prst="chevron">
            <a:avLst>
              <a:gd name="adj" fmla="val 50000"/>
            </a:avLst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chevron-3"/>
          <p:cNvSpPr/>
          <p:nvPr/>
        </p:nvSpPr>
        <p:spPr>
          <a:xfrm>
            <a:off x="7061040" y="1879560"/>
            <a:ext cx="202680" cy="202680"/>
          </a:xfrm>
          <a:prstGeom prst="chevron">
            <a:avLst>
              <a:gd name="adj" fmla="val 50000"/>
            </a:avLst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chevron-4"/>
          <p:cNvSpPr/>
          <p:nvPr/>
        </p:nvSpPr>
        <p:spPr>
          <a:xfrm>
            <a:off x="9220320" y="1879560"/>
            <a:ext cx="202680" cy="202680"/>
          </a:xfrm>
          <a:prstGeom prst="chevron">
            <a:avLst>
              <a:gd name="adj" fmla="val 50000"/>
            </a:avLst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5" name="card-1"/>
          <p:cNvGraphicFramePr/>
          <p:nvPr/>
        </p:nvGraphicFramePr>
        <p:xfrm>
          <a:off x="812880" y="1371600"/>
          <a:ext cx="1929960" cy="1218960"/>
        </p:xfrm>
        <a:graphic>
          <a:graphicData uri="http://schemas.openxmlformats.org/drawingml/2006/table">
            <a:tbl>
              <a:tblPr/>
              <a:tblGrid>
                <a:gridCol w="1930320"/>
              </a:tblGrid>
              <a:tr h="1218960">
                <a:tc>
                  <a:txBody>
                    <a:bodyPr anchor="t">
                      <a:noAutofit/>
                    </a:bodyPr>
                    <a:p>
                      <a:pPr marL="152280">
                        <a:lnSpc>
                          <a:spcPts val="2401"/>
                        </a:lnSpc>
                        <a:spcBef>
                          <a:spcPts val="700"/>
                        </a:spcBef>
                      </a:pPr>
                      <a:r>
                        <a:rPr lang="en-US" sz="2000" b="1" u="none" strike="noStrike">
                          <a:solidFill>
                            <a:srgbClr val="34D399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01</a:t>
                      </a:r>
                      <a:endParaRPr lang="en-US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52280">
                        <a:lnSpc>
                          <a:spcPts val="1800"/>
                        </a:lnSpc>
                        <a:spcBef>
                          <a:spcPts val="201"/>
                        </a:spcBef>
                      </a:pPr>
                      <a:r>
                        <a:rPr lang="zh-CN" sz="13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场景解析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52280">
                        <a:lnSpc>
                          <a:spcPts val="1400"/>
                        </a:lnSpc>
                        <a:spcBef>
                          <a:spcPts val="201"/>
                        </a:spcBef>
                      </a:pP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parse_scenario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52280">
                        <a:lnSpc>
                          <a:spcPts val="1400"/>
                        </a:lnSpc>
                        <a:spcBef>
                          <a:spcPts val="99"/>
                        </a:spcBef>
                      </a:pPr>
                      <a:r>
                        <a:rPr lang="zh-CN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未知字段不补造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34D399"/>
                      </a:solidFill>
                      <a:prstDash val="solid"/>
                    </a:lnL>
                    <a:lnR w="12240">
                      <a:solidFill>
                        <a:srgbClr val="34D399"/>
                      </a:solidFill>
                      <a:prstDash val="solid"/>
                    </a:lnR>
                    <a:lnT w="12240">
                      <a:solidFill>
                        <a:srgbClr val="34D399"/>
                      </a:solidFill>
                      <a:prstDash val="solid"/>
                    </a:lnT>
                    <a:lnB w="12240">
                      <a:solidFill>
                        <a:srgbClr val="34D399"/>
                      </a:solidFill>
                      <a:prstDash val="solid"/>
                    </a:lnB>
                    <a:solidFill>
                      <a:srgbClr val="131A2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6" name="card-2"/>
          <p:cNvGraphicFramePr/>
          <p:nvPr/>
        </p:nvGraphicFramePr>
        <p:xfrm>
          <a:off x="2971800" y="1371600"/>
          <a:ext cx="1929960" cy="1218960"/>
        </p:xfrm>
        <a:graphic>
          <a:graphicData uri="http://schemas.openxmlformats.org/drawingml/2006/table">
            <a:tbl>
              <a:tblPr/>
              <a:tblGrid>
                <a:gridCol w="1930320"/>
              </a:tblGrid>
              <a:tr h="1218960">
                <a:tc>
                  <a:txBody>
                    <a:bodyPr anchor="t">
                      <a:noAutofit/>
                    </a:bodyPr>
                    <a:p>
                      <a:pPr marL="152280">
                        <a:lnSpc>
                          <a:spcPts val="2401"/>
                        </a:lnSpc>
                        <a:spcBef>
                          <a:spcPts val="700"/>
                        </a:spcBef>
                      </a:pPr>
                      <a:r>
                        <a:rPr lang="en-US" sz="2000" b="1" u="none" strike="noStrike">
                          <a:solidFill>
                            <a:srgbClr val="34D399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02</a:t>
                      </a:r>
                      <a:endParaRPr lang="en-US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52280">
                        <a:lnSpc>
                          <a:spcPts val="1800"/>
                        </a:lnSpc>
                        <a:spcBef>
                          <a:spcPts val="201"/>
                        </a:spcBef>
                      </a:pPr>
                      <a:r>
                        <a:rPr lang="zh-CN" sz="13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冻结快照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52280">
                        <a:lnSpc>
                          <a:spcPts val="1400"/>
                        </a:lnSpc>
                        <a:spcBef>
                          <a:spcPts val="201"/>
                        </a:spcBef>
                      </a:pP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load_frozen_snapshot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52280">
                        <a:lnSpc>
                          <a:spcPts val="1400"/>
                        </a:lnSpc>
                        <a:spcBef>
                          <a:spcPts val="99"/>
                        </a:spcBef>
                      </a:pP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FROZEN </a:t>
                      </a:r>
                      <a:r>
                        <a:rPr lang="zh-CN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数据加载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34D399"/>
                      </a:solidFill>
                      <a:prstDash val="solid"/>
                    </a:lnL>
                    <a:lnR w="12240">
                      <a:solidFill>
                        <a:srgbClr val="34D399"/>
                      </a:solidFill>
                      <a:prstDash val="solid"/>
                    </a:lnR>
                    <a:lnT w="12240">
                      <a:solidFill>
                        <a:srgbClr val="34D399"/>
                      </a:solidFill>
                      <a:prstDash val="solid"/>
                    </a:lnT>
                    <a:lnB w="12240">
                      <a:solidFill>
                        <a:srgbClr val="34D399"/>
                      </a:solidFill>
                      <a:prstDash val="solid"/>
                    </a:lnB>
                    <a:solidFill>
                      <a:srgbClr val="131A2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7" name="card-3"/>
          <p:cNvGraphicFramePr/>
          <p:nvPr/>
        </p:nvGraphicFramePr>
        <p:xfrm>
          <a:off x="5130720" y="1371600"/>
          <a:ext cx="1929960" cy="1218960"/>
        </p:xfrm>
        <a:graphic>
          <a:graphicData uri="http://schemas.openxmlformats.org/drawingml/2006/table">
            <a:tbl>
              <a:tblPr/>
              <a:tblGrid>
                <a:gridCol w="1930320"/>
              </a:tblGrid>
              <a:tr h="1218960">
                <a:tc>
                  <a:txBody>
                    <a:bodyPr anchor="t">
                      <a:noAutofit/>
                    </a:bodyPr>
                    <a:p>
                      <a:pPr marL="152280">
                        <a:lnSpc>
                          <a:spcPts val="2401"/>
                        </a:lnSpc>
                        <a:spcBef>
                          <a:spcPts val="700"/>
                        </a:spcBef>
                      </a:pPr>
                      <a:r>
                        <a:rPr lang="en-US" sz="2000" b="1" u="none" strike="noStrike">
                          <a:solidFill>
                            <a:srgbClr val="34D399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03</a:t>
                      </a:r>
                      <a:endParaRPr lang="en-US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52280">
                        <a:lnSpc>
                          <a:spcPts val="1800"/>
                        </a:lnSpc>
                        <a:spcBef>
                          <a:spcPts val="201"/>
                        </a:spcBef>
                      </a:pPr>
                      <a:r>
                        <a:rPr lang="zh-CN" sz="13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定价</a:t>
                      </a:r>
                      <a:r>
                        <a:rPr lang="en-US" sz="13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·IV·Greeks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52280">
                        <a:lnSpc>
                          <a:spcPts val="1400"/>
                        </a:lnSpc>
                        <a:spcBef>
                          <a:spcPts val="201"/>
                        </a:spcBef>
                      </a:pP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compute_engine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52280">
                        <a:lnSpc>
                          <a:spcPts val="1400"/>
                        </a:lnSpc>
                        <a:spcBef>
                          <a:spcPts val="99"/>
                        </a:spcBef>
                      </a:pP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BS · </a:t>
                      </a:r>
                      <a:r>
                        <a:rPr lang="zh-CN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二叉树 </a:t>
                      </a: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· IV </a:t>
                      </a:r>
                      <a:r>
                        <a:rPr lang="zh-CN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二分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34D399"/>
                      </a:solidFill>
                      <a:prstDash val="solid"/>
                    </a:lnL>
                    <a:lnR w="12240">
                      <a:solidFill>
                        <a:srgbClr val="34D399"/>
                      </a:solidFill>
                      <a:prstDash val="solid"/>
                    </a:lnR>
                    <a:lnT w="12240">
                      <a:solidFill>
                        <a:srgbClr val="34D399"/>
                      </a:solidFill>
                      <a:prstDash val="solid"/>
                    </a:lnT>
                    <a:lnB w="12240">
                      <a:solidFill>
                        <a:srgbClr val="34D399"/>
                      </a:solidFill>
                      <a:prstDash val="solid"/>
                    </a:lnB>
                    <a:solidFill>
                      <a:srgbClr val="131A2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8" name="card-4"/>
          <p:cNvGraphicFramePr/>
          <p:nvPr/>
        </p:nvGraphicFramePr>
        <p:xfrm>
          <a:off x="7289640" y="1371600"/>
          <a:ext cx="1929960" cy="1218960"/>
        </p:xfrm>
        <a:graphic>
          <a:graphicData uri="http://schemas.openxmlformats.org/drawingml/2006/table">
            <a:tbl>
              <a:tblPr/>
              <a:tblGrid>
                <a:gridCol w="1930320"/>
              </a:tblGrid>
              <a:tr h="1218960">
                <a:tc>
                  <a:txBody>
                    <a:bodyPr anchor="t">
                      <a:noAutofit/>
                    </a:bodyPr>
                    <a:p>
                      <a:pPr marL="152280">
                        <a:lnSpc>
                          <a:spcPts val="2401"/>
                        </a:lnSpc>
                        <a:spcBef>
                          <a:spcPts val="700"/>
                        </a:spcBef>
                      </a:pPr>
                      <a:r>
                        <a:rPr lang="en-US" sz="2000" b="1" u="none" strike="noStrike">
                          <a:solidFill>
                            <a:srgbClr val="F87171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04</a:t>
                      </a:r>
                      <a:endParaRPr lang="en-US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52280">
                        <a:lnSpc>
                          <a:spcPts val="1800"/>
                        </a:lnSpc>
                        <a:spcBef>
                          <a:spcPts val="201"/>
                        </a:spcBef>
                      </a:pPr>
                      <a:r>
                        <a:rPr lang="en-US" sz="13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Edge </a:t>
                      </a:r>
                      <a:r>
                        <a:rPr lang="zh-CN" sz="13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门 </a:t>
                      </a:r>
                      <a:r>
                        <a:rPr lang="en-US" sz="13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· Risk </a:t>
                      </a:r>
                      <a:r>
                        <a:rPr lang="zh-CN" sz="13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门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52280">
                        <a:lnSpc>
                          <a:spcPts val="1400"/>
                        </a:lnSpc>
                        <a:spcBef>
                          <a:spcPts val="201"/>
                        </a:spcBef>
                      </a:pPr>
                      <a:r>
                        <a:rPr lang="en-US" sz="1000" b="0" u="none" strike="noStrike">
                          <a:solidFill>
                            <a:srgbClr val="F87171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●</a:t>
                      </a:r>
                      <a:r>
                        <a:rPr lang="en-US" sz="10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 Edge </a:t>
                      </a:r>
                      <a:r>
                        <a:rPr lang="zh-CN" sz="10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门</a:t>
                      </a: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 — </a:t>
                      </a:r>
                      <a:r>
                        <a:rPr lang="en-US" sz="1000" b="1" u="none" strike="noStrike">
                          <a:solidFill>
                            <a:srgbClr val="F87171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FAIL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52280">
                        <a:lnSpc>
                          <a:spcPts val="1400"/>
                        </a:lnSpc>
                        <a:spcBef>
                          <a:spcPts val="99"/>
                        </a:spcBef>
                      </a:pPr>
                      <a:r>
                        <a:rPr lang="en-US" sz="1000" b="0" u="none" strike="noStrike">
                          <a:solidFill>
                            <a:srgbClr val="34D399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●</a:t>
                      </a:r>
                      <a:r>
                        <a:rPr lang="en-US" sz="10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 Risk </a:t>
                      </a:r>
                      <a:r>
                        <a:rPr lang="zh-CN" sz="10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门</a:t>
                      </a: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 — </a:t>
                      </a:r>
                      <a:r>
                        <a:rPr lang="en-US" sz="1000" b="1" u="none" strike="noStrike">
                          <a:solidFill>
                            <a:srgbClr val="34D399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PASS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87171"/>
                      </a:solidFill>
                      <a:prstDash val="solid"/>
                    </a:lnL>
                    <a:lnR w="12240">
                      <a:solidFill>
                        <a:srgbClr val="F87171"/>
                      </a:solidFill>
                      <a:prstDash val="solid"/>
                    </a:lnR>
                    <a:lnT w="12240">
                      <a:solidFill>
                        <a:srgbClr val="F87171"/>
                      </a:solidFill>
                      <a:prstDash val="solid"/>
                    </a:lnT>
                    <a:lnB w="12240">
                      <a:solidFill>
                        <a:srgbClr val="F87171"/>
                      </a:solidFill>
                      <a:prstDash val="solid"/>
                    </a:lnB>
                    <a:solidFill>
                      <a:srgbClr val="131A2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9" name="card-5"/>
          <p:cNvGraphicFramePr/>
          <p:nvPr/>
        </p:nvGraphicFramePr>
        <p:xfrm>
          <a:off x="9448920" y="1371600"/>
          <a:ext cx="1929960" cy="1218960"/>
        </p:xfrm>
        <a:graphic>
          <a:graphicData uri="http://schemas.openxmlformats.org/drawingml/2006/table">
            <a:tbl>
              <a:tblPr/>
              <a:tblGrid>
                <a:gridCol w="1930320"/>
              </a:tblGrid>
              <a:tr h="1218960">
                <a:tc>
                  <a:txBody>
                    <a:bodyPr anchor="t">
                      <a:noAutofit/>
                    </a:bodyPr>
                    <a:p>
                      <a:pPr marL="152280">
                        <a:lnSpc>
                          <a:spcPts val="2401"/>
                        </a:lnSpc>
                        <a:spcBef>
                          <a:spcPts val="700"/>
                        </a:spcBef>
                      </a:pPr>
                      <a:r>
                        <a:rPr lang="en-US" sz="200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05</a:t>
                      </a:r>
                      <a:endParaRPr lang="en-US" sz="2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52280">
                        <a:lnSpc>
                          <a:spcPts val="1800"/>
                        </a:lnSpc>
                        <a:spcBef>
                          <a:spcPts val="201"/>
                        </a:spcBef>
                      </a:pPr>
                      <a:r>
                        <a:rPr lang="zh-CN" sz="13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决策卡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52280">
                        <a:lnSpc>
                          <a:spcPts val="1400"/>
                        </a:lnSpc>
                        <a:spcBef>
                          <a:spcPts val="201"/>
                        </a:spcBef>
                      </a:pP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build_decision_card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marL="152280">
                        <a:lnSpc>
                          <a:spcPts val="1599"/>
                        </a:lnSpc>
                        <a:spcBef>
                          <a:spcPts val="400"/>
                        </a:spcBef>
                      </a:pPr>
                      <a:r>
                        <a:rPr lang="en-US" sz="1000" b="1" u="none" strike="noStrike">
                          <a:solidFill>
                            <a:srgbClr val="22D3EE"/>
                          </a:solidFill>
                          <a:effectLst/>
                          <a:highlight>
                            <a:srgbClr val="22D3EE"/>
                          </a:highlight>
                          <a:uFillTx/>
                          <a:latin typeface="Consolas"/>
                          <a:ea typeface="Consolas"/>
                        </a:rPr>
                        <a:t>NO_TRADE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22D3EE"/>
                      </a:solidFill>
                      <a:prstDash val="solid"/>
                    </a:lnL>
                    <a:lnR w="12240">
                      <a:solidFill>
                        <a:srgbClr val="22D3EE"/>
                      </a:solidFill>
                      <a:prstDash val="solid"/>
                    </a:lnR>
                    <a:lnT w="12240">
                      <a:solidFill>
                        <a:srgbClr val="22D3EE"/>
                      </a:solidFill>
                      <a:prstDash val="solid"/>
                    </a:lnT>
                    <a:lnB w="12240">
                      <a:solidFill>
                        <a:srgbClr val="22D3EE"/>
                      </a:solidFill>
                      <a:prstDash val="solid"/>
                    </a:lnB>
                    <a:solidFill>
                      <a:srgbClr val="131A24"/>
                    </a:solidFill>
                  </a:tcPr>
                </a:tc>
              </a:tr>
            </a:tbl>
          </a:graphicData>
        </a:graphic>
      </p:graphicFrame>
      <p:sp>
        <p:nvSpPr>
          <p:cNvPr id="130" name="flow-link"/>
          <p:cNvSpPr/>
          <p:nvPr/>
        </p:nvSpPr>
        <p:spPr>
          <a:xfrm>
            <a:off x="10414080" y="2590920"/>
            <a:ext cx="12240" cy="355320"/>
          </a:xfrm>
          <a:custGeom>
            <a:avLst/>
            <a:gdLst>
              <a:gd name="textAreaLeft" fmla="*/ 0 w 12240"/>
              <a:gd name="textAreaRight" fmla="*/ 12600 w 12240"/>
              <a:gd name="textAreaTop" fmla="*/ 0 h 355320"/>
              <a:gd name="textAreaBottom" fmla="*/ 355680 h 355320"/>
            </a:gdLst>
            <a:ahLst/>
            <a:cxnLst/>
            <a:rect l="textAreaLeft" t="textAreaTop" r="textAreaRight" b="textAreaBottom"/>
            <a:pathLst>
              <a:path w="1" h="28">
                <a:moveTo>
                  <a:pt x="1" y="0"/>
                </a:moveTo>
                <a:lnTo>
                  <a:pt x="1" y="28"/>
                </a:lnTo>
              </a:path>
            </a:pathLst>
          </a:custGeom>
          <a:noFill/>
          <a:ln cap="rnd" w="12700">
            <a:solidFill>
              <a:srgbClr val="1F2937"/>
            </a:solidFill>
            <a:round/>
            <a:tailEnd len="med" type="stealth" w="med"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audit-panel"/>
          <p:cNvSpPr/>
          <p:nvPr/>
        </p:nvSpPr>
        <p:spPr>
          <a:xfrm>
            <a:off x="812880" y="2946240"/>
            <a:ext cx="10566000" cy="106632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2" name="audit-table"/>
          <p:cNvGraphicFramePr/>
          <p:nvPr/>
        </p:nvGraphicFramePr>
        <p:xfrm>
          <a:off x="965160" y="3048120"/>
          <a:ext cx="10261080" cy="863280"/>
        </p:xfrm>
        <a:graphic>
          <a:graphicData uri="http://schemas.openxmlformats.org/drawingml/2006/table">
            <a:tbl>
              <a:tblPr/>
              <a:tblGrid>
                <a:gridCol w="1467360"/>
                <a:gridCol w="1467360"/>
                <a:gridCol w="1467360"/>
                <a:gridCol w="1467360"/>
                <a:gridCol w="1467360"/>
                <a:gridCol w="1467360"/>
                <a:gridCol w="1456920"/>
              </a:tblGrid>
              <a:tr h="276120">
                <a:tc gridSpan="7"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900" b="1" u="none" spc="300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审计链 </a:t>
                      </a:r>
                      <a:r>
                        <a:rPr lang="en-US" sz="900" b="1" u="none" spc="300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· AUDIT TRAIL — JSONL + SHA-256 · 7 </a:t>
                      </a:r>
                      <a:r>
                        <a:rPr lang="zh-CN" sz="900" b="1" u="none" spc="300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条记录，每条链上前一条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293400">
                <a:tc>
                  <a:txBody>
                    <a:bodyPr anchor="ctr">
                      <a:noAutofit/>
                    </a:bodyPr>
                    <a:p>
                      <a:pPr marL="5076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34D399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●</a:t>
                      </a:r>
                      <a:r>
                        <a:rPr lang="en-US" sz="10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 scenario_parsed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5076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34D399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●</a:t>
                      </a:r>
                      <a:r>
                        <a:rPr lang="en-US" sz="10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 data_loaded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5076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34D399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●</a:t>
                      </a:r>
                      <a:r>
                        <a:rPr lang="en-US" sz="10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 engine_computed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5076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F87171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●</a:t>
                      </a:r>
                      <a:r>
                        <a:rPr lang="en-US" sz="10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 edge_gate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5076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34D399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●</a:t>
                      </a:r>
                      <a:r>
                        <a:rPr lang="en-US" sz="10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 risk_gate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5076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34D399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●</a:t>
                      </a:r>
                      <a:r>
                        <a:rPr lang="en-US" sz="10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 action_gate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marL="50760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●</a:t>
                      </a:r>
                      <a:r>
                        <a:rPr lang="en-US" sz="10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 decision_card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2934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a3a5f68b…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afc8b13e…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11e7e30b…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9bd1fb80…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83f636a3…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1b30c27c…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11f311a3…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3" name="legend-status"/>
          <p:cNvSpPr/>
          <p:nvPr/>
        </p:nvSpPr>
        <p:spPr>
          <a:xfrm>
            <a:off x="812880" y="4368960"/>
            <a:ext cx="105660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000" b="0" u="none" strike="noStrike">
                <a:solidFill>
                  <a:srgbClr val="34D399"/>
                </a:solidFill>
                <a:effectLst/>
                <a:uFillTx/>
                <a:latin typeface="Arial"/>
                <a:ea typeface="Microsoft YaHei"/>
              </a:rPr>
              <a:t>●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 已通过　　</a:t>
            </a:r>
            <a:r>
              <a:rPr lang="en-US" sz="1000" b="0" u="none" strike="noStrike">
                <a:solidFill>
                  <a:srgbClr val="F87171"/>
                </a:solidFill>
                <a:effectLst/>
                <a:uFillTx/>
                <a:latin typeface="Arial"/>
                <a:ea typeface="Microsoft YaHei"/>
              </a:rPr>
              <a:t>●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 被阻断　　</a:t>
            </a:r>
            <a:r>
              <a:rPr lang="en-US" sz="1000" b="0" u="none" strike="noStrike">
                <a:solidFill>
                  <a:srgbClr val="22D3EE"/>
                </a:solidFill>
                <a:effectLst/>
                <a:uFillTx/>
                <a:latin typeface="Arial"/>
                <a:ea typeface="Microsoft YaHei"/>
              </a:rPr>
              <a:t>●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 当前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/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终点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quote-bg"/>
          <p:cNvSpPr/>
          <p:nvPr/>
        </p:nvSpPr>
        <p:spPr>
          <a:xfrm>
            <a:off x="812880" y="4876920"/>
            <a:ext cx="10566000" cy="507600"/>
          </a:xfrm>
          <a:prstGeom prst="roundRect">
            <a:avLst>
              <a:gd name="adj" fmla="val 5000"/>
            </a:avLst>
          </a:prstGeom>
          <a:solidFill>
            <a:srgbClr val="22D3EE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quote-tick"/>
          <p:cNvSpPr/>
          <p:nvPr/>
        </p:nvSpPr>
        <p:spPr>
          <a:xfrm>
            <a:off x="812880" y="4876920"/>
            <a:ext cx="37800" cy="50760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quote-gt"/>
          <p:cNvSpPr/>
          <p:nvPr/>
        </p:nvSpPr>
        <p:spPr>
          <a:xfrm>
            <a:off x="965160" y="4876920"/>
            <a:ext cx="20268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quote-text"/>
          <p:cNvSpPr/>
          <p:nvPr/>
        </p:nvSpPr>
        <p:spPr>
          <a:xfrm>
            <a:off x="1219320" y="4876920"/>
            <a:ext cx="990576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NO_TRADE </a:t>
            </a:r>
            <a:r>
              <a:rPr lang="zh-CN" sz="14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是成功结果——不会为了展示下单而调低门槛。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concl-bg"/>
          <p:cNvSpPr/>
          <p:nvPr/>
        </p:nvSpPr>
        <p:spPr>
          <a:xfrm>
            <a:off x="812880" y="5537160"/>
            <a:ext cx="10566000" cy="60912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concl-cap"/>
          <p:cNvSpPr/>
          <p:nvPr/>
        </p:nvSpPr>
        <p:spPr>
          <a:xfrm>
            <a:off x="990720" y="5537160"/>
            <a:ext cx="50760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9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结论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concl-body"/>
          <p:cNvSpPr/>
          <p:nvPr/>
        </p:nvSpPr>
        <p:spPr>
          <a:xfrm>
            <a:off x="1650960" y="5537160"/>
            <a:ext cx="957528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50000"/>
              </a:lnSpc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Edge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未过即停，记录不断：决策卡与 </a:t>
            </a:r>
            <a:r>
              <a:rPr lang="en-US" sz="11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7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条审计记录全量落盘。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footer-hairline"/>
          <p:cNvSpPr/>
          <p:nvPr/>
        </p:nvSpPr>
        <p:spPr>
          <a:xfrm>
            <a:off x="812880" y="650232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1"/>
                </a:moveTo>
                <a:lnTo>
                  <a:pt x="832" y="1"/>
                </a:lnTo>
              </a:path>
            </a:pathLst>
          </a:custGeom>
          <a:noFill/>
          <a:ln cap="rnd"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footer-left"/>
          <p:cNvSpPr/>
          <p:nvPr/>
        </p:nvSpPr>
        <p:spPr>
          <a:xfrm>
            <a:off x="812880" y="6578640"/>
            <a:ext cx="76197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来源</a:t>
            </a: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: facts.md §1 · §3 · src/decision_pipeline.py · </a:t>
            </a: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决策卡 </a:t>
            </a: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2026-08-12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footer-right"/>
          <p:cNvSpPr/>
          <p:nvPr/>
        </p:nvSpPr>
        <p:spPr>
          <a:xfrm>
            <a:off x="10820520" y="6578640"/>
            <a:ext cx="5583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20000"/>
              </a:lnSpc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06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145" dur="indefinite" restart="never" nodeType="tmRoot">
          <p:childTnLst>
            <p:seq>
              <p:cTn id="146" dur="indefinite" nodeType="mainSeq"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6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fill="hold" nodeType="click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6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6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fill="hold" nodeType="click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79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500"/>
                            </p:stCondLst>
                            <p:childTnLst>
                              <p:par>
                                <p:cTn id="181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8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1000"/>
                            </p:stCondLst>
                            <p:childTnLst>
                              <p:par>
                                <p:cTn id="185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8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1500"/>
                            </p:stCondLst>
                            <p:childTnLst>
                              <p:par>
                                <p:cTn id="189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19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header-tick"/>
          <p:cNvSpPr/>
          <p:nvPr/>
        </p:nvSpPr>
        <p:spPr>
          <a:xfrm>
            <a:off x="812880" y="355680"/>
            <a:ext cx="37800" cy="27900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eyebrow"/>
          <p:cNvSpPr/>
          <p:nvPr/>
        </p:nvSpPr>
        <p:spPr>
          <a:xfrm>
            <a:off x="990720" y="330120"/>
            <a:ext cx="50796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9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07 · HERO A DEMO — HONEST NO_TRADE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itle"/>
          <p:cNvSpPr/>
          <p:nvPr/>
        </p:nvSpPr>
        <p:spPr>
          <a:xfrm>
            <a:off x="990720" y="558720"/>
            <a:ext cx="939780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NO_TRADE </a:t>
            </a:r>
            <a:r>
              <a:rPr lang="zh-CN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是成功结果：证据不足，系统敢说不交易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ubtitle"/>
          <p:cNvSpPr/>
          <p:nvPr/>
        </p:nvSpPr>
        <p:spPr>
          <a:xfrm>
            <a:off x="990720" y="914400"/>
            <a:ext cx="93978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Hero A </a:t>
            </a: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腾讯业绩跨式全程回放 —— 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Edge </a:t>
            </a: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门 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3 </a:t>
            </a: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项检查全 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FAIL</a:t>
            </a: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，诚实输出 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NO_TRADE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header-hairline"/>
          <p:cNvSpPr/>
          <p:nvPr/>
        </p:nvSpPr>
        <p:spPr>
          <a:xfrm>
            <a:off x="812880" y="11685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1"/>
                </a:moveTo>
                <a:lnTo>
                  <a:pt x="832" y="1"/>
                </a:lnTo>
              </a:path>
            </a:pathLst>
          </a:custGeom>
          <a:noFill/>
          <a:ln cap="rnd"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tatusbar"/>
          <p:cNvSpPr/>
          <p:nvPr/>
        </p:nvSpPr>
        <p:spPr>
          <a:xfrm>
            <a:off x="8585280" y="279360"/>
            <a:ext cx="2793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20000"/>
              </a:lnSpc>
            </a:pPr>
            <a:r>
              <a:rPr lang="en-US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GOAI · TERMINAL — </a:t>
            </a:r>
            <a:r>
              <a:rPr lang="zh-CN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初赛评审  </a:t>
            </a:r>
            <a:r>
              <a:rPr lang="en-US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07/16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rminal-window"/>
          <p:cNvSpPr/>
          <p:nvPr/>
        </p:nvSpPr>
        <p:spPr>
          <a:xfrm>
            <a:off x="812880" y="1320840"/>
            <a:ext cx="5689080" cy="340308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rm-titlebar"/>
          <p:cNvSpPr/>
          <p:nvPr/>
        </p:nvSpPr>
        <p:spPr>
          <a:xfrm>
            <a:off x="990720" y="1333440"/>
            <a:ext cx="5333760" cy="279000"/>
          </a:xfrm>
          <a:prstGeom prst="rect">
            <a:avLst/>
          </a:prstGeom>
          <a:solidFill>
            <a:srgbClr val="101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rm-dot-1"/>
          <p:cNvSpPr/>
          <p:nvPr/>
        </p:nvSpPr>
        <p:spPr>
          <a:xfrm>
            <a:off x="1092240" y="1434960"/>
            <a:ext cx="75960" cy="75960"/>
          </a:xfrm>
          <a:prstGeom prst="rect">
            <a:avLst/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rm-dot-2"/>
          <p:cNvSpPr/>
          <p:nvPr/>
        </p:nvSpPr>
        <p:spPr>
          <a:xfrm>
            <a:off x="1244520" y="1434960"/>
            <a:ext cx="75960" cy="75960"/>
          </a:xfrm>
          <a:prstGeom prst="rect">
            <a:avLst/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rm-dot-3"/>
          <p:cNvSpPr/>
          <p:nvPr/>
        </p:nvSpPr>
        <p:spPr>
          <a:xfrm>
            <a:off x="1397160" y="1434960"/>
            <a:ext cx="75960" cy="75960"/>
          </a:xfrm>
          <a:prstGeom prst="rect">
            <a:avLst/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1320" rIns="90000" bIns="3132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rm-name"/>
          <p:cNvSpPr/>
          <p:nvPr/>
        </p:nvSpPr>
        <p:spPr>
          <a:xfrm>
            <a:off x="812880" y="1333440"/>
            <a:ext cx="568908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goai-decision · HK.00700 · replay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tep1"/>
          <p:cNvSpPr/>
          <p:nvPr/>
        </p:nvSpPr>
        <p:spPr>
          <a:xfrm>
            <a:off x="965160" y="1676520"/>
            <a:ext cx="5384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1599"/>
              </a:lnSpc>
            </a:pPr>
            <a:r>
              <a:rPr lang="en-US" sz="1100" b="0" u="none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$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 goai run hero --underlying </a:t>
            </a:r>
            <a:r>
              <a:rPr lang="en-US" sz="1100" b="0" u="none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HK.00700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 --mode </a:t>
            </a:r>
            <a:r>
              <a:rPr lang="en-US" sz="1100" b="0" u="none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replay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ts val="1599"/>
              </a:lnSpc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[scenario]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 2026-08-12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业绩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·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方向 </a:t>
            </a:r>
            <a:r>
              <a:rPr lang="en-US" sz="1100" b="0" u="none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uncertain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 ·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预算 </a:t>
            </a:r>
            <a:r>
              <a:rPr lang="en-US" sz="1100" b="0" u="none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5%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ts val="1599"/>
              </a:lnSpc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[data]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 </a:t>
            </a:r>
            <a:r>
              <a:rPr lang="en-US" sz="1100" b="0" u="none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FROZEN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 2026-08-08T11:56:30+08:00 · expected_move 3.916%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tep2"/>
          <p:cNvSpPr/>
          <p:nvPr/>
        </p:nvSpPr>
        <p:spPr>
          <a:xfrm>
            <a:off x="965160" y="2336760"/>
            <a:ext cx="5384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1599"/>
              </a:lnSpc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[engine]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 BS/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二叉树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+ IV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二分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+ bump-and-reprice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ts val="1599"/>
              </a:lnSpc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[cost]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 </a:t>
            </a:r>
            <a:r>
              <a:rPr lang="en-US" sz="1100" b="0" u="none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8/14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到期 </a:t>
            </a:r>
            <a:r>
              <a:rPr lang="en-US" sz="1100" b="0" u="none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480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 ATM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跨式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× </a:t>
            </a:r>
            <a:r>
              <a:rPr lang="en-US" sz="1100" b="0" u="none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2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张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· ask </a:t>
            </a:r>
            <a:r>
              <a:rPr lang="en-US" sz="1100" b="0" u="none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2207.0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/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张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ts val="1599"/>
              </a:lnSpc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[be]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盈亏平衡 </a:t>
            </a:r>
            <a:r>
              <a:rPr lang="en-US" sz="1100" b="0" u="none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458.905 / 501.095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 ·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最大亏损 </a:t>
            </a:r>
            <a:r>
              <a:rPr lang="en-US" sz="1100" b="0" u="none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4414.0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 HKD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tep3"/>
          <p:cNvSpPr/>
          <p:nvPr/>
        </p:nvSpPr>
        <p:spPr>
          <a:xfrm>
            <a:off x="965160" y="2997360"/>
            <a:ext cx="5384520" cy="101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[edge] chk1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预期波动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3.92% 4.41% → FAIL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[edge] chk2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回测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d+2 ROI -7.8% ·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胜率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36.4% → FAIL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[edge] chk3 IV crush -20%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最差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-711 HKD → FAIL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[edge] verdict = LOW_EDGE → NO_TRADE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ts val="1599"/>
              </a:lnSpc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[risk] PASS ·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最大亏损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4414.0 ≤ 5000 HKD · 3 WARN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tep4"/>
          <p:cNvSpPr/>
          <p:nvPr/>
        </p:nvSpPr>
        <p:spPr>
          <a:xfrm>
            <a:off x="965160" y="4064040"/>
            <a:ext cx="5384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1599"/>
              </a:lnSpc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[action]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 action = </a:t>
            </a:r>
            <a:r>
              <a:rPr lang="en-US" sz="1100" b="0" u="none" strike="noStrike">
                <a:solidFill>
                  <a:srgbClr val="F87171"/>
                </a:solidFill>
                <a:effectLst/>
                <a:uFillTx/>
                <a:latin typeface="Consolas"/>
                <a:ea typeface="Microsoft YaHei"/>
              </a:rPr>
              <a:t>NO_TRADE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 ·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无需进入下单步骤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ts val="1599"/>
              </a:lnSpc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[next]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可调整期限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/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行权价后重新评估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ts val="1599"/>
              </a:lnSpc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[audit]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 </a:t>
            </a:r>
            <a:r>
              <a:rPr lang="en-US" sz="1100" b="0" u="none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7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条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SHA-256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哈希链完整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· snapshot cf567c5985…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concept-tag"/>
          <p:cNvSpPr/>
          <p:nvPr/>
        </p:nvSpPr>
        <p:spPr>
          <a:xfrm>
            <a:off x="5562720" y="4470480"/>
            <a:ext cx="786960" cy="202680"/>
          </a:xfrm>
          <a:prstGeom prst="roundRect">
            <a:avLst>
              <a:gd name="adj" fmla="val 50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concept-tag-text"/>
          <p:cNvSpPr/>
          <p:nvPr/>
        </p:nvSpPr>
        <p:spPr>
          <a:xfrm>
            <a:off x="5562720" y="4470480"/>
            <a:ext cx="7869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概念示意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2" name="pnl-image"/>
          <p:cNvPicPr/>
          <p:nvPr/>
        </p:nvPicPr>
        <p:blipFill>
          <a:blip r:embed="rId1"/>
          <a:srcRect l="0" t="-81" r="0" b="-81"/>
          <a:stretch/>
        </p:blipFill>
        <p:spPr>
          <a:xfrm>
            <a:off x="6654960" y="1320840"/>
            <a:ext cx="4723920" cy="223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pnl-caption"/>
          <p:cNvSpPr/>
          <p:nvPr/>
        </p:nvSpPr>
        <p:spPr>
          <a:xfrm>
            <a:off x="6654960" y="3581280"/>
            <a:ext cx="47239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来源</a:t>
            </a: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: data/decision_card_2026-08-12.json + hero_inputs.json · </a:t>
            </a: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理论合成（模拟）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verdict-box"/>
          <p:cNvSpPr/>
          <p:nvPr/>
        </p:nvSpPr>
        <p:spPr>
          <a:xfrm>
            <a:off x="6654960" y="3784680"/>
            <a:ext cx="4723920" cy="888480"/>
          </a:xfrm>
          <a:prstGeom prst="roundRect">
            <a:avLst>
              <a:gd name="adj" fmla="val 5000"/>
            </a:avLst>
          </a:prstGeom>
          <a:solidFill>
            <a:srgbClr val="F87171">
              <a:alpha val="12000"/>
            </a:srgbClr>
          </a:solidFill>
          <a:ln w="12700">
            <a:solidFill>
              <a:srgbClr val="F8717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verdict-tick"/>
          <p:cNvSpPr/>
          <p:nvPr/>
        </p:nvSpPr>
        <p:spPr>
          <a:xfrm>
            <a:off x="6807240" y="3886200"/>
            <a:ext cx="37800" cy="685440"/>
          </a:xfrm>
          <a:prstGeom prst="rect">
            <a:avLst/>
          </a:prstGeom>
          <a:solidFill>
            <a:srgbClr val="F8717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verdict-text"/>
          <p:cNvSpPr/>
          <p:nvPr/>
        </p:nvSpPr>
        <p:spPr>
          <a:xfrm>
            <a:off x="6959520" y="3835440"/>
            <a:ext cx="4266720" cy="78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300" b="1" u="none" strike="noStrike">
                <a:solidFill>
                  <a:srgbClr val="F87171"/>
                </a:solidFill>
                <a:effectLst/>
                <a:uFillTx/>
                <a:latin typeface="Consolas"/>
                <a:ea typeface="Consolas"/>
              </a:rPr>
              <a:t>&gt;&gt;&gt; verdict = NO_TRADE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Edge </a:t>
            </a:r>
            <a:r>
              <a:rPr lang="en-US" sz="1100" b="0" u="none" strike="noStrike">
                <a:solidFill>
                  <a:srgbClr val="22D3EE"/>
                </a:solidFill>
                <a:effectLst/>
                <a:uFillTx/>
                <a:latin typeface="Arial"/>
                <a:ea typeface="Microsoft YaHei"/>
              </a:rPr>
              <a:t>3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项检查全 </a:t>
            </a:r>
            <a:r>
              <a:rPr lang="en-US" sz="1100" b="0" u="none" strike="noStrike">
                <a:solidFill>
                  <a:srgbClr val="F87171"/>
                </a:solidFill>
                <a:effectLst/>
                <a:uFillTx/>
                <a:latin typeface="Arial"/>
                <a:ea typeface="Microsoft YaHei"/>
              </a:rPr>
              <a:t>FAIL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· Risk </a:t>
            </a:r>
            <a:r>
              <a:rPr lang="en-US" sz="1100" b="0" u="none" strike="noStrike">
                <a:solidFill>
                  <a:srgbClr val="34D399"/>
                </a:solidFill>
                <a:effectLst/>
                <a:uFillTx/>
                <a:latin typeface="Arial"/>
                <a:ea typeface="Microsoft YaHei"/>
              </a:rPr>
              <a:t>PASS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+ </a:t>
            </a:r>
            <a:r>
              <a:rPr lang="en-US" sz="1100" b="0" u="none" strike="noStrike">
                <a:solidFill>
                  <a:srgbClr val="F59E0B"/>
                </a:solidFill>
                <a:effectLst/>
                <a:uFillTx/>
                <a:latin typeface="Arial"/>
                <a:ea typeface="Microsoft YaHei"/>
              </a:rPr>
              <a:t>3 WARN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  <a:spcBef>
                <a:spcPts val="201"/>
              </a:spcBef>
            </a:pPr>
            <a:r>
              <a:rPr lang="zh-CN" sz="11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不下单 </a:t>
            </a: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11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不下调门槛 </a:t>
            </a: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11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审计链 </a:t>
            </a: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7 </a:t>
            </a:r>
            <a:r>
              <a:rPr lang="zh-CN" sz="11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条完整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quote-bg"/>
          <p:cNvSpPr/>
          <p:nvPr/>
        </p:nvSpPr>
        <p:spPr>
          <a:xfrm>
            <a:off x="812880" y="4876920"/>
            <a:ext cx="10566000" cy="507600"/>
          </a:xfrm>
          <a:prstGeom prst="roundRect">
            <a:avLst>
              <a:gd name="adj" fmla="val 5000"/>
            </a:avLst>
          </a:prstGeom>
          <a:solidFill>
            <a:srgbClr val="22D3EE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quote-rail"/>
          <p:cNvSpPr/>
          <p:nvPr/>
        </p:nvSpPr>
        <p:spPr>
          <a:xfrm>
            <a:off x="812880" y="4876920"/>
            <a:ext cx="37800" cy="50760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quote-mark"/>
          <p:cNvSpPr/>
          <p:nvPr/>
        </p:nvSpPr>
        <p:spPr>
          <a:xfrm>
            <a:off x="965160" y="4876920"/>
            <a:ext cx="20268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quote-text"/>
          <p:cNvSpPr/>
          <p:nvPr/>
        </p:nvSpPr>
        <p:spPr>
          <a:xfrm>
            <a:off x="1219320" y="4876920"/>
            <a:ext cx="1000728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14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系统敢说「不交易」——不会为了展示下单而调低门槛。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um-bg"/>
          <p:cNvSpPr/>
          <p:nvPr/>
        </p:nvSpPr>
        <p:spPr>
          <a:xfrm>
            <a:off x="812880" y="5537160"/>
            <a:ext cx="10566000" cy="60912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sum-cap"/>
          <p:cNvSpPr/>
          <p:nvPr/>
        </p:nvSpPr>
        <p:spPr>
          <a:xfrm>
            <a:off x="990720" y="5537160"/>
            <a:ext cx="50760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9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结论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um-text"/>
          <p:cNvSpPr/>
          <p:nvPr/>
        </p:nvSpPr>
        <p:spPr>
          <a:xfrm>
            <a:off x="1650960" y="5537160"/>
            <a:ext cx="957528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50000"/>
              </a:lnSpc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NO_TRADE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是成功结果：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Edge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门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3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项全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FAIL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，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Risk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门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PASS + 3 WARN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，审计链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7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条完整。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footer-hairline"/>
          <p:cNvSpPr/>
          <p:nvPr/>
        </p:nvSpPr>
        <p:spPr>
          <a:xfrm>
            <a:off x="812880" y="650232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1"/>
                </a:moveTo>
                <a:lnTo>
                  <a:pt x="832" y="1"/>
                </a:lnTo>
              </a:path>
            </a:pathLst>
          </a:custGeom>
          <a:noFill/>
          <a:ln cap="rnd"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footer-source"/>
          <p:cNvSpPr/>
          <p:nvPr/>
        </p:nvSpPr>
        <p:spPr>
          <a:xfrm>
            <a:off x="812880" y="6578640"/>
            <a:ext cx="78735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来源</a:t>
            </a: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: data/decision_card_2026-08-12.json + hero_inputs.json · </a:t>
            </a: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理论合成（模拟）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footer-page"/>
          <p:cNvSpPr/>
          <p:nvPr/>
        </p:nvSpPr>
        <p:spPr>
          <a:xfrm>
            <a:off x="10744200" y="6578640"/>
            <a:ext cx="6346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20000"/>
              </a:lnSpc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07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192" dur="indefinite" restart="never" nodeType="tmRoot">
          <p:childTnLst>
            <p:seq>
              <p:cTn id="193" dur="indefinite" nodeType="mainSeq">
                <p:childTnLst>
                  <p:par>
                    <p:cTn id="194" fill="hold">
                      <p:stCondLst>
                        <p:cond delay="0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98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0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0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500"/>
                            </p:stCondLst>
                            <p:childTnLst>
                              <p:par>
                                <p:cTn id="206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0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13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500"/>
                            </p:stCondLst>
                            <p:childTnLst>
                              <p:par>
                                <p:cTn id="215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1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1000"/>
                            </p:stCondLst>
                            <p:childTnLst>
                              <p:par>
                                <p:cTn id="219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2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23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22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3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30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1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2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3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36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39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frame-main"/>
          <p:cNvSpPr/>
          <p:nvPr/>
        </p:nvSpPr>
        <p:spPr>
          <a:xfrm>
            <a:off x="812880" y="1320840"/>
            <a:ext cx="10540800" cy="3403080"/>
          </a:xfrm>
          <a:custGeom>
            <a:avLst/>
            <a:gdLst>
              <a:gd name="textAreaLeft" fmla="*/ 0 w 10540800"/>
              <a:gd name="textAreaRight" fmla="*/ 10541160 w 10540800"/>
              <a:gd name="textAreaTop" fmla="*/ 0 h 3403080"/>
              <a:gd name="textAreaBottom" fmla="*/ 3403440 h 3403080"/>
            </a:gdLst>
            <a:ahLst/>
            <a:cxnLst/>
            <a:rect l="textAreaLeft" t="textAreaTop" r="textAreaRight" b="textAreaBottom"/>
            <a:pathLst>
              <a:path w="830" h="268">
                <a:moveTo>
                  <a:pt x="288" y="0"/>
                </a:moveTo>
                <a:lnTo>
                  <a:pt x="542" y="0"/>
                </a:lnTo>
                <a:quadBezTo>
                  <a:pt x="548" y="0"/>
                  <a:pt x="548" y="6"/>
                </a:quadBezTo>
                <a:lnTo>
                  <a:pt x="548" y="120"/>
                </a:lnTo>
                <a:quadBezTo>
                  <a:pt x="548" y="126"/>
                  <a:pt x="542" y="126"/>
                </a:quadBezTo>
                <a:lnTo>
                  <a:pt x="288" y="126"/>
                </a:lnTo>
                <a:quadBezTo>
                  <a:pt x="282" y="126"/>
                  <a:pt x="282" y="120"/>
                </a:quadBezTo>
                <a:lnTo>
                  <a:pt x="282" y="6"/>
                </a:lnTo>
                <a:quadBezTo>
                  <a:pt x="282" y="0"/>
                  <a:pt x="288" y="0"/>
                </a:quadBezTo>
                <a:close/>
              </a:path>
              <a:path w="830" h="268">
                <a:moveTo>
                  <a:pt x="570" y="0"/>
                </a:moveTo>
                <a:lnTo>
                  <a:pt x="824" y="0"/>
                </a:lnTo>
                <a:quadBezTo>
                  <a:pt x="830" y="0"/>
                  <a:pt x="830" y="6"/>
                </a:quadBezTo>
                <a:lnTo>
                  <a:pt x="830" y="120"/>
                </a:lnTo>
                <a:quadBezTo>
                  <a:pt x="830" y="126"/>
                  <a:pt x="824" y="126"/>
                </a:quadBezTo>
                <a:lnTo>
                  <a:pt x="570" y="126"/>
                </a:lnTo>
                <a:quadBezTo>
                  <a:pt x="564" y="126"/>
                  <a:pt x="564" y="120"/>
                </a:quadBezTo>
                <a:lnTo>
                  <a:pt x="564" y="6"/>
                </a:lnTo>
                <a:quadBezTo>
                  <a:pt x="564" y="0"/>
                  <a:pt x="570" y="0"/>
                </a:quadBezTo>
                <a:close/>
              </a:path>
              <a:path w="830" h="268">
                <a:moveTo>
                  <a:pt x="6" y="142"/>
                </a:moveTo>
                <a:lnTo>
                  <a:pt x="260" y="142"/>
                </a:lnTo>
                <a:quadBezTo>
                  <a:pt x="266" y="142"/>
                  <a:pt x="266" y="148"/>
                </a:quadBezTo>
                <a:lnTo>
                  <a:pt x="266" y="262"/>
                </a:lnTo>
                <a:quadBezTo>
                  <a:pt x="266" y="268"/>
                  <a:pt x="260" y="268"/>
                </a:quadBezTo>
                <a:lnTo>
                  <a:pt x="6" y="268"/>
                </a:lnTo>
                <a:quadBezTo>
                  <a:pt x="0" y="268"/>
                  <a:pt x="0" y="262"/>
                </a:quadBezTo>
                <a:lnTo>
                  <a:pt x="0" y="148"/>
                </a:lnTo>
                <a:quadBezTo>
                  <a:pt x="0" y="142"/>
                  <a:pt x="6" y="142"/>
                </a:quadBezTo>
                <a:close/>
              </a:path>
              <a:path w="830" h="268">
                <a:moveTo>
                  <a:pt x="288" y="142"/>
                </a:moveTo>
                <a:lnTo>
                  <a:pt x="542" y="142"/>
                </a:lnTo>
                <a:quadBezTo>
                  <a:pt x="548" y="142"/>
                  <a:pt x="548" y="148"/>
                </a:quadBezTo>
                <a:lnTo>
                  <a:pt x="548" y="262"/>
                </a:lnTo>
                <a:quadBezTo>
                  <a:pt x="548" y="268"/>
                  <a:pt x="542" y="268"/>
                </a:quadBezTo>
                <a:lnTo>
                  <a:pt x="288" y="268"/>
                </a:lnTo>
                <a:quadBezTo>
                  <a:pt x="282" y="268"/>
                  <a:pt x="282" y="262"/>
                </a:quadBezTo>
                <a:lnTo>
                  <a:pt x="282" y="148"/>
                </a:lnTo>
                <a:quadBezTo>
                  <a:pt x="282" y="142"/>
                  <a:pt x="288" y="142"/>
                </a:quadBezTo>
                <a:close/>
              </a:path>
              <a:path w="830" h="268">
                <a:moveTo>
                  <a:pt x="570" y="142"/>
                </a:moveTo>
                <a:lnTo>
                  <a:pt x="824" y="142"/>
                </a:lnTo>
                <a:quadBezTo>
                  <a:pt x="830" y="142"/>
                  <a:pt x="830" y="148"/>
                </a:quadBezTo>
                <a:lnTo>
                  <a:pt x="830" y="262"/>
                </a:lnTo>
                <a:quadBezTo>
                  <a:pt x="830" y="268"/>
                  <a:pt x="824" y="268"/>
                </a:quadBezTo>
                <a:lnTo>
                  <a:pt x="570" y="268"/>
                </a:lnTo>
                <a:quadBezTo>
                  <a:pt x="564" y="268"/>
                  <a:pt x="564" y="262"/>
                </a:quadBezTo>
                <a:lnTo>
                  <a:pt x="564" y="148"/>
                </a:lnTo>
                <a:quadBezTo>
                  <a:pt x="564" y="142"/>
                  <a:pt x="570" y="142"/>
                </a:quadBezTo>
                <a:close/>
              </a:path>
            </a:pathLst>
          </a:cu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frame-focus"/>
          <p:cNvSpPr/>
          <p:nvPr/>
        </p:nvSpPr>
        <p:spPr>
          <a:xfrm>
            <a:off x="812880" y="1320840"/>
            <a:ext cx="3377880" cy="1599840"/>
          </a:xfrm>
          <a:prstGeom prst="roundRect">
            <a:avLst>
              <a:gd name="adj" fmla="val 5000"/>
            </a:avLst>
          </a:prstGeom>
          <a:solidFill>
            <a:srgbClr val="22D3EE">
              <a:alpha val="8000"/>
            </a:srgbClr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card1"/>
          <p:cNvSpPr/>
          <p:nvPr/>
        </p:nvSpPr>
        <p:spPr>
          <a:xfrm>
            <a:off x="965160" y="1473120"/>
            <a:ext cx="3072960" cy="12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9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01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当前结论与用户含义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spcBef>
                <a:spcPts val="201"/>
              </a:spcBef>
            </a:pPr>
            <a:r>
              <a:rPr lang="en-US" sz="18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NO_TRADE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 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成本和证据不支持交易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spcBef>
                <a:spcPts val="201"/>
              </a:spcBef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BLOCK</a:t>
            </a: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  </a:t>
            </a: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数据</a:t>
            </a: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/</a:t>
            </a: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规格</a:t>
            </a: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/</a:t>
            </a: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账户或风险硬门未过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DRAFT_ONLY</a:t>
            </a: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  </a:t>
            </a: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可研究出草稿，不能提交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READY_FOR_CONFIRMATION</a:t>
            </a: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  </a:t>
            </a: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客观门过</a:t>
            </a: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·</a:t>
            </a: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用户确认模拟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card2"/>
          <p:cNvSpPr/>
          <p:nvPr/>
        </p:nvSpPr>
        <p:spPr>
          <a:xfrm>
            <a:off x="4546440" y="1473120"/>
            <a:ext cx="3072960" cy="12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9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02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三条关键依据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① 预期波动 </a:t>
            </a:r>
            <a:r>
              <a:rPr lang="en-US" sz="1100" b="0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3.92%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&lt;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盈亏平衡所需 </a:t>
            </a:r>
            <a:r>
              <a:rPr lang="en-US" sz="1100" b="0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4.41%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② 回测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d+2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平均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ROI </a:t>
            </a:r>
            <a:r>
              <a:rPr lang="en-US" sz="1100" b="0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-7.8%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·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胜率 </a:t>
            </a:r>
            <a:r>
              <a:rPr lang="en-US" sz="1100" b="0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36.4%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③ IV crush </a:t>
            </a:r>
            <a:r>
              <a:rPr lang="en-US" sz="1100" b="0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-20%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最差情景 </a:t>
            </a:r>
            <a:r>
              <a:rPr lang="en-US" sz="1100" b="0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-711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HKD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card3"/>
          <p:cNvSpPr/>
          <p:nvPr/>
        </p:nvSpPr>
        <p:spPr>
          <a:xfrm>
            <a:off x="8128080" y="1473120"/>
            <a:ext cx="3072960" cy="12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03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可成交成本与最大亏损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6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2,207 × 2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 HKD/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张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· ask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口径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1600" b="1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= 4,414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最大亏损 ≤ 预算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5,000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 HKD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预算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=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现金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100,000 × 5%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（风险预算）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card4"/>
          <p:cNvSpPr/>
          <p:nvPr/>
        </p:nvSpPr>
        <p:spPr>
          <a:xfrm>
            <a:off x="965160" y="3276720"/>
            <a:ext cx="3072960" cy="12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04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数据模式与时间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1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REPLAY · FROZEN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2026-08-08T11:56:30+08:00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来源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futuapi/OpenD 127.0.0.1:11111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快照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SHA-256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cf567c59…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 ·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审计链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7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条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card5"/>
          <p:cNvSpPr/>
          <p:nvPr/>
        </p:nvSpPr>
        <p:spPr>
          <a:xfrm>
            <a:off x="4546440" y="3276720"/>
            <a:ext cx="3072960" cy="12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en-US" sz="9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05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什么会改变结论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0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10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业绩日实际波动 </a:t>
            </a:r>
            <a:r>
              <a:rPr lang="en-US" sz="10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&gt; </a:t>
            </a:r>
            <a:r>
              <a:rPr lang="zh-CN" sz="10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盈亏平衡 </a:t>
            </a:r>
            <a:r>
              <a:rPr lang="en-US" sz="10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4.41%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10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10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换 </a:t>
            </a:r>
            <a:r>
              <a:rPr lang="en-US" sz="10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8/28 </a:t>
            </a:r>
            <a:r>
              <a:rPr lang="zh-CN" sz="10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到期或更低成本结构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10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· Live </a:t>
            </a:r>
            <a:r>
              <a:rPr lang="zh-CN" sz="10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行情 </a:t>
            </a:r>
            <a:r>
              <a:rPr lang="en-US" sz="10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+ </a:t>
            </a:r>
            <a:r>
              <a:rPr lang="zh-CN" sz="10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费用</a:t>
            </a:r>
            <a:r>
              <a:rPr lang="en-US" sz="10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/</a:t>
            </a:r>
            <a:r>
              <a:rPr lang="zh-CN" sz="10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滑点政策后成本变化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</a:pPr>
            <a:r>
              <a:rPr lang="en-US" sz="10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10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回测样本更新改变 </a:t>
            </a:r>
            <a:r>
              <a:rPr lang="en-US" sz="10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Edge </a:t>
            </a:r>
            <a:r>
              <a:rPr lang="zh-CN" sz="10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结论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card6"/>
          <p:cNvSpPr/>
          <p:nvPr/>
        </p:nvSpPr>
        <p:spPr>
          <a:xfrm>
            <a:off x="8128080" y="3276720"/>
            <a:ext cx="3072960" cy="12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9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06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唯一可用的下一步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1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NO_TRADE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→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无需进入下单步骤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Edge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门未过：预期波动不足以覆盖成本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</a:pP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可调整期限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/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行权价后重新评估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head-tick"/>
          <p:cNvSpPr/>
          <p:nvPr/>
        </p:nvSpPr>
        <p:spPr>
          <a:xfrm>
            <a:off x="812880" y="355680"/>
            <a:ext cx="37800" cy="27900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head-eyebrow"/>
          <p:cNvSpPr/>
          <p:nvPr/>
        </p:nvSpPr>
        <p:spPr>
          <a:xfrm>
            <a:off x="990720" y="330120"/>
            <a:ext cx="380952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9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08 · DECISION CARD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head-title"/>
          <p:cNvSpPr/>
          <p:nvPr/>
        </p:nvSpPr>
        <p:spPr>
          <a:xfrm>
            <a:off x="990720" y="558720"/>
            <a:ext cx="103881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zh-CN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一张决策卡六件事：本轮 </a:t>
            </a:r>
            <a:r>
              <a:rPr lang="en-US" sz="2600" b="1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NO_TRADE</a:t>
            </a:r>
            <a:r>
              <a:rPr lang="zh-CN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，不为展示降门槛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spcBef>
                <a:spcPts val="201"/>
              </a:spcBef>
            </a:pP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四种结论枚举 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首屏六件事 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逐条溯源；焦点卡 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= </a:t>
            </a: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本轮裁决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head-status"/>
          <p:cNvSpPr/>
          <p:nvPr/>
        </p:nvSpPr>
        <p:spPr>
          <a:xfrm>
            <a:off x="8585280" y="279360"/>
            <a:ext cx="2793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GOAI · TERMINAL — </a:t>
            </a:r>
            <a:r>
              <a:rPr lang="zh-CN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初赛评审   </a:t>
            </a:r>
            <a:r>
              <a:rPr lang="en-US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08/16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head-rule"/>
          <p:cNvSpPr/>
          <p:nvPr/>
        </p:nvSpPr>
        <p:spPr>
          <a:xfrm>
            <a:off x="812880" y="1155600"/>
            <a:ext cx="10566000" cy="2520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25200"/>
              <a:gd name="textAreaBottom" fmla="*/ 25560 h 25200"/>
            </a:gdLst>
            <a:ahLst/>
            <a:cxnLst/>
            <a:rect l="textAreaLeft" t="textAreaTop" r="textAreaRight" b="textAreaBottom"/>
            <a:pathLst>
              <a:path w="1" h="2">
                <a:moveTo>
                  <a:pt x="0" y="1"/>
                </a:moveTo>
                <a:lnTo>
                  <a:pt x="1" y="1"/>
                </a:lnTo>
              </a:path>
            </a:pathLst>
          </a:custGeom>
          <a:noFill/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quote-bar"/>
          <p:cNvSpPr/>
          <p:nvPr/>
        </p:nvSpPr>
        <p:spPr>
          <a:xfrm>
            <a:off x="812880" y="4876920"/>
            <a:ext cx="10566000" cy="507600"/>
          </a:xfrm>
          <a:prstGeom prst="roundRect">
            <a:avLst>
              <a:gd name="adj" fmla="val 5000"/>
            </a:avLst>
          </a:prstGeom>
          <a:solidFill>
            <a:srgbClr val="22D3EE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quote-rail"/>
          <p:cNvSpPr/>
          <p:nvPr/>
        </p:nvSpPr>
        <p:spPr>
          <a:xfrm>
            <a:off x="812880" y="4876920"/>
            <a:ext cx="37800" cy="50760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quote-mark"/>
          <p:cNvSpPr/>
          <p:nvPr/>
        </p:nvSpPr>
        <p:spPr>
          <a:xfrm>
            <a:off x="965160" y="4876920"/>
            <a:ext cx="22824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quote-text"/>
          <p:cNvSpPr/>
          <p:nvPr/>
        </p:nvSpPr>
        <p:spPr>
          <a:xfrm>
            <a:off x="1244520" y="4876920"/>
            <a:ext cx="1000728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NO_TRADE</a:t>
            </a: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4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是成功结果。不会为了展示下单而调低门槛。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um-bar"/>
          <p:cNvSpPr/>
          <p:nvPr/>
        </p:nvSpPr>
        <p:spPr>
          <a:xfrm>
            <a:off x="812880" y="5537160"/>
            <a:ext cx="10566000" cy="60912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um-cap"/>
          <p:cNvSpPr/>
          <p:nvPr/>
        </p:nvSpPr>
        <p:spPr>
          <a:xfrm>
            <a:off x="990720" y="5537160"/>
            <a:ext cx="5583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9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结论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um-text"/>
          <p:cNvSpPr/>
          <p:nvPr/>
        </p:nvSpPr>
        <p:spPr>
          <a:xfrm>
            <a:off x="1650960" y="5537160"/>
            <a:ext cx="965160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50000"/>
              </a:lnSpc>
            </a:pP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金融数字只来自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Futu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、冻结快照或确定性引擎，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LLM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不估算，逐条可溯源。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foot-rule"/>
          <p:cNvSpPr/>
          <p:nvPr/>
        </p:nvSpPr>
        <p:spPr>
          <a:xfrm>
            <a:off x="812880" y="6489720"/>
            <a:ext cx="10566000" cy="2520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25200"/>
              <a:gd name="textAreaBottom" fmla="*/ 25560 h 25200"/>
            </a:gdLst>
            <a:ahLst/>
            <a:cxnLst/>
            <a:rect l="textAreaLeft" t="textAreaTop" r="textAreaRight" b="textAreaBottom"/>
            <a:pathLst>
              <a:path w="1" h="2">
                <a:moveTo>
                  <a:pt x="0" y="1"/>
                </a:moveTo>
                <a:lnTo>
                  <a:pt x="1" y="1"/>
                </a:lnTo>
              </a:path>
            </a:pathLst>
          </a:custGeom>
          <a:noFill/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foot-src"/>
          <p:cNvSpPr/>
          <p:nvPr/>
        </p:nvSpPr>
        <p:spPr>
          <a:xfrm>
            <a:off x="812880" y="6578640"/>
            <a:ext cx="88894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来源</a:t>
            </a: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: data/decision_card_2026-08-12.json · 2026-08-12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foot-page"/>
          <p:cNvSpPr/>
          <p:nvPr/>
        </p:nvSpPr>
        <p:spPr>
          <a:xfrm>
            <a:off x="10490040" y="6578640"/>
            <a:ext cx="8884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08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240" dur="indefinite" restart="never" nodeType="tmRoot">
          <p:childTnLst>
            <p:seq>
              <p:cTn id="241" dur="indefinite" nodeType="mainSeq">
                <p:childTnLst>
                  <p:par>
                    <p:cTn id="242" fill="hold">
                      <p:stCondLst>
                        <p:cond delay="0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46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49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52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55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260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263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266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271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274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277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header-tick"/>
          <p:cNvSpPr/>
          <p:nvPr/>
        </p:nvSpPr>
        <p:spPr>
          <a:xfrm>
            <a:off x="812880" y="355680"/>
            <a:ext cx="37800" cy="27900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header-eyebrow"/>
          <p:cNvSpPr/>
          <p:nvPr/>
        </p:nvSpPr>
        <p:spPr>
          <a:xfrm>
            <a:off x="990720" y="330120"/>
            <a:ext cx="5079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9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09 · DATA LAYER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header-title"/>
          <p:cNvSpPr/>
          <p:nvPr/>
        </p:nvSpPr>
        <p:spPr>
          <a:xfrm>
            <a:off x="990720" y="558720"/>
            <a:ext cx="88894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zh-CN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只读边界、</a:t>
            </a:r>
            <a:r>
              <a:rPr lang="en-US" sz="2600" b="1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20s</a:t>
            </a:r>
            <a:r>
              <a:rPr lang="en-US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worker</a:t>
            </a:r>
            <a:r>
              <a:rPr lang="zh-CN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、回放兜底：现场稳定不靠运气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lang="zh-CN" sz="12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数据层组件清单与分层架构：</a:t>
            </a:r>
            <a:r>
              <a:rPr lang="en-US" sz="12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Live </a:t>
            </a:r>
            <a:r>
              <a:rPr lang="zh-CN" sz="12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与 </a:t>
            </a:r>
            <a:r>
              <a:rPr lang="en-US" sz="12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Replay </a:t>
            </a:r>
            <a:r>
              <a:rPr lang="zh-CN" sz="12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一份合同，边界外没有任何交易方法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header-hairline"/>
          <p:cNvSpPr/>
          <p:nvPr/>
        </p:nvSpPr>
        <p:spPr>
          <a:xfrm>
            <a:off x="812880" y="11685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1"/>
                </a:moveTo>
                <a:lnTo>
                  <a:pt x="832" y="1"/>
                </a:lnTo>
              </a:path>
            </a:pathLst>
          </a:custGeom>
          <a:noFill/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header-status"/>
          <p:cNvSpPr/>
          <p:nvPr/>
        </p:nvSpPr>
        <p:spPr>
          <a:xfrm>
            <a:off x="9982080" y="279360"/>
            <a:ext cx="13968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GOAI · TERMINAL — </a:t>
            </a:r>
            <a:r>
              <a:rPr lang="zh-CN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初赛评审   </a:t>
            </a:r>
            <a:r>
              <a:rPr lang="en-US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09/16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card-1"/>
          <p:cNvSpPr/>
          <p:nvPr/>
        </p:nvSpPr>
        <p:spPr>
          <a:xfrm>
            <a:off x="812880" y="1320840"/>
            <a:ext cx="4063680" cy="76176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card-1-title"/>
          <p:cNvSpPr/>
          <p:nvPr/>
        </p:nvSpPr>
        <p:spPr>
          <a:xfrm>
            <a:off x="965160" y="1422360"/>
            <a:ext cx="37587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01 DataEnvelope ·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数据信封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card-1-body"/>
          <p:cNvSpPr/>
          <p:nvPr/>
        </p:nvSpPr>
        <p:spPr>
          <a:xfrm>
            <a:off x="965160" y="1663560"/>
            <a:ext cx="37587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统一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LIVE/REPLAY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：来源时间、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freshness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、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typed error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5000"/>
              </a:lnSpc>
            </a:pP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与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SHA-256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快照身份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card-2"/>
          <p:cNvSpPr/>
          <p:nvPr/>
        </p:nvSpPr>
        <p:spPr>
          <a:xfrm>
            <a:off x="812880" y="2184480"/>
            <a:ext cx="4063680" cy="76176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card-2-title"/>
          <p:cNvSpPr/>
          <p:nvPr/>
        </p:nvSpPr>
        <p:spPr>
          <a:xfrm>
            <a:off x="965160" y="2286000"/>
            <a:ext cx="37587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02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双 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Gateway ·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同合同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card-2-body"/>
          <p:cNvSpPr/>
          <p:nvPr/>
        </p:nvSpPr>
        <p:spPr>
          <a:xfrm>
            <a:off x="965160" y="2527200"/>
            <a:ext cx="37587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FutuLiveGateway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惰性导入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SDK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、只读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Context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；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5000"/>
              </a:lnSpc>
            </a:pP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ReplayGateway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确定性回放、不导入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SDK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card-3"/>
          <p:cNvSpPr/>
          <p:nvPr/>
        </p:nvSpPr>
        <p:spPr>
          <a:xfrm>
            <a:off x="812880" y="3048120"/>
            <a:ext cx="4063680" cy="76176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card-3-title"/>
          <p:cNvSpPr/>
          <p:nvPr/>
        </p:nvSpPr>
        <p:spPr>
          <a:xfrm>
            <a:off x="965160" y="3149640"/>
            <a:ext cx="37587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03 SnapshotRecorder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card-3-body"/>
          <p:cNvSpPr/>
          <p:nvPr/>
        </p:nvSpPr>
        <p:spPr>
          <a:xfrm>
            <a:off x="965160" y="3390840"/>
            <a:ext cx="37587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线程安全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JSONL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录制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data/snapshots/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；原始授权行情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5000"/>
              </a:lnSpc>
            </a:pP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只存本地，不重新分发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card-4"/>
          <p:cNvSpPr/>
          <p:nvPr/>
        </p:nvSpPr>
        <p:spPr>
          <a:xfrm>
            <a:off x="812880" y="3911760"/>
            <a:ext cx="4063680" cy="76176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card-4-title"/>
          <p:cNvSpPr/>
          <p:nvPr/>
        </p:nvSpPr>
        <p:spPr>
          <a:xfrm>
            <a:off x="965160" y="4013280"/>
            <a:ext cx="37587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04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只读边界 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· 20s worker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card-4-body"/>
          <p:cNvSpPr/>
          <p:nvPr/>
        </p:nvSpPr>
        <p:spPr>
          <a:xfrm>
            <a:off x="965160" y="4254480"/>
            <a:ext cx="37587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5000"/>
              </a:lnSpc>
            </a:pP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无下单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/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改单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/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撤单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/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解锁；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20s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硬截止可终止读账户，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5000"/>
              </a:lnSpc>
            </a:pP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超时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ACCOUNT_UNAVAILABLE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layer-1"/>
          <p:cNvSpPr/>
          <p:nvPr/>
        </p:nvSpPr>
        <p:spPr>
          <a:xfrm>
            <a:off x="5079960" y="1320840"/>
            <a:ext cx="6298920" cy="711000"/>
          </a:xfrm>
          <a:prstGeom prst="roundRect">
            <a:avLst>
              <a:gd name="adj" fmla="val 5000"/>
            </a:avLst>
          </a:prstGeom>
          <a:solidFill>
            <a:srgbClr val="10161F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layer-1-text"/>
          <p:cNvSpPr/>
          <p:nvPr/>
        </p:nvSpPr>
        <p:spPr>
          <a:xfrm>
            <a:off x="5232240" y="1397160"/>
            <a:ext cx="596880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L1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数据接入 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双 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Gateway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同合同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en-US" sz="10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FUTU LIVE </a:t>
            </a:r>
            <a:r>
              <a:rPr lang="zh-CN" sz="10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惰性导入 </a:t>
            </a:r>
            <a:r>
              <a:rPr lang="en-US" sz="10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SDK · </a:t>
            </a:r>
            <a:r>
              <a:rPr lang="zh-CN" sz="10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只读 </a:t>
            </a:r>
            <a:r>
              <a:rPr lang="en-US" sz="10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Context ⇄ REPLAY </a:t>
            </a:r>
            <a:r>
              <a:rPr lang="zh-CN" sz="10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确定性回放 </a:t>
            </a:r>
            <a:r>
              <a:rPr lang="en-US" sz="10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en-US" sz="1000" b="1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60s</a:t>
            </a:r>
            <a:r>
              <a:rPr lang="en-US" sz="10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0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一致性窗口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layer-2"/>
          <p:cNvSpPr/>
          <p:nvPr/>
        </p:nvSpPr>
        <p:spPr>
          <a:xfrm>
            <a:off x="5079960" y="2133720"/>
            <a:ext cx="6298920" cy="711000"/>
          </a:xfrm>
          <a:prstGeom prst="roundRect">
            <a:avLst>
              <a:gd name="adj" fmla="val 5000"/>
            </a:avLst>
          </a:prstGeom>
          <a:solidFill>
            <a:srgbClr val="10161F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layer-2-text"/>
          <p:cNvSpPr/>
          <p:nvPr/>
        </p:nvSpPr>
        <p:spPr>
          <a:xfrm>
            <a:off x="5232240" y="2209680"/>
            <a:ext cx="596880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L2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数据封装 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身份与来源可追溯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en-US" sz="10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DataEnvelope: freshness · typed error · </a:t>
            </a:r>
            <a:r>
              <a:rPr lang="en-US" sz="1000" b="1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SHA-256</a:t>
            </a:r>
            <a:r>
              <a:rPr lang="en-US" sz="10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0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｜ </a:t>
            </a:r>
            <a:r>
              <a:rPr lang="en-US" sz="10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SnapshotRecorder: </a:t>
            </a:r>
            <a:r>
              <a:rPr lang="en-US" sz="1000" b="1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JSONL</a:t>
            </a:r>
            <a:r>
              <a:rPr lang="en-US" sz="10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0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本地录制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layer-3"/>
          <p:cNvSpPr/>
          <p:nvPr/>
        </p:nvSpPr>
        <p:spPr>
          <a:xfrm>
            <a:off x="5079960" y="2946240"/>
            <a:ext cx="6298920" cy="711000"/>
          </a:xfrm>
          <a:prstGeom prst="roundRect">
            <a:avLst>
              <a:gd name="adj" fmla="val 5000"/>
            </a:avLst>
          </a:prstGeom>
          <a:solidFill>
            <a:srgbClr val="10161F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layer-3-text"/>
          <p:cNvSpPr/>
          <p:nvPr/>
        </p:nvSpPr>
        <p:spPr>
          <a:xfrm>
            <a:off x="5232240" y="3022560"/>
            <a:ext cx="596880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L3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只读边界 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交易方法零暴露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zh-CN" sz="10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无下单</a:t>
            </a:r>
            <a:r>
              <a:rPr lang="en-US" sz="10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/</a:t>
            </a:r>
            <a:r>
              <a:rPr lang="zh-CN" sz="10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改单</a:t>
            </a:r>
            <a:r>
              <a:rPr lang="en-US" sz="10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/</a:t>
            </a:r>
            <a:r>
              <a:rPr lang="zh-CN" sz="10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撤单</a:t>
            </a:r>
            <a:r>
              <a:rPr lang="en-US" sz="10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/</a:t>
            </a:r>
            <a:r>
              <a:rPr lang="zh-CN" sz="10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解锁 </a:t>
            </a:r>
            <a:r>
              <a:rPr lang="en-US" sz="10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· OpenD </a:t>
            </a:r>
            <a:r>
              <a:rPr lang="en-US" sz="1000" b="1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127.0.0.1:11111</a:t>
            </a:r>
            <a:r>
              <a:rPr lang="en-US" sz="10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 · </a:t>
            </a:r>
            <a:r>
              <a:rPr lang="en-US" sz="1000" b="1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20s</a:t>
            </a:r>
            <a:r>
              <a:rPr lang="en-US" sz="10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0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可终止 </a:t>
            </a:r>
            <a:r>
              <a:rPr lang="en-US" sz="10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worker · </a:t>
            </a:r>
            <a:r>
              <a:rPr lang="zh-CN" sz="10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超时 </a:t>
            </a:r>
            <a:r>
              <a:rPr lang="en-US" sz="1000" b="1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ACCOUNT_UNAVAILABLE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layer-4"/>
          <p:cNvSpPr/>
          <p:nvPr/>
        </p:nvSpPr>
        <p:spPr>
          <a:xfrm>
            <a:off x="5079960" y="3759120"/>
            <a:ext cx="6298920" cy="711000"/>
          </a:xfrm>
          <a:prstGeom prst="roundRect">
            <a:avLst>
              <a:gd name="adj" fmla="val 5000"/>
            </a:avLst>
          </a:prstGeom>
          <a:solidFill>
            <a:srgbClr val="10161F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layer-4-text"/>
          <p:cNvSpPr/>
          <p:nvPr/>
        </p:nvSpPr>
        <p:spPr>
          <a:xfrm>
            <a:off x="5232240" y="3835440"/>
            <a:ext cx="596880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3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L4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兜底 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· Replay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保证现场稳定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en-US" sz="10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Live </a:t>
            </a:r>
            <a:r>
              <a:rPr lang="zh-CN" sz="10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失败 → 明确回放（用户确认），不静默切换 </a:t>
            </a:r>
            <a:r>
              <a:rPr lang="en-US" sz="10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· yfinance 429</a:t>
            </a:r>
            <a:r>
              <a:rPr lang="zh-CN" sz="10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（</a:t>
            </a:r>
            <a:r>
              <a:rPr lang="en-US" sz="10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2026-08-08 </a:t>
            </a:r>
            <a:r>
              <a:rPr lang="zh-CN" sz="10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实测）→ 快照回放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concept-tag"/>
          <p:cNvSpPr/>
          <p:nvPr/>
        </p:nvSpPr>
        <p:spPr>
          <a:xfrm>
            <a:off x="9956880" y="4495680"/>
            <a:ext cx="1422000" cy="228240"/>
          </a:xfrm>
          <a:prstGeom prst="roundRect">
            <a:avLst>
              <a:gd name="adj" fmla="val 50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concept-tag-text"/>
          <p:cNvSpPr/>
          <p:nvPr/>
        </p:nvSpPr>
        <p:spPr>
          <a:xfrm>
            <a:off x="9956880" y="4495680"/>
            <a:ext cx="1422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概念示意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quote-bar"/>
          <p:cNvSpPr/>
          <p:nvPr/>
        </p:nvSpPr>
        <p:spPr>
          <a:xfrm>
            <a:off x="812880" y="4876920"/>
            <a:ext cx="10566000" cy="507600"/>
          </a:xfrm>
          <a:prstGeom prst="roundRect">
            <a:avLst>
              <a:gd name="adj" fmla="val 5000"/>
            </a:avLst>
          </a:prstGeom>
          <a:solidFill>
            <a:srgbClr val="22D3EE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quote-rail"/>
          <p:cNvSpPr/>
          <p:nvPr/>
        </p:nvSpPr>
        <p:spPr>
          <a:xfrm>
            <a:off x="812880" y="4876920"/>
            <a:ext cx="37800" cy="50760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quote-mark"/>
          <p:cNvSpPr/>
          <p:nvPr/>
        </p:nvSpPr>
        <p:spPr>
          <a:xfrm>
            <a:off x="965160" y="4876920"/>
            <a:ext cx="20268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quote-text"/>
          <p:cNvSpPr/>
          <p:nvPr/>
        </p:nvSpPr>
        <p:spPr>
          <a:xfrm>
            <a:off x="1219320" y="4876920"/>
            <a:ext cx="990576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14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现场稳定不是赌出来的：快照回放，不靠免费行情的脸色。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ummary-bar"/>
          <p:cNvSpPr/>
          <p:nvPr/>
        </p:nvSpPr>
        <p:spPr>
          <a:xfrm>
            <a:off x="812880" y="5537160"/>
            <a:ext cx="10566000" cy="60912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ummary-cap"/>
          <p:cNvSpPr/>
          <p:nvPr/>
        </p:nvSpPr>
        <p:spPr>
          <a:xfrm>
            <a:off x="990720" y="5537160"/>
            <a:ext cx="50760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9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结论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ummary-text"/>
          <p:cNvSpPr/>
          <p:nvPr/>
        </p:nvSpPr>
        <p:spPr>
          <a:xfrm>
            <a:off x="1650960" y="5537160"/>
            <a:ext cx="9524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50000"/>
              </a:lnSpc>
            </a:pP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同合同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+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只读边界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+ </a:t>
            </a:r>
            <a:r>
              <a:rPr lang="en-US" sz="1100" b="0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20s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可终止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worker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：断网即明确回放，绝不静默降级。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footer-line"/>
          <p:cNvSpPr/>
          <p:nvPr/>
        </p:nvSpPr>
        <p:spPr>
          <a:xfrm>
            <a:off x="812880" y="650232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1"/>
                </a:moveTo>
                <a:lnTo>
                  <a:pt x="832" y="1"/>
                </a:lnTo>
              </a:path>
            </a:pathLst>
          </a:custGeom>
          <a:noFill/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footer-left"/>
          <p:cNvSpPr/>
          <p:nvPr/>
        </p:nvSpPr>
        <p:spPr>
          <a:xfrm>
            <a:off x="812880" y="6578640"/>
            <a:ext cx="88894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来源</a:t>
            </a: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: README.md · PROJECT_STATE.md §5 §9 · </a:t>
            </a: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口径</a:t>
            </a: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: facts.md §5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footer-right"/>
          <p:cNvSpPr/>
          <p:nvPr/>
        </p:nvSpPr>
        <p:spPr>
          <a:xfrm>
            <a:off x="10414080" y="6578640"/>
            <a:ext cx="9648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09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278" dur="indefinite" restart="never" nodeType="tmRoot">
          <p:childTnLst>
            <p:seq>
              <p:cTn id="279" dur="indefinite" nodeType="mainSeq">
                <p:childTnLst>
                  <p:par>
                    <p:cTn id="280" fill="hold">
                      <p:stCondLst>
                        <p:cond delay="0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84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87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90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93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22" presetClass="entr" fill="hold" nodeType="click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298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301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>
                            <p:stCondLst>
                              <p:cond delay="500"/>
                            </p:stCondLst>
                            <p:childTnLst>
                              <p:par>
                                <p:cTn id="303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305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308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22" presetClass="entr" fill="hold" nodeType="click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31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316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7" fill="hold">
                            <p:stCondLst>
                              <p:cond delay="500"/>
                            </p:stCondLst>
                            <p:childTnLst>
                              <p:par>
                                <p:cTn id="318" presetID="22" presetClass="entr" fill="hold" nodeType="after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32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1" presetID="2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 additive="repl">
                                        <p:cTn id="323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ick"/>
          <p:cNvSpPr/>
          <p:nvPr/>
        </p:nvSpPr>
        <p:spPr>
          <a:xfrm>
            <a:off x="812880" y="355680"/>
            <a:ext cx="37800" cy="27900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tatusBar"/>
          <p:cNvSpPr/>
          <p:nvPr/>
        </p:nvSpPr>
        <p:spPr>
          <a:xfrm>
            <a:off x="8763120" y="279360"/>
            <a:ext cx="26157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GOAI · TERMINAL — </a:t>
            </a:r>
            <a:r>
              <a:rPr lang="zh-CN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初赛评审  </a:t>
            </a:r>
            <a:r>
              <a:rPr lang="en-US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10/16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hairlineHeader"/>
          <p:cNvSpPr/>
          <p:nvPr/>
        </p:nvSpPr>
        <p:spPr>
          <a:xfrm>
            <a:off x="812880" y="11685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cap="rnd"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eyebrow"/>
          <p:cNvSpPr/>
          <p:nvPr/>
        </p:nvSpPr>
        <p:spPr>
          <a:xfrm>
            <a:off x="990720" y="330120"/>
            <a:ext cx="5079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9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10 · PRICING ENGINE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itleBox"/>
          <p:cNvSpPr/>
          <p:nvPr/>
        </p:nvSpPr>
        <p:spPr>
          <a:xfrm>
            <a:off x="990720" y="558720"/>
            <a:ext cx="1015956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10000"/>
              </a:lnSpc>
            </a:pPr>
            <a:r>
              <a:rPr lang="zh-CN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自研引擎不发明 </a:t>
            </a:r>
            <a:r>
              <a:rPr lang="en-US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BS</a:t>
            </a:r>
            <a:r>
              <a:rPr lang="zh-CN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：只做确定性复算与可成交成本口径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  <a:spcBef>
                <a:spcPts val="201"/>
              </a:spcBef>
            </a:pPr>
            <a:r>
              <a:rPr lang="en-US" sz="12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BS + </a:t>
            </a:r>
            <a:r>
              <a:rPr lang="zh-CN" sz="12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美式二叉树 </a:t>
            </a:r>
            <a:r>
              <a:rPr lang="en-US" sz="12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+ IV </a:t>
            </a:r>
            <a:r>
              <a:rPr lang="zh-CN" sz="12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二分 </a:t>
            </a:r>
            <a:r>
              <a:rPr lang="en-US" sz="12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+ bump-and-reprice Greeks</a:t>
            </a:r>
            <a:r>
              <a:rPr lang="zh-CN" sz="12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；港股规格路由与 </a:t>
            </a:r>
            <a:r>
              <a:rPr lang="en-US" sz="12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mid/ask </a:t>
            </a:r>
            <a:r>
              <a:rPr lang="zh-CN" sz="12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成本分栏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enginePanel"/>
          <p:cNvSpPr/>
          <p:nvPr/>
        </p:nvSpPr>
        <p:spPr>
          <a:xfrm>
            <a:off x="6095880" y="1320840"/>
            <a:ext cx="5283000" cy="190476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enginePanelTitle"/>
          <p:cNvSpPr/>
          <p:nvPr/>
        </p:nvSpPr>
        <p:spPr>
          <a:xfrm>
            <a:off x="6248520" y="1447920"/>
            <a:ext cx="253980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自研确定性引擎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enginePanelCode"/>
          <p:cNvSpPr/>
          <p:nvPr/>
        </p:nvSpPr>
        <p:spPr>
          <a:xfrm>
            <a:off x="8889840" y="1460520"/>
            <a:ext cx="23364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20000"/>
              </a:lnSpc>
            </a:pPr>
            <a:r>
              <a:rPr lang="en-US" sz="1000" b="0" u="none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src/pricing_engine.py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engineModules"/>
          <p:cNvSpPr/>
          <p:nvPr/>
        </p:nvSpPr>
        <p:spPr>
          <a:xfrm>
            <a:off x="6248520" y="1663560"/>
            <a:ext cx="4978080" cy="65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11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01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en-US" sz="11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BS closed-form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—— </a:t>
            </a:r>
            <a:r>
              <a:rPr lang="zh-CN" sz="11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欧式解析解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11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02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1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美式二叉树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—— 提前行权 </a:t>
            </a: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11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离散股息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11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03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en-US" sz="11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IV </a:t>
            </a:r>
            <a:r>
              <a:rPr lang="zh-CN" sz="11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二分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—— 盘口价反解 </a:t>
            </a: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σ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20000"/>
              </a:lnSpc>
            </a:pPr>
            <a:r>
              <a:rPr lang="en-US" sz="11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04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en-US" sz="11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bump-and-reprice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—— Greeks </a:t>
            </a:r>
            <a:r>
              <a:rPr lang="zh-CN" sz="11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差分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6" name="bsFormula"/>
          <p:cNvPicPr/>
          <p:nvPr/>
        </p:nvPicPr>
        <p:blipFill>
          <a:blip r:embed="rId1"/>
          <a:srcRect l="-96" t="0" r="-96" b="0"/>
          <a:stretch/>
        </p:blipFill>
        <p:spPr>
          <a:xfrm>
            <a:off x="6299280" y="2374920"/>
            <a:ext cx="4876560" cy="431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7" name="claimNoInvention"/>
          <p:cNvSpPr/>
          <p:nvPr/>
        </p:nvSpPr>
        <p:spPr>
          <a:xfrm>
            <a:off x="6248520" y="2857680"/>
            <a:ext cx="49780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1100" b="1" u="none" strike="noStrike">
                <a:solidFill>
                  <a:srgbClr val="333333"/>
                </a:solidFill>
                <a:effectLst/>
                <a:uFillTx/>
                <a:latin typeface="Arial"/>
                <a:ea typeface="Microsoft YaHei"/>
              </a:rPr>
              <a:t>不发明 </a:t>
            </a:r>
            <a:r>
              <a:rPr lang="en-US" sz="1100" b="1" u="none" strike="noStrike">
                <a:solidFill>
                  <a:srgbClr val="333333"/>
                </a:solidFill>
                <a:effectLst/>
                <a:uFillTx/>
                <a:latin typeface="Arial"/>
                <a:ea typeface="Microsoft YaHei"/>
              </a:rPr>
              <a:t>BS / </a:t>
            </a:r>
            <a:r>
              <a:rPr lang="zh-CN" sz="1100" b="1" u="none" strike="noStrike">
                <a:solidFill>
                  <a:srgbClr val="333333"/>
                </a:solidFill>
                <a:effectLst/>
                <a:uFillTx/>
                <a:latin typeface="Arial"/>
                <a:ea typeface="Microsoft YaHei"/>
              </a:rPr>
              <a:t>二叉树—— 自研只做确定性实现：先解析规格，再定价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8" name="greeksTable"/>
          <p:cNvGraphicFramePr/>
          <p:nvPr/>
        </p:nvGraphicFramePr>
        <p:xfrm>
          <a:off x="6095880" y="3276720"/>
          <a:ext cx="5283000" cy="952200"/>
        </p:xfrm>
        <a:graphic>
          <a:graphicData uri="http://schemas.openxmlformats.org/drawingml/2006/table">
            <a:tbl>
              <a:tblPr/>
              <a:tblGrid>
                <a:gridCol w="686520"/>
                <a:gridCol w="1267920"/>
                <a:gridCol w="686520"/>
                <a:gridCol w="1267920"/>
                <a:gridCol w="581040"/>
                <a:gridCol w="792360"/>
              </a:tblGrid>
              <a:tr h="3142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参数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22D3EE"/>
                      </a:solidFill>
                      <a:prstDash val="soli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数值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22D3EE"/>
                      </a:solidFill>
                      <a:prstDash val="soli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参数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22D3EE"/>
                      </a:solidFill>
                      <a:prstDash val="soli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数值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22D3EE"/>
                      </a:solidFill>
                      <a:prstDash val="solid"/>
                    </a:lnB>
                    <a:solidFill>
                      <a:srgbClr val="10161F"/>
                    </a:solidFill>
                  </a:tcPr>
                </a:tc>
                <a:tc gridSpan="2"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口径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22D3EE"/>
                      </a:solidFill>
                      <a:prstDash val="solid"/>
                    </a:lnB>
                    <a:solidFill>
                      <a:srgbClr val="10161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1428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Delta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-0.6887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Gamma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3.026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Vega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48.9981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</a:tr>
              <a:tr h="323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Theta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1F2937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-183.3953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1F2937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Rho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1F2937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0.1047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1F2937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gridSpan="2"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OpenD </a:t>
                      </a:r>
                      <a:r>
                        <a:rPr lang="zh-CN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Times New Roman"/>
                          <a:ea typeface="Times New Roman"/>
                        </a:rPr>
                        <a:t>口径对齐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1F2937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sp>
        <p:nvSpPr>
          <p:cNvPr id="249" name="hkSpecStrip"/>
          <p:cNvSpPr/>
          <p:nvPr/>
        </p:nvSpPr>
        <p:spPr>
          <a:xfrm>
            <a:off x="6095880" y="4280040"/>
            <a:ext cx="528300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1600" b="0" u="none" strike="noStrike">
                <a:solidFill>
                  <a:srgbClr val="333333"/>
                </a:solidFill>
                <a:effectLst/>
                <a:uFillTx/>
                <a:latin typeface="Arial"/>
                <a:ea typeface="Microsoft YaHei"/>
              </a:rPr>
              <a:t>港股规格：个股 </a:t>
            </a: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Arial"/>
                <a:ea typeface="Microsoft YaHei"/>
              </a:rPr>
              <a:t>= </a:t>
            </a:r>
            <a:r>
              <a:rPr lang="zh-CN" sz="1600" b="0" u="none" strike="noStrike">
                <a:solidFill>
                  <a:srgbClr val="333333"/>
                </a:solidFill>
                <a:effectLst/>
                <a:uFillTx/>
                <a:latin typeface="Arial"/>
                <a:ea typeface="Microsoft YaHei"/>
              </a:rPr>
              <a:t>美式</a:t>
            </a: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Arial"/>
                <a:ea typeface="Microsoft YaHei"/>
              </a:rPr>
              <a:t>·</a:t>
            </a:r>
            <a:r>
              <a:rPr lang="zh-CN" sz="1600" b="0" u="none" strike="noStrike">
                <a:solidFill>
                  <a:srgbClr val="333333"/>
                </a:solidFill>
                <a:effectLst/>
                <a:uFillTx/>
                <a:latin typeface="Arial"/>
                <a:ea typeface="Microsoft YaHei"/>
              </a:rPr>
              <a:t>实物（提前行权</a:t>
            </a: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Arial"/>
                <a:ea typeface="Microsoft YaHei"/>
              </a:rPr>
              <a:t>/</a:t>
            </a:r>
            <a:r>
              <a:rPr lang="zh-CN" sz="1600" b="0" u="none" strike="noStrike">
                <a:solidFill>
                  <a:srgbClr val="333333"/>
                </a:solidFill>
                <a:effectLst/>
                <a:uFillTx/>
                <a:latin typeface="Arial"/>
                <a:ea typeface="Microsoft YaHei"/>
              </a:rPr>
              <a:t>公司行动）｜指数 </a:t>
            </a: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Arial"/>
                <a:ea typeface="Microsoft YaHei"/>
              </a:rPr>
              <a:t>= </a:t>
            </a:r>
            <a:r>
              <a:rPr lang="zh-CN" sz="1600" b="0" u="none" strike="noStrike">
                <a:solidFill>
                  <a:srgbClr val="333333"/>
                </a:solidFill>
                <a:effectLst/>
                <a:uFillTx/>
                <a:latin typeface="Arial"/>
                <a:ea typeface="Microsoft YaHei"/>
              </a:rPr>
              <a:t>欧式</a:t>
            </a:r>
            <a:r>
              <a:rPr lang="en-US" sz="1600" b="0" u="none" strike="noStrike">
                <a:solidFill>
                  <a:srgbClr val="333333"/>
                </a:solidFill>
                <a:effectLst/>
                <a:uFillTx/>
                <a:latin typeface="Arial"/>
                <a:ea typeface="Microsoft YaHei"/>
              </a:rPr>
              <a:t>·</a:t>
            </a:r>
            <a:r>
              <a:rPr lang="zh-CN" sz="1600" b="0" u="none" strike="noStrike">
                <a:solidFill>
                  <a:srgbClr val="333333"/>
                </a:solidFill>
                <a:effectLst/>
                <a:uFillTx/>
                <a:latin typeface="Arial"/>
                <a:ea typeface="Microsoft YaHei"/>
              </a:rPr>
              <a:t>现金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0" name="pnlChart"/>
          <p:cNvPicPr/>
          <p:nvPr/>
        </p:nvPicPr>
        <p:blipFill>
          <a:blip r:embed="rId2"/>
          <a:srcRect l="0" t="-9537" r="0" b="-9537"/>
          <a:stretch/>
        </p:blipFill>
        <p:spPr>
          <a:xfrm>
            <a:off x="812880" y="1320840"/>
            <a:ext cx="5283000" cy="29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1" name="pnlChart-border"/>
          <p:cNvSpPr/>
          <p:nvPr/>
        </p:nvSpPr>
        <p:spPr>
          <a:xfrm>
            <a:off x="812880" y="1320840"/>
            <a:ext cx="5283000" cy="2971440"/>
          </a:xfrm>
          <a:prstGeom prst="rect">
            <a:avLst/>
          </a:prstGeom>
          <a:noFill/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costStripBg"/>
          <p:cNvSpPr/>
          <p:nvPr/>
        </p:nvSpPr>
        <p:spPr>
          <a:xfrm>
            <a:off x="812880" y="4317840"/>
            <a:ext cx="5283000" cy="27900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costStripText"/>
          <p:cNvSpPr/>
          <p:nvPr/>
        </p:nvSpPr>
        <p:spPr>
          <a:xfrm>
            <a:off x="863640" y="4317840"/>
            <a:ext cx="520668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100" b="0" u="none" strike="noStrike">
                <a:solidFill>
                  <a:srgbClr val="333333"/>
                </a:solidFill>
                <a:effectLst/>
                <a:uFillTx/>
                <a:latin typeface="Arial"/>
                <a:ea typeface="Microsoft YaHei"/>
              </a:rPr>
              <a:t>mid </a:t>
            </a:r>
            <a:r>
              <a:rPr lang="zh-CN" sz="1100" b="0" u="none" strike="noStrike">
                <a:solidFill>
                  <a:srgbClr val="333333"/>
                </a:solidFill>
                <a:effectLst/>
                <a:uFillTx/>
                <a:latin typeface="Arial"/>
                <a:ea typeface="Microsoft YaHei"/>
              </a:rPr>
              <a:t>观察 </a:t>
            </a:r>
            <a:r>
              <a:rPr lang="en-US" sz="1100" b="0" u="none" strike="noStrike">
                <a:solidFill>
                  <a:srgbClr val="333333"/>
                </a:solidFill>
                <a:effectLst/>
                <a:uFillTx/>
                <a:latin typeface="Arial"/>
                <a:ea typeface="Microsoft YaHei"/>
              </a:rPr>
              <a:t>2,109.5×2=4,219.0 </a:t>
            </a:r>
            <a:r>
              <a:rPr lang="zh-CN" sz="1100" b="0" u="none" strike="noStrike">
                <a:solidFill>
                  <a:srgbClr val="333333"/>
                </a:solidFill>
                <a:effectLst/>
                <a:uFillTx/>
                <a:latin typeface="Arial"/>
                <a:ea typeface="Microsoft YaHei"/>
              </a:rPr>
              <a:t>｜ </a:t>
            </a:r>
            <a:r>
              <a:rPr lang="en-US" sz="1100" b="0" u="none" strike="noStrike">
                <a:solidFill>
                  <a:srgbClr val="333333"/>
                </a:solidFill>
                <a:effectLst/>
                <a:uFillTx/>
                <a:latin typeface="Arial"/>
                <a:ea typeface="Microsoft YaHei"/>
              </a:rPr>
              <a:t>ask </a:t>
            </a:r>
            <a:r>
              <a:rPr lang="zh-CN" sz="1100" b="0" u="none" strike="noStrike">
                <a:solidFill>
                  <a:srgbClr val="333333"/>
                </a:solidFill>
                <a:effectLst/>
                <a:uFillTx/>
                <a:latin typeface="Arial"/>
                <a:ea typeface="Microsoft YaHei"/>
              </a:rPr>
              <a:t>可成交 </a:t>
            </a:r>
            <a:r>
              <a:rPr lang="en-US" sz="1100" b="0" u="none" strike="noStrike">
                <a:solidFill>
                  <a:srgbClr val="333333"/>
                </a:solidFill>
                <a:effectLst/>
                <a:uFillTx/>
                <a:latin typeface="Arial"/>
                <a:ea typeface="Microsoft YaHei"/>
              </a:rPr>
              <a:t>2,207.0×2=4,414.0 · </a:t>
            </a:r>
            <a:r>
              <a:rPr lang="zh-CN" sz="1100" b="0" u="none" strike="noStrike">
                <a:solidFill>
                  <a:srgbClr val="333333"/>
                </a:solidFill>
                <a:effectLst/>
                <a:uFillTx/>
                <a:latin typeface="Arial"/>
                <a:ea typeface="Microsoft YaHei"/>
              </a:rPr>
              <a:t>最大亏损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chartSource"/>
          <p:cNvSpPr/>
          <p:nvPr/>
        </p:nvSpPr>
        <p:spPr>
          <a:xfrm>
            <a:off x="812880" y="4597560"/>
            <a:ext cx="5283000" cy="12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来源</a:t>
            </a: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: data/decision_card_2026-08-12.json · </a:t>
            </a: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到期内在价值合成 </a:t>
            </a: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P&amp;L · </a:t>
            </a: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双口径成本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quoteBg"/>
          <p:cNvSpPr/>
          <p:nvPr/>
        </p:nvSpPr>
        <p:spPr>
          <a:xfrm>
            <a:off x="812880" y="4876920"/>
            <a:ext cx="10566000" cy="507600"/>
          </a:xfrm>
          <a:prstGeom prst="roundRect">
            <a:avLst>
              <a:gd name="adj" fmla="val 5000"/>
            </a:avLst>
          </a:prstGeom>
          <a:solidFill>
            <a:srgbClr val="22D3EE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quoteTick"/>
          <p:cNvSpPr/>
          <p:nvPr/>
        </p:nvSpPr>
        <p:spPr>
          <a:xfrm>
            <a:off x="812880" y="4876920"/>
            <a:ext cx="37800" cy="50760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quoteMark"/>
          <p:cNvSpPr/>
          <p:nvPr/>
        </p:nvSpPr>
        <p:spPr>
          <a:xfrm>
            <a:off x="965160" y="4876920"/>
            <a:ext cx="2538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quoteText"/>
          <p:cNvSpPr/>
          <p:nvPr/>
        </p:nvSpPr>
        <p:spPr>
          <a:xfrm>
            <a:off x="1219320" y="4876920"/>
            <a:ext cx="1005804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14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引擎的诚实  引擎的聪明：</a:t>
            </a: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mid </a:t>
            </a:r>
            <a:r>
              <a:rPr lang="zh-CN" sz="14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是观察，</a:t>
            </a: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ask </a:t>
            </a:r>
            <a:r>
              <a:rPr lang="zh-CN" sz="14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才是成本。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sumBg"/>
          <p:cNvSpPr/>
          <p:nvPr/>
        </p:nvSpPr>
        <p:spPr>
          <a:xfrm>
            <a:off x="812880" y="5537160"/>
            <a:ext cx="10566000" cy="60912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umCap"/>
          <p:cNvSpPr/>
          <p:nvPr/>
        </p:nvSpPr>
        <p:spPr>
          <a:xfrm>
            <a:off x="990720" y="5537160"/>
            <a:ext cx="5839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9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结论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sumText"/>
          <p:cNvSpPr/>
          <p:nvPr/>
        </p:nvSpPr>
        <p:spPr>
          <a:xfrm>
            <a:off x="1650960" y="5537160"/>
            <a:ext cx="957528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只复算不发明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BS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：成本按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mid/ask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分栏，最大亏损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4,414.0 HKD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hairlineFooter"/>
          <p:cNvSpPr/>
          <p:nvPr/>
        </p:nvSpPr>
        <p:spPr>
          <a:xfrm>
            <a:off x="812880" y="650232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0" y="0"/>
                </a:moveTo>
                <a:lnTo>
                  <a:pt x="1" y="0"/>
                </a:lnTo>
              </a:path>
            </a:pathLst>
          </a:custGeom>
          <a:noFill/>
          <a:ln cap="rnd"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footerSrc"/>
          <p:cNvSpPr/>
          <p:nvPr/>
        </p:nvSpPr>
        <p:spPr>
          <a:xfrm>
            <a:off x="812880" y="6578640"/>
            <a:ext cx="78735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来源</a:t>
            </a: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: data/decision_card_2026-08-12.json · data/hero_inputs.json · 2026-08-08 </a:t>
            </a: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快照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footerPage"/>
          <p:cNvSpPr/>
          <p:nvPr/>
        </p:nvSpPr>
        <p:spPr>
          <a:xfrm>
            <a:off x="10414080" y="6578640"/>
            <a:ext cx="9648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10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324" dur="indefinite" restart="never" nodeType="tmRoot">
          <p:childTnLst>
            <p:seq>
              <p:cTn id="325" dur="indefinite" nodeType="mainSeq">
                <p:childTnLst>
                  <p:par>
                    <p:cTn id="326" fill="hold">
                      <p:stCondLst>
                        <p:cond delay="0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30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33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36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39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indefinite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344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4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23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52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3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4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55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58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61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64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ick"/>
          <p:cNvSpPr/>
          <p:nvPr/>
        </p:nvSpPr>
        <p:spPr>
          <a:xfrm>
            <a:off x="812880" y="355680"/>
            <a:ext cx="37800" cy="27900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eyebrow"/>
          <p:cNvSpPr/>
          <p:nvPr/>
        </p:nvSpPr>
        <p:spPr>
          <a:xfrm>
            <a:off x="990720" y="330120"/>
            <a:ext cx="380952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9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11 · RISK GATES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headerText"/>
          <p:cNvSpPr/>
          <p:nvPr/>
        </p:nvSpPr>
        <p:spPr>
          <a:xfrm>
            <a:off x="990720" y="558720"/>
            <a:ext cx="1028664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92000"/>
              </a:lnSpc>
            </a:pPr>
            <a:r>
              <a:rPr lang="zh-CN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风险硬门一票否决，模拟动作止于用户独立确认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Edge / Risk / Action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三道门独立裁决 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审计链 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JSONL + SHA-256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 · </a:t>
            </a: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防注入与 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PASS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语义固化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statusbar"/>
          <p:cNvSpPr/>
          <p:nvPr/>
        </p:nvSpPr>
        <p:spPr>
          <a:xfrm>
            <a:off x="9982080" y="279360"/>
            <a:ext cx="13968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GOAI · TERMINAL — </a:t>
            </a:r>
            <a:r>
              <a:rPr lang="zh-CN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初赛评审  </a:t>
            </a:r>
            <a:r>
              <a:rPr lang="en-US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11/16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hairline"/>
          <p:cNvSpPr/>
          <p:nvPr/>
        </p:nvSpPr>
        <p:spPr>
          <a:xfrm>
            <a:off x="812880" y="11685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rack"/>
          <p:cNvSpPr/>
          <p:nvPr/>
        </p:nvSpPr>
        <p:spPr>
          <a:xfrm>
            <a:off x="812880" y="198108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chev1"/>
          <p:cNvSpPr/>
          <p:nvPr/>
        </p:nvSpPr>
        <p:spPr>
          <a:xfrm>
            <a:off x="3378240" y="1879560"/>
            <a:ext cx="202680" cy="202680"/>
          </a:xfrm>
          <a:prstGeom prst="chevron">
            <a:avLst>
              <a:gd name="adj" fmla="val 50000"/>
            </a:avLst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chev2"/>
          <p:cNvSpPr/>
          <p:nvPr/>
        </p:nvSpPr>
        <p:spPr>
          <a:xfrm>
            <a:off x="5994360" y="1879560"/>
            <a:ext cx="202680" cy="202680"/>
          </a:xfrm>
          <a:prstGeom prst="chevron">
            <a:avLst>
              <a:gd name="adj" fmla="val 50000"/>
            </a:avLst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chev3"/>
          <p:cNvSpPr/>
          <p:nvPr/>
        </p:nvSpPr>
        <p:spPr>
          <a:xfrm>
            <a:off x="8610480" y="1879560"/>
            <a:ext cx="202680" cy="202680"/>
          </a:xfrm>
          <a:prstGeom prst="chevron">
            <a:avLst>
              <a:gd name="adj" fmla="val 50000"/>
            </a:avLst>
          </a:prstGeom>
          <a:solidFill>
            <a:srgbClr val="1F293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74" name="gate1"/>
          <p:cNvGraphicFramePr/>
          <p:nvPr/>
        </p:nvGraphicFramePr>
        <p:xfrm>
          <a:off x="965160" y="1371600"/>
          <a:ext cx="2412720" cy="1218960"/>
        </p:xfrm>
        <a:graphic>
          <a:graphicData uri="http://schemas.openxmlformats.org/drawingml/2006/table">
            <a:tbl>
              <a:tblPr/>
              <a:tblGrid>
                <a:gridCol w="2412720"/>
              </a:tblGrid>
              <a:tr h="12189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000" b="1" u="none" strike="noStrike">
                          <a:solidFill>
                            <a:srgbClr val="F87171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01</a:t>
                      </a:r>
                      <a:r>
                        <a:rPr lang="en-US" sz="1000" b="0" u="none" strike="noStrike">
                          <a:solidFill>
                            <a:srgbClr val="F87171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  LOW_EDGE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601"/>
                        </a:spcBef>
                      </a:pPr>
                      <a:r>
                        <a:rPr lang="en-US" sz="13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Edge </a:t>
                      </a:r>
                      <a:r>
                        <a:rPr lang="zh-CN" sz="13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门 </a:t>
                      </a:r>
                      <a:r>
                        <a:rPr lang="en-US" sz="13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· </a:t>
                      </a:r>
                      <a:r>
                        <a:rPr lang="zh-CN" sz="13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值不值得做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601"/>
                        </a:spcBef>
                      </a:pP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3 </a:t>
                      </a:r>
                      <a:r>
                        <a:rPr lang="zh-CN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项检查全 </a:t>
                      </a: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FAIL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87171"/>
                      </a:solidFill>
                      <a:prstDash val="solid"/>
                    </a:lnL>
                    <a:lnR w="12240">
                      <a:solidFill>
                        <a:srgbClr val="F87171"/>
                      </a:solidFill>
                      <a:prstDash val="solid"/>
                    </a:lnR>
                    <a:lnT w="12240">
                      <a:solidFill>
                        <a:srgbClr val="F87171"/>
                      </a:solidFill>
                      <a:prstDash val="solid"/>
                    </a:lnT>
                    <a:lnB w="12240">
                      <a:solidFill>
                        <a:srgbClr val="F87171"/>
                      </a:solidFill>
                      <a:prstDash val="solid"/>
                    </a:lnB>
                    <a:solidFill>
                      <a:srgbClr val="131A2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5" name="gate2"/>
          <p:cNvGraphicFramePr/>
          <p:nvPr/>
        </p:nvGraphicFramePr>
        <p:xfrm>
          <a:off x="3581280" y="1371600"/>
          <a:ext cx="2412720" cy="1382400"/>
        </p:xfrm>
        <a:graphic>
          <a:graphicData uri="http://schemas.openxmlformats.org/drawingml/2006/table">
            <a:tbl>
              <a:tblPr/>
              <a:tblGrid>
                <a:gridCol w="2412720"/>
              </a:tblGrid>
              <a:tr h="12189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000" b="1" u="none" strike="noStrike">
                          <a:solidFill>
                            <a:srgbClr val="34D399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02</a:t>
                      </a:r>
                      <a:r>
                        <a:rPr lang="en-US" sz="1000" b="0" u="none" strike="noStrike">
                          <a:solidFill>
                            <a:srgbClr val="34D399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  PASS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601"/>
                        </a:spcBef>
                      </a:pPr>
                      <a:r>
                        <a:rPr lang="en-US" sz="13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Risk </a:t>
                      </a:r>
                      <a:r>
                        <a:rPr lang="zh-CN" sz="13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门 </a:t>
                      </a:r>
                      <a:r>
                        <a:rPr lang="en-US" sz="13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· </a:t>
                      </a:r>
                      <a:r>
                        <a:rPr lang="zh-CN" sz="13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一票否决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601"/>
                        </a:spcBef>
                      </a:pP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3 WARN </a:t>
                      </a:r>
                      <a:r>
                        <a:rPr lang="zh-CN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不阻断，</a:t>
                      </a: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PASS </a:t>
                      </a:r>
                      <a:r>
                        <a:rPr lang="zh-CN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生效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zh-CN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最大亏损 </a:t>
                      </a: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4,414 ≤ </a:t>
                      </a:r>
                      <a:r>
                        <a:rPr lang="zh-CN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预算 </a:t>
                      </a: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5,000 HKD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WARN</a:t>
                      </a:r>
                      <a:r>
                        <a:rPr lang="zh-CN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：</a:t>
                      </a: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LOP · </a:t>
                      </a:r>
                      <a:r>
                        <a:rPr lang="zh-CN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费用 </a:t>
                      </a: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· </a:t>
                      </a:r>
                      <a:r>
                        <a:rPr lang="zh-CN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美式交割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34D399"/>
                      </a:solidFill>
                      <a:prstDash val="solid"/>
                    </a:lnL>
                    <a:lnR w="12240">
                      <a:solidFill>
                        <a:srgbClr val="34D399"/>
                      </a:solidFill>
                      <a:prstDash val="solid"/>
                    </a:lnR>
                    <a:lnT w="12240">
                      <a:solidFill>
                        <a:srgbClr val="34D399"/>
                      </a:solidFill>
                      <a:prstDash val="solid"/>
                    </a:lnT>
                    <a:lnB w="12240">
                      <a:solidFill>
                        <a:srgbClr val="34D399"/>
                      </a:solidFill>
                      <a:prstDash val="solid"/>
                    </a:lnB>
                    <a:solidFill>
                      <a:srgbClr val="131A2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6" name="gate3"/>
          <p:cNvGraphicFramePr/>
          <p:nvPr/>
        </p:nvGraphicFramePr>
        <p:xfrm>
          <a:off x="6197760" y="1371600"/>
          <a:ext cx="2412720" cy="1382400"/>
        </p:xfrm>
        <a:graphic>
          <a:graphicData uri="http://schemas.openxmlformats.org/drawingml/2006/table">
            <a:tbl>
              <a:tblPr/>
              <a:tblGrid>
                <a:gridCol w="2412720"/>
              </a:tblGrid>
              <a:tr h="12189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000" b="1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03</a:t>
                      </a: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  NO_TRADE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601"/>
                        </a:spcBef>
                      </a:pPr>
                      <a:r>
                        <a:rPr lang="en-US" sz="13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Action </a:t>
                      </a:r>
                      <a:r>
                        <a:rPr lang="zh-CN" sz="13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门 </a:t>
                      </a:r>
                      <a:r>
                        <a:rPr lang="en-US" sz="13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· </a:t>
                      </a:r>
                      <a:r>
                        <a:rPr lang="zh-CN" sz="13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动作裁决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601"/>
                        </a:spcBef>
                      </a:pP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blocked</a:t>
                      </a:r>
                      <a:r>
                        <a:rPr lang="zh-CN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：</a:t>
                      </a: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Edge </a:t>
                      </a:r>
                      <a:r>
                        <a:rPr lang="zh-CN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门未过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zh-CN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无需进入下单；可调整期限</a:t>
                      </a: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/</a:t>
                      </a:r>
                      <a:r>
                        <a:rPr lang="zh-CN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行权价重估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8B949E"/>
                      </a:solidFill>
                      <a:prstDash val="solid"/>
                    </a:lnL>
                    <a:lnR w="12240">
                      <a:solidFill>
                        <a:srgbClr val="8B949E"/>
                      </a:solidFill>
                      <a:prstDash val="solid"/>
                    </a:lnR>
                    <a:lnT w="12240">
                      <a:solidFill>
                        <a:srgbClr val="8B949E"/>
                      </a:solidFill>
                      <a:prstDash val="solid"/>
                    </a:lnT>
                    <a:lnB w="12240">
                      <a:solidFill>
                        <a:srgbClr val="8B949E"/>
                      </a:solidFill>
                      <a:prstDash val="solid"/>
                    </a:lnB>
                    <a:solidFill>
                      <a:srgbClr val="131A2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7" name="gate4"/>
          <p:cNvGraphicFramePr/>
          <p:nvPr/>
        </p:nvGraphicFramePr>
        <p:xfrm>
          <a:off x="8813880" y="1371600"/>
          <a:ext cx="2412720" cy="1218960"/>
        </p:xfrm>
        <a:graphic>
          <a:graphicData uri="http://schemas.openxmlformats.org/drawingml/2006/table">
            <a:tbl>
              <a:tblPr/>
              <a:tblGrid>
                <a:gridCol w="2412720"/>
              </a:tblGrid>
              <a:tr h="12189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200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04</a:t>
                      </a:r>
                      <a:r>
                        <a:rPr lang="en-US" sz="1000" b="0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  CHAINED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20000"/>
                        </a:lnSpc>
                        <a:spcBef>
                          <a:spcPts val="601"/>
                        </a:spcBef>
                      </a:pPr>
                      <a:r>
                        <a:rPr lang="zh-CN" sz="13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审计链 </a:t>
                      </a:r>
                      <a:r>
                        <a:rPr lang="en-US" sz="13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· </a:t>
                      </a:r>
                      <a:r>
                        <a:rPr lang="zh-CN" sz="13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全程留痕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30000"/>
                        </a:lnSpc>
                        <a:spcBef>
                          <a:spcPts val="601"/>
                        </a:spcBef>
                      </a:pP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JSONL + SHA-256 </a:t>
                      </a:r>
                      <a:r>
                        <a:rPr lang="zh-CN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哈希链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30000"/>
                        </a:lnSpc>
                      </a:pP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7 </a:t>
                      </a:r>
                      <a:r>
                        <a:rPr lang="zh-CN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条记录，每条链上前一条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22D3EE"/>
                      </a:solidFill>
                      <a:prstDash val="solid"/>
                    </a:lnL>
                    <a:lnR w="12240">
                      <a:solidFill>
                        <a:srgbClr val="22D3EE"/>
                      </a:solidFill>
                      <a:prstDash val="solid"/>
                    </a:lnR>
                    <a:lnT w="12240">
                      <a:solidFill>
                        <a:srgbClr val="22D3EE"/>
                      </a:solidFill>
                      <a:prstDash val="solid"/>
                    </a:lnT>
                    <a:lnB w="12240">
                      <a:solidFill>
                        <a:srgbClr val="22D3EE"/>
                      </a:solidFill>
                      <a:prstDash val="solid"/>
                    </a:lnB>
                    <a:solidFill>
                      <a:srgbClr val="131A24"/>
                    </a:solidFill>
                  </a:tcPr>
                </a:tc>
              </a:tr>
            </a:tbl>
          </a:graphicData>
        </a:graphic>
      </p:graphicFrame>
      <p:sp>
        <p:nvSpPr>
          <p:cNvPr id="278" name="bc1Shape"/>
          <p:cNvSpPr/>
          <p:nvPr/>
        </p:nvSpPr>
        <p:spPr>
          <a:xfrm>
            <a:off x="812880" y="2743200"/>
            <a:ext cx="3377880" cy="198072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bc1Text"/>
          <p:cNvSpPr/>
          <p:nvPr/>
        </p:nvSpPr>
        <p:spPr>
          <a:xfrm>
            <a:off x="965160" y="2895480"/>
            <a:ext cx="3072960" cy="16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</a:pP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防注入 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敏感字段拒绝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spcBef>
                <a:spcPts val="799"/>
              </a:spcBef>
            </a:pP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敏感字段直接拒绝：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password / secret / token / api_key / account_id / order_id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spcBef>
                <a:spcPts val="799"/>
              </a:spcBef>
            </a:pP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遍历上限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10,000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项；外部文本不得改写数值与风控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spcBef>
                <a:spcPts val="799"/>
              </a:spcBef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LLM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不接触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SDK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、账户密钥与订单工具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bc2Shape"/>
          <p:cNvSpPr/>
          <p:nvPr/>
        </p:nvSpPr>
        <p:spPr>
          <a:xfrm>
            <a:off x="4394160" y="2743200"/>
            <a:ext cx="3377880" cy="198072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bc2Text"/>
          <p:cNvSpPr/>
          <p:nvPr/>
        </p:nvSpPr>
        <p:spPr>
          <a:xfrm>
            <a:off x="4546440" y="2895480"/>
            <a:ext cx="3072960" cy="16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</a:pP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动作边界 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模拟盘 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+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独立确认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spcBef>
                <a:spcPts val="799"/>
              </a:spcBef>
            </a:pP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比赛版本仅支持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Futu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模拟盘，动作须用户独立确认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spcBef>
                <a:spcPts val="799"/>
              </a:spcBef>
            </a:pP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确认只授权当前订单摘要，参数变化须重新确认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spcBef>
                <a:spcPts val="799"/>
              </a:spcBef>
            </a:pP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重复点击不产生重复订单，不自动重试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/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补腿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/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撤腿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bc3Shape"/>
          <p:cNvSpPr/>
          <p:nvPr/>
        </p:nvSpPr>
        <p:spPr>
          <a:xfrm>
            <a:off x="7975440" y="2743200"/>
            <a:ext cx="3377880" cy="198072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bc3Text"/>
          <p:cNvSpPr/>
          <p:nvPr/>
        </p:nvSpPr>
        <p:spPr>
          <a:xfrm>
            <a:off x="8128080" y="2895480"/>
            <a:ext cx="3072960" cy="16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</a:pP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PASS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的固定含义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spcBef>
                <a:spcPts val="799"/>
              </a:spcBef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PASS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=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「当前数据、规则和风险门通过」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spcBef>
                <a:spcPts val="799"/>
              </a:spcBef>
            </a:pP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不表示盈利、成交或投资建议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spcBef>
                <a:spcPts val="799"/>
              </a:spcBef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Edge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可明确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NO_TRADE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，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Risk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独立一票否决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quoteBg"/>
          <p:cNvSpPr/>
          <p:nvPr/>
        </p:nvSpPr>
        <p:spPr>
          <a:xfrm>
            <a:off x="812880" y="4876920"/>
            <a:ext cx="10566000" cy="507600"/>
          </a:xfrm>
          <a:prstGeom prst="roundRect">
            <a:avLst>
              <a:gd name="adj" fmla="val 5000"/>
            </a:avLst>
          </a:prstGeom>
          <a:solidFill>
            <a:srgbClr val="22D3EE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quoteRail"/>
          <p:cNvSpPr/>
          <p:nvPr/>
        </p:nvSpPr>
        <p:spPr>
          <a:xfrm>
            <a:off x="812880" y="4876920"/>
            <a:ext cx="37800" cy="50760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quoteGuide"/>
          <p:cNvSpPr/>
          <p:nvPr/>
        </p:nvSpPr>
        <p:spPr>
          <a:xfrm>
            <a:off x="965160" y="4876920"/>
            <a:ext cx="20268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quoteText"/>
          <p:cNvSpPr/>
          <p:nvPr/>
        </p:nvSpPr>
        <p:spPr>
          <a:xfrm>
            <a:off x="1219320" y="4876920"/>
            <a:ext cx="995652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14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「</a:t>
            </a: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NO_TRADE </a:t>
            </a:r>
            <a:r>
              <a:rPr lang="zh-CN" sz="14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是成功结果——不会为了展示下单而调低门槛」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sumBg"/>
          <p:cNvSpPr/>
          <p:nvPr/>
        </p:nvSpPr>
        <p:spPr>
          <a:xfrm>
            <a:off x="812880" y="5537160"/>
            <a:ext cx="10566000" cy="60912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sumCap"/>
          <p:cNvSpPr/>
          <p:nvPr/>
        </p:nvSpPr>
        <p:spPr>
          <a:xfrm>
            <a:off x="990720" y="5537160"/>
            <a:ext cx="5839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9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结论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sumBody"/>
          <p:cNvSpPr/>
          <p:nvPr/>
        </p:nvSpPr>
        <p:spPr>
          <a:xfrm>
            <a:off x="1650960" y="5537160"/>
            <a:ext cx="95245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Edge / Risk / Action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独立裁决，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7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条审计链式留痕，风险不过即无确认入口。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footerRule"/>
          <p:cNvSpPr/>
          <p:nvPr/>
        </p:nvSpPr>
        <p:spPr>
          <a:xfrm>
            <a:off x="812880" y="650232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footerLeft"/>
          <p:cNvSpPr/>
          <p:nvPr/>
        </p:nvSpPr>
        <p:spPr>
          <a:xfrm>
            <a:off x="812880" y="6578640"/>
            <a:ext cx="76197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来源</a:t>
            </a: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: docs/PRD.md §5.3 / §7 · data/decision_card_2026-08-12.json · 2026-08-12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footerRight"/>
          <p:cNvSpPr/>
          <p:nvPr/>
        </p:nvSpPr>
        <p:spPr>
          <a:xfrm>
            <a:off x="9398160" y="6578640"/>
            <a:ext cx="198072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11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365" dur="indefinite" restart="never" nodeType="tmRoot">
          <p:childTnLst>
            <p:seq>
              <p:cTn id="366" dur="indefinite" nodeType="mainSeq"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71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74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77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80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85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6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88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9" fill="hold">
                            <p:stCondLst>
                              <p:cond delay="500"/>
                            </p:stCondLst>
                            <p:childTnLst>
                              <p:par>
                                <p:cTn id="390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92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397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8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00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1" fill="hold">
                            <p:stCondLst>
                              <p:cond delay="500"/>
                            </p:stCondLst>
                            <p:childTnLst>
                              <p:par>
                                <p:cTn id="402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04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5" presetID="22" presetClass="entr" fill="hold" nodeType="with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07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tick-title"/>
          <p:cNvSpPr/>
          <p:nvPr/>
        </p:nvSpPr>
        <p:spPr>
          <a:xfrm>
            <a:off x="812880" y="355680"/>
            <a:ext cx="37800" cy="27900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eyebrow"/>
          <p:cNvSpPr/>
          <p:nvPr/>
        </p:nvSpPr>
        <p:spPr>
          <a:xfrm>
            <a:off x="990720" y="330120"/>
            <a:ext cx="40636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9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12 · COMPETITORS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itle"/>
          <p:cNvSpPr/>
          <p:nvPr/>
        </p:nvSpPr>
        <p:spPr>
          <a:xfrm>
            <a:off x="990720" y="558720"/>
            <a:ext cx="1038816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同类工具各占一隅，</a:t>
            </a:r>
            <a:r>
              <a:rPr lang="en-US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GOAI </a:t>
            </a:r>
            <a:r>
              <a:rPr lang="zh-CN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把决策变成可核验的证据链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subtitle"/>
          <p:cNvSpPr/>
          <p:nvPr/>
        </p:nvSpPr>
        <p:spPr>
          <a:xfrm>
            <a:off x="990720" y="914400"/>
            <a:ext cx="103881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四类主流做法 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× </a:t>
            </a: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五个维度，标出 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GOAI </a:t>
            </a: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的增量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statusbar"/>
          <p:cNvSpPr/>
          <p:nvPr/>
        </p:nvSpPr>
        <p:spPr>
          <a:xfrm>
            <a:off x="8610480" y="279360"/>
            <a:ext cx="27684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20000"/>
              </a:lnSpc>
            </a:pPr>
            <a:r>
              <a:rPr lang="en-US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GOAI · TERMINAL — </a:t>
            </a:r>
            <a:r>
              <a:rPr lang="zh-CN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初赛评审   </a:t>
            </a:r>
            <a:r>
              <a:rPr lang="en-US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12/16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header-hairline"/>
          <p:cNvSpPr/>
          <p:nvPr/>
        </p:nvSpPr>
        <p:spPr>
          <a:xfrm>
            <a:off x="812880" y="1168560"/>
            <a:ext cx="10566000" cy="2520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25200"/>
              <a:gd name="textAreaBottom" fmla="*/ 25560 h 2520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0" y="1"/>
                </a:moveTo>
                <a:lnTo>
                  <a:pt x="1" y="1"/>
                </a:lnTo>
              </a:path>
            </a:pathLst>
          </a:custGeom>
          <a:noFill/>
          <a:ln cap="rnd"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00" name="header-table"/>
          <p:cNvGraphicFramePr/>
          <p:nvPr/>
        </p:nvGraphicFramePr>
        <p:xfrm>
          <a:off x="812880" y="1320840"/>
          <a:ext cx="10566000" cy="330120"/>
        </p:xfrm>
        <a:graphic>
          <a:graphicData uri="http://schemas.openxmlformats.org/drawingml/2006/table">
            <a:tbl>
              <a:tblPr/>
              <a:tblGrid>
                <a:gridCol w="2134080"/>
                <a:gridCol w="1690560"/>
                <a:gridCol w="1690560"/>
                <a:gridCol w="1690560"/>
                <a:gridCol w="1690560"/>
                <a:gridCol w="1669320"/>
              </a:tblGrid>
              <a:tr h="3301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竞品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22D3EE"/>
                      </a:solidFill>
                      <a:prstDash val="soli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数字可信度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22D3EE"/>
                      </a:solidFill>
                      <a:prstDash val="soli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港股规则适配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22D3EE"/>
                      </a:solidFill>
                      <a:prstDash val="soli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可审计性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22D3EE"/>
                      </a:solidFill>
                      <a:prstDash val="soli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自然语言交互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22D3EE"/>
                      </a:solidFill>
                      <a:prstDash val="soli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执行边界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22D3EE"/>
                      </a:solidFill>
                      <a:prstDash val="solid"/>
                    </a:lnB>
                    <a:solidFill>
                      <a:srgbClr val="1016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1" name="row-futu"/>
          <p:cNvGraphicFramePr/>
          <p:nvPr/>
        </p:nvGraphicFramePr>
        <p:xfrm>
          <a:off x="812880" y="1650960"/>
          <a:ext cx="10566000" cy="507960"/>
        </p:xfrm>
        <a:graphic>
          <a:graphicData uri="http://schemas.openxmlformats.org/drawingml/2006/table">
            <a:tbl>
              <a:tblPr/>
              <a:tblGrid>
                <a:gridCol w="2134080"/>
                <a:gridCol w="1690560"/>
                <a:gridCol w="1690560"/>
                <a:gridCol w="1690560"/>
                <a:gridCol w="1690560"/>
                <a:gridCol w="1669320"/>
              </a:tblGrid>
              <a:tr h="5079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Futu </a:t>
                      </a: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手工流程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✓ 信息强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规则分散多页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无自动留痕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手工拼接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✓ 券商下单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02" name="row-llm"/>
          <p:cNvGraphicFramePr/>
          <p:nvPr/>
        </p:nvGraphicFramePr>
        <p:xfrm>
          <a:off x="812880" y="2158920"/>
          <a:ext cx="10566000" cy="507960"/>
        </p:xfrm>
        <a:graphic>
          <a:graphicData uri="http://schemas.openxmlformats.org/drawingml/2006/table">
            <a:tbl>
              <a:tblPr/>
              <a:tblGrid>
                <a:gridCol w="2134080"/>
                <a:gridCol w="1690560"/>
                <a:gridCol w="1690560"/>
                <a:gridCol w="1690560"/>
                <a:gridCol w="1690560"/>
                <a:gridCol w="1669320"/>
              </a:tblGrid>
              <a:tr h="5079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通用 </a:t>
                      </a:r>
                      <a:r>
                        <a:rPr lang="en-US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LLM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F87171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会编造数字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—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—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✓ 表达好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F87171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不可承担风控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03" name="row-script"/>
          <p:cNvGraphicFramePr/>
          <p:nvPr/>
        </p:nvGraphicFramePr>
        <p:xfrm>
          <a:off x="812880" y="2666880"/>
          <a:ext cx="10566000" cy="507960"/>
        </p:xfrm>
        <a:graphic>
          <a:graphicData uri="http://schemas.openxmlformats.org/drawingml/2006/table">
            <a:tbl>
              <a:tblPr/>
              <a:tblGrid>
                <a:gridCol w="2134080"/>
                <a:gridCol w="1690560"/>
                <a:gridCol w="1690560"/>
                <a:gridCol w="1690560"/>
                <a:gridCol w="1690560"/>
                <a:gridCol w="1669320"/>
              </a:tblGrid>
              <a:tr h="5079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固定计算脚本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✓ 计算稳定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参数需自给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✓ 可复现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不补全任务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无门控降级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04" name="row-moomoo"/>
          <p:cNvGraphicFramePr/>
          <p:nvPr/>
        </p:nvGraphicFramePr>
        <p:xfrm>
          <a:off x="812880" y="3174840"/>
          <a:ext cx="10566000" cy="507960"/>
        </p:xfrm>
        <a:graphic>
          <a:graphicData uri="http://schemas.openxmlformats.org/drawingml/2006/table">
            <a:tbl>
              <a:tblPr/>
              <a:tblGrid>
                <a:gridCol w="2134080"/>
                <a:gridCol w="1690560"/>
                <a:gridCol w="1690560"/>
                <a:gridCol w="1690560"/>
                <a:gridCol w="1690560"/>
                <a:gridCol w="1669320"/>
              </a:tblGrid>
              <a:tr h="5079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moomoo Engine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（传统策略推荐类）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F59E0B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可交易≠值得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—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—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—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无 </a:t>
                      </a:r>
                      <a:r>
                        <a:rPr lang="en-US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NO_TRADE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05" name="row-goal"/>
          <p:cNvGraphicFramePr/>
          <p:nvPr/>
        </p:nvGraphicFramePr>
        <p:xfrm>
          <a:off x="812880" y="3683160"/>
          <a:ext cx="10566000" cy="558720"/>
        </p:xfrm>
        <a:graphic>
          <a:graphicData uri="http://schemas.openxmlformats.org/drawingml/2006/table">
            <a:tbl>
              <a:tblPr/>
              <a:tblGrid>
                <a:gridCol w="2134080"/>
                <a:gridCol w="1690560"/>
                <a:gridCol w="1690560"/>
                <a:gridCol w="1690560"/>
                <a:gridCol w="1690560"/>
                <a:gridCol w="1669320"/>
              </a:tblGrid>
              <a:tr h="5587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GOAI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solidFill>
                      <a:srgbClr val="22D3EE">
                        <a:alpha val="8000"/>
                      </a:srgb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✓ 工具供数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solidFill>
                      <a:srgbClr val="22D3EE">
                        <a:alpha val="8000"/>
                      </a:srgb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✓ 规格先解析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solidFill>
                      <a:srgbClr val="22D3EE">
                        <a:alpha val="8000"/>
                      </a:srgb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✓ 哈希链 </a:t>
                      </a:r>
                      <a:r>
                        <a:rPr lang="en-US" sz="110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7 </a:t>
                      </a:r>
                      <a:r>
                        <a:rPr lang="zh-CN" sz="110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条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solidFill>
                      <a:srgbClr val="22D3EE">
                        <a:alpha val="8000"/>
                      </a:srgb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✓ 端到端决策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solidFill>
                      <a:srgbClr val="22D3EE">
                        <a:alpha val="8000"/>
                      </a:srgb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✓ 仅模拟</a:t>
                      </a:r>
                      <a:r>
                        <a:rPr lang="en-US" sz="110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+</a:t>
                      </a:r>
                      <a:r>
                        <a:rPr lang="zh-CN" sz="110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确认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solidFill>
                      <a:srgbClr val="22D3EE">
                        <a:alpha val="2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06" name="caption-tick"/>
          <p:cNvSpPr/>
          <p:nvPr/>
        </p:nvSpPr>
        <p:spPr>
          <a:xfrm>
            <a:off x="812880" y="4343400"/>
            <a:ext cx="37800" cy="15192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caption"/>
          <p:cNvSpPr/>
          <p:nvPr/>
        </p:nvSpPr>
        <p:spPr>
          <a:xfrm>
            <a:off x="990720" y="4292640"/>
            <a:ext cx="10388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GOAI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增量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=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确定性数字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+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港股规格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+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哈希链审计；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NO_TRADE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是成功结果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quote-bg"/>
          <p:cNvSpPr/>
          <p:nvPr/>
        </p:nvSpPr>
        <p:spPr>
          <a:xfrm>
            <a:off x="812880" y="4876920"/>
            <a:ext cx="10566000" cy="507600"/>
          </a:xfrm>
          <a:prstGeom prst="roundRect">
            <a:avLst>
              <a:gd name="adj" fmla="val 5000"/>
            </a:avLst>
          </a:prstGeom>
          <a:solidFill>
            <a:srgbClr val="22D3EE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quote-track"/>
          <p:cNvSpPr/>
          <p:nvPr/>
        </p:nvSpPr>
        <p:spPr>
          <a:xfrm>
            <a:off x="812880" y="4876920"/>
            <a:ext cx="37800" cy="50760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quote-mark"/>
          <p:cNvSpPr/>
          <p:nvPr/>
        </p:nvSpPr>
        <p:spPr>
          <a:xfrm>
            <a:off x="965160" y="4902120"/>
            <a:ext cx="202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quote-text"/>
          <p:cNvSpPr/>
          <p:nvPr/>
        </p:nvSpPr>
        <p:spPr>
          <a:xfrm>
            <a:off x="1219320" y="490212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14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价值不是替用户猜涨跌，而是收拢研究、规则与约束为一张可核验决策卡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summary-bg"/>
          <p:cNvSpPr/>
          <p:nvPr/>
        </p:nvSpPr>
        <p:spPr>
          <a:xfrm>
            <a:off x="812880" y="5537160"/>
            <a:ext cx="10566000" cy="60912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summary-cap"/>
          <p:cNvSpPr/>
          <p:nvPr/>
        </p:nvSpPr>
        <p:spPr>
          <a:xfrm>
            <a:off x="990720" y="5537160"/>
            <a:ext cx="5839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9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结论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summary-text"/>
          <p:cNvSpPr/>
          <p:nvPr/>
        </p:nvSpPr>
        <p:spPr>
          <a:xfrm>
            <a:off x="1650960" y="5537160"/>
            <a:ext cx="962640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竞品强在信息、计算或表达，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GOAI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的增量是确定性数字与审计链的端到端组合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footer-hairline"/>
          <p:cNvSpPr/>
          <p:nvPr/>
        </p:nvSpPr>
        <p:spPr>
          <a:xfrm>
            <a:off x="812880" y="6502320"/>
            <a:ext cx="10566000" cy="2520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25200"/>
              <a:gd name="textAreaBottom" fmla="*/ 25560 h 25200"/>
            </a:gdLst>
            <a:ahLst/>
            <a:cxnLst/>
            <a:rect l="textAreaLeft" t="textAreaTop" r="textAreaRight" b="textAreaBottom"/>
            <a:pathLst>
              <a:path w="1" h="1">
                <a:moveTo>
                  <a:pt x="0" y="1"/>
                </a:moveTo>
                <a:lnTo>
                  <a:pt x="1" y="1"/>
                </a:lnTo>
              </a:path>
            </a:pathLst>
          </a:custGeom>
          <a:noFill/>
          <a:ln cap="rnd"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19440" rIns="90000" bIns="-194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footer-left"/>
          <p:cNvSpPr/>
          <p:nvPr/>
        </p:nvSpPr>
        <p:spPr>
          <a:xfrm>
            <a:off x="812880" y="6578640"/>
            <a:ext cx="81277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来源</a:t>
            </a: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: docs/PRD.md §1.2–§1.4 · facts.md §1/§6–§9 · 2026-08-12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footer-right"/>
          <p:cNvSpPr/>
          <p:nvPr/>
        </p:nvSpPr>
        <p:spPr>
          <a:xfrm>
            <a:off x="10236240" y="6578640"/>
            <a:ext cx="114264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20000"/>
              </a:lnSpc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12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408" dur="indefinite" restart="never" nodeType="tmRoot">
          <p:childTnLst>
            <p:seq>
              <p:cTn id="409" dur="indefinite" nodeType="mainSeq">
                <p:childTnLst>
                  <p:par>
                    <p:cTn id="410" fill="hold">
                      <p:stCondLst>
                        <p:cond delay="0"/>
                      </p:stCondLst>
                      <p:childTnLst>
                        <p:par>
                          <p:cTn id="411" fill="hold">
                            <p:stCondLst>
                              <p:cond delay="0"/>
                            </p:stCondLst>
                            <p:childTnLst>
                              <p:par>
                                <p:cTn id="41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14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17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20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23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4" fill="hold">
                      <p:stCondLst>
                        <p:cond delay="indefinite"/>
                      </p:stCondLst>
                      <p:childTnLst>
                        <p:par>
                          <p:cTn id="425" fill="hold">
                            <p:stCondLst>
                              <p:cond delay="0"/>
                            </p:stCondLst>
                            <p:childTnLst>
                              <p:par>
                                <p:cTn id="426" presetID="22" presetClass="entr" fill="hold" nodeType="click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28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9" fill="hold">
                            <p:stCondLst>
                              <p:cond delay="500"/>
                            </p:stCondLst>
                            <p:childTnLst>
                              <p:par>
                                <p:cTn id="430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32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3" fill="hold">
                            <p:stCondLst>
                              <p:cond delay="1000"/>
                            </p:stCondLst>
                            <p:childTnLst>
                              <p:par>
                                <p:cTn id="434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36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7" fill="hold">
                            <p:stCondLst>
                              <p:cond delay="1500"/>
                            </p:stCondLst>
                            <p:childTnLst>
                              <p:par>
                                <p:cTn id="438" presetID="22" presetClass="entr" fill="hold" nodeType="afterEffect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 additive="repl">
                                        <p:cTn id="440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>
                      <p:stCondLst>
                        <p:cond delay="indefinite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23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45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6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7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8" dur="5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51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54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header-tick"/>
          <p:cNvSpPr/>
          <p:nvPr/>
        </p:nvSpPr>
        <p:spPr>
          <a:xfrm>
            <a:off x="812880" y="355680"/>
            <a:ext cx="37800" cy="27900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header-eyebrow"/>
          <p:cNvSpPr/>
          <p:nvPr/>
        </p:nvSpPr>
        <p:spPr>
          <a:xfrm>
            <a:off x="990720" y="330120"/>
            <a:ext cx="50796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9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13 · RELEASE SLICE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header-title"/>
          <p:cNvSpPr/>
          <p:nvPr/>
        </p:nvSpPr>
        <p:spPr>
          <a:xfrm>
            <a:off x="990720" y="558720"/>
            <a:ext cx="103881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已交付的只有 </a:t>
            </a:r>
            <a:r>
              <a:rPr lang="en-US" sz="2600" b="1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P0a</a:t>
            </a:r>
            <a:r>
              <a:rPr lang="en-US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Replay</a:t>
            </a:r>
            <a:r>
              <a:rPr lang="zh-CN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：</a:t>
            </a:r>
            <a:r>
              <a:rPr lang="en-US" sz="2600" b="1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P0b</a:t>
            </a:r>
            <a:r>
              <a:rPr lang="en-US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/ </a:t>
            </a:r>
            <a:r>
              <a:rPr lang="en-US" sz="2600" b="1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P0c</a:t>
            </a:r>
            <a:r>
              <a:rPr lang="en-US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未毕业，如实标注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header-sub"/>
          <p:cNvSpPr/>
          <p:nvPr/>
        </p:nvSpPr>
        <p:spPr>
          <a:xfrm>
            <a:off x="990720" y="914400"/>
            <a:ext cx="103881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三档切片逐项列示已有资产与尚缺；旧模拟单如实标 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LEGACY_PROTOTYPE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header-line"/>
          <p:cNvSpPr/>
          <p:nvPr/>
        </p:nvSpPr>
        <p:spPr>
          <a:xfrm>
            <a:off x="812880" y="11685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header-status"/>
          <p:cNvSpPr/>
          <p:nvPr/>
        </p:nvSpPr>
        <p:spPr>
          <a:xfrm>
            <a:off x="8128080" y="279360"/>
            <a:ext cx="32508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GOAI · TERMINAL — </a:t>
            </a:r>
            <a:r>
              <a:rPr lang="zh-CN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初赛评审   </a:t>
            </a:r>
            <a:r>
              <a:rPr lang="en-US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13/16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24" name="scope-ring"/>
          <p:cNvGraphicFramePr/>
          <p:nvPr/>
        </p:nvGraphicFramePr>
        <p:xfrm>
          <a:off x="812880" y="1295280"/>
          <a:ext cx="2488680" cy="2488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25" name="ring-kpi"/>
          <p:cNvSpPr/>
          <p:nvPr/>
        </p:nvSpPr>
        <p:spPr>
          <a:xfrm>
            <a:off x="812880" y="2286000"/>
            <a:ext cx="248868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30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1/3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ring-cap"/>
          <p:cNvSpPr/>
          <p:nvPr/>
        </p:nvSpPr>
        <p:spPr>
          <a:xfrm>
            <a:off x="812880" y="2870280"/>
            <a:ext cx="248868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>
              <a:lnSpc>
                <a:spcPct val="120000"/>
              </a:lnSpc>
            </a:pP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3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切片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· 1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已毕业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legend-p0a-dot"/>
          <p:cNvSpPr/>
          <p:nvPr/>
        </p:nvSpPr>
        <p:spPr>
          <a:xfrm>
            <a:off x="812880" y="3936960"/>
            <a:ext cx="101160" cy="101160"/>
          </a:xfrm>
          <a:prstGeom prst="ellipse">
            <a:avLst/>
          </a:prstGeom>
          <a:solidFill>
            <a:srgbClr val="34D3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legend-p0a"/>
          <p:cNvSpPr/>
          <p:nvPr/>
        </p:nvSpPr>
        <p:spPr>
          <a:xfrm>
            <a:off x="1015920" y="3886200"/>
            <a:ext cx="23364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0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P0a Replay Decision</a:t>
            </a:r>
            <a:r>
              <a:rPr lang="en-US" sz="1000" b="0" u="none" strike="noStrike">
                <a:solidFill>
                  <a:srgbClr val="34D399"/>
                </a:solidFill>
                <a:effectLst/>
                <a:uFillTx/>
                <a:latin typeface="Arial"/>
                <a:ea typeface="Microsoft YaHei"/>
              </a:rPr>
              <a:t> · </a:t>
            </a:r>
            <a:r>
              <a:rPr lang="zh-CN" sz="1000" b="0" u="none" strike="noStrike">
                <a:solidFill>
                  <a:srgbClr val="34D399"/>
                </a:solidFill>
                <a:effectLst/>
                <a:uFillTx/>
                <a:latin typeface="Arial"/>
                <a:ea typeface="Microsoft YaHei"/>
              </a:rPr>
              <a:t>已毕业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legend-p0b-dot"/>
          <p:cNvSpPr/>
          <p:nvPr/>
        </p:nvSpPr>
        <p:spPr>
          <a:xfrm>
            <a:off x="812880" y="4216320"/>
            <a:ext cx="101160" cy="10116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legend-p0b"/>
          <p:cNvSpPr/>
          <p:nvPr/>
        </p:nvSpPr>
        <p:spPr>
          <a:xfrm>
            <a:off x="1015920" y="4165560"/>
            <a:ext cx="23364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0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P0b Live </a:t>
            </a:r>
            <a:r>
              <a:rPr lang="zh-CN" sz="10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只读</a:t>
            </a: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1000" b="0" u="none" strike="noStrike">
                <a:solidFill>
                  <a:srgbClr val="F59E0B"/>
                </a:solidFill>
                <a:effectLst/>
                <a:uFillTx/>
                <a:latin typeface="Arial"/>
                <a:ea typeface="Microsoft YaHei"/>
              </a:rPr>
              <a:t>未毕业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legend-p0c-dot"/>
          <p:cNvSpPr/>
          <p:nvPr/>
        </p:nvSpPr>
        <p:spPr>
          <a:xfrm>
            <a:off x="812880" y="4495680"/>
            <a:ext cx="101160" cy="101160"/>
          </a:xfrm>
          <a:prstGeom prst="ellipse">
            <a:avLst/>
          </a:prstGeom>
          <a:solidFill>
            <a:srgbClr val="8B94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legend-p0c"/>
          <p:cNvSpPr/>
          <p:nvPr/>
        </p:nvSpPr>
        <p:spPr>
          <a:xfrm>
            <a:off x="1015920" y="4444920"/>
            <a:ext cx="23364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0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P0c </a:t>
            </a:r>
            <a:r>
              <a:rPr lang="zh-CN" sz="10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模拟提交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未毕业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p0a-card"/>
          <p:cNvSpPr/>
          <p:nvPr/>
        </p:nvSpPr>
        <p:spPr>
          <a:xfrm>
            <a:off x="3759120" y="1320840"/>
            <a:ext cx="7619760" cy="1422000"/>
          </a:xfrm>
          <a:prstGeom prst="roundRect">
            <a:avLst>
              <a:gd name="adj" fmla="val 5000"/>
            </a:avLst>
          </a:prstGeom>
          <a:solidFill>
            <a:srgbClr val="22D3EE">
              <a:alpha val="8000"/>
            </a:srgbClr>
          </a:solidFill>
          <a:ln w="127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0a-header"/>
          <p:cNvSpPr/>
          <p:nvPr/>
        </p:nvSpPr>
        <p:spPr>
          <a:xfrm>
            <a:off x="3911760" y="1422360"/>
            <a:ext cx="533376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P0a Replay Decision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　</a:t>
            </a:r>
            <a:r>
              <a:rPr lang="en-US" sz="900" b="1" u="none" strike="noStrike">
                <a:solidFill>
                  <a:srgbClr val="34D399"/>
                </a:solidFill>
                <a:effectLst/>
                <a:uFillTx/>
                <a:latin typeface="Arial"/>
                <a:ea typeface="Microsoft YaHei"/>
              </a:rPr>
              <a:t>● 已毕业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p0a-have"/>
          <p:cNvSpPr/>
          <p:nvPr/>
        </p:nvSpPr>
        <p:spPr>
          <a:xfrm>
            <a:off x="3911760" y="1905120"/>
            <a:ext cx="36064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</a:pPr>
            <a:r>
              <a:rPr lang="zh-CN" sz="11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已有资产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端到端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Replay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跑通（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2026-08-12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）：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NO_TRADE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决策卡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+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审计链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7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条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p0a-miss"/>
          <p:cNvSpPr/>
          <p:nvPr/>
        </p:nvSpPr>
        <p:spPr>
          <a:xfrm>
            <a:off x="7670880" y="1905120"/>
            <a:ext cx="35557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</a:pPr>
            <a:r>
              <a:rPr lang="zh-CN" sz="11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尚缺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无 —— 本切片已毕业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p0b-card"/>
          <p:cNvSpPr/>
          <p:nvPr/>
        </p:nvSpPr>
        <p:spPr>
          <a:xfrm>
            <a:off x="3759120" y="2844720"/>
            <a:ext cx="3733560" cy="195552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p0b-content"/>
          <p:cNvSpPr/>
          <p:nvPr/>
        </p:nvSpPr>
        <p:spPr>
          <a:xfrm>
            <a:off x="3911760" y="2921040"/>
            <a:ext cx="3428640" cy="17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</a:pP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P0b Live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只读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　</a:t>
            </a:r>
            <a:r>
              <a:rPr lang="en-US" sz="900" b="0" u="none" strike="noStrike">
                <a:solidFill>
                  <a:srgbClr val="F59E0B"/>
                </a:solidFill>
                <a:effectLst/>
                <a:uFillTx/>
                <a:latin typeface="Arial"/>
                <a:ea typeface="Microsoft YaHei"/>
              </a:rPr>
              <a:t>● 未毕业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zh-CN" sz="11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已有资产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　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OpenD health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已验证（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2026-08-12 02:36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）：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ready=true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，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qot/trd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已登录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zh-CN" sz="11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尚缺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　完整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Live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决策链路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+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新鲜度验收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health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复验未查询账户、订阅或交易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p0c-card"/>
          <p:cNvSpPr/>
          <p:nvPr/>
        </p:nvSpPr>
        <p:spPr>
          <a:xfrm>
            <a:off x="7645320" y="2844720"/>
            <a:ext cx="3733560" cy="195552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p0c-content"/>
          <p:cNvSpPr/>
          <p:nvPr/>
        </p:nvSpPr>
        <p:spPr>
          <a:xfrm>
            <a:off x="7670880" y="2921040"/>
            <a:ext cx="3428640" cy="172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P0c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模拟提交</a:t>
            </a:r>
            <a:r>
              <a:rPr lang="zh-CN" sz="105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　</a:t>
            </a: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● 未毕业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zh-CN" sz="105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已有资产</a:t>
            </a:r>
            <a:r>
              <a:rPr lang="zh-CN" sz="105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　无发布级资产；旧模拟单 </a:t>
            </a:r>
            <a:r>
              <a:rPr lang="en-US" sz="105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= </a:t>
            </a:r>
            <a:r>
              <a:rPr lang="en-US" sz="1050" b="0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LEGACY_PROTOTYPE</a:t>
            </a:r>
            <a:r>
              <a:rPr lang="zh-CN" sz="105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（非发布证据）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zh-CN" sz="105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尚缺</a:t>
            </a:r>
            <a:r>
              <a:rPr lang="zh-CN" sz="105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　独立确认、幂等、异常接管与新模拟证据均未验证；不宣称已稳定提交模拟盘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旧单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2026-08-08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状态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SUBMITTED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；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2026-08-12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起不再跟单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quote-bar"/>
          <p:cNvSpPr/>
          <p:nvPr/>
        </p:nvSpPr>
        <p:spPr>
          <a:xfrm>
            <a:off x="812880" y="4876920"/>
            <a:ext cx="10566000" cy="507600"/>
          </a:xfrm>
          <a:prstGeom prst="roundRect">
            <a:avLst>
              <a:gd name="adj" fmla="val 5000"/>
            </a:avLst>
          </a:prstGeom>
          <a:solidFill>
            <a:srgbClr val="22D3EE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quote-rail"/>
          <p:cNvSpPr/>
          <p:nvPr/>
        </p:nvSpPr>
        <p:spPr>
          <a:xfrm>
            <a:off x="812880" y="4876920"/>
            <a:ext cx="37800" cy="50760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quote-prompt"/>
          <p:cNvSpPr/>
          <p:nvPr/>
        </p:nvSpPr>
        <p:spPr>
          <a:xfrm>
            <a:off x="965160" y="4876920"/>
            <a:ext cx="20268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quote-text"/>
          <p:cNvSpPr/>
          <p:nvPr/>
        </p:nvSpPr>
        <p:spPr>
          <a:xfrm>
            <a:off x="1219320" y="4876920"/>
            <a:ext cx="1015956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14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切片只认验证状态：跑通多少，就声称多少。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summary-bar"/>
          <p:cNvSpPr/>
          <p:nvPr/>
        </p:nvSpPr>
        <p:spPr>
          <a:xfrm>
            <a:off x="812880" y="5537160"/>
            <a:ext cx="10566000" cy="60912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summary-cap"/>
          <p:cNvSpPr/>
          <p:nvPr/>
        </p:nvSpPr>
        <p:spPr>
          <a:xfrm>
            <a:off x="990720" y="5537160"/>
            <a:ext cx="5583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9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结论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summary-text"/>
          <p:cNvSpPr/>
          <p:nvPr/>
        </p:nvSpPr>
        <p:spPr>
          <a:xfrm>
            <a:off x="1650960" y="5537160"/>
            <a:ext cx="972792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50000"/>
              </a:lnSpc>
            </a:pP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对外只宣传最高已验证切片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P0a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Replay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；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P0b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/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Consolas"/>
              </a:rPr>
              <a:t>P0c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未毕业，如实标注。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footer-line"/>
          <p:cNvSpPr/>
          <p:nvPr/>
        </p:nvSpPr>
        <p:spPr>
          <a:xfrm>
            <a:off x="812880" y="650232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cap="rnd"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footer-left"/>
          <p:cNvSpPr/>
          <p:nvPr/>
        </p:nvSpPr>
        <p:spPr>
          <a:xfrm>
            <a:off x="812880" y="6578640"/>
            <a:ext cx="81277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来源</a:t>
            </a: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: facts.md §8 · docs/PRD.md §2.2 · PROJECT_STATE.md §5.5 · 2026-08-12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footer-right"/>
          <p:cNvSpPr/>
          <p:nvPr/>
        </p:nvSpPr>
        <p:spPr>
          <a:xfrm>
            <a:off x="9398160" y="6578640"/>
            <a:ext cx="198072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13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455" dur="indefinite" restart="never" nodeType="tmRoot">
          <p:childTnLst>
            <p:seq>
              <p:cTn id="456" dur="indefinite" nodeType="mainSeq">
                <p:childTnLst>
                  <p:par>
                    <p:cTn id="457" fill="hold">
                      <p:stCondLst>
                        <p:cond delay="0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61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64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67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70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1" fill="hold">
                      <p:stCondLst>
                        <p:cond delay="indefinite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23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75" dur="5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6" dur="5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7" dur="5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78" dur="500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9" presetID="23" presetClass="entr" fill="hold" nodeType="with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81" dur="5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2" dur="5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3" dur="5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4" dur="5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5" presetID="23" presetClass="entr" fill="hold" nodeType="with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87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8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89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90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1" presetID="23" presetClass="entr" fill="hold" nodeType="with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93" dur="500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94" dur="500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95" dur="500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96" dur="500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7" fill="hold">
                      <p:stCondLst>
                        <p:cond delay="indefinite"/>
                      </p:stCondLst>
                      <p:childTnLst>
                        <p:par>
                          <p:cTn id="498" fill="hold">
                            <p:stCondLst>
                              <p:cond delay="0"/>
                            </p:stCondLst>
                            <p:childTnLst>
                              <p:par>
                                <p:cTn id="499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501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2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504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5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507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8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510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tick"/>
          <p:cNvSpPr/>
          <p:nvPr/>
        </p:nvSpPr>
        <p:spPr>
          <a:xfrm>
            <a:off x="812880" y="355680"/>
            <a:ext cx="37800" cy="27900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eyebrow"/>
          <p:cNvSpPr/>
          <p:nvPr/>
        </p:nvSpPr>
        <p:spPr>
          <a:xfrm>
            <a:off x="990720" y="330120"/>
            <a:ext cx="380952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9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14 · BACKTEST EVIDENCE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itle"/>
          <p:cNvSpPr/>
          <p:nvPr/>
        </p:nvSpPr>
        <p:spPr>
          <a:xfrm>
            <a:off x="990720" y="558720"/>
            <a:ext cx="888948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回测负期望成立：口径可解释、证据可溯源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subtitle"/>
          <p:cNvSpPr/>
          <p:nvPr/>
        </p:nvSpPr>
        <p:spPr>
          <a:xfrm>
            <a:off x="990720" y="914400"/>
            <a:ext cx="88894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口径 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A/B d+2 </a:t>
            </a: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平均 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ROI </a:t>
            </a: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对比 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· PRD §9 </a:t>
            </a: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验收指标 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· 4 </a:t>
            </a: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条回测 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caveats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statusbar"/>
          <p:cNvSpPr/>
          <p:nvPr/>
        </p:nvSpPr>
        <p:spPr>
          <a:xfrm>
            <a:off x="7873920" y="279360"/>
            <a:ext cx="350496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20000"/>
              </a:lnSpc>
            </a:pPr>
            <a:r>
              <a:rPr lang="en-US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GOAI · TERMINAL — </a:t>
            </a:r>
            <a:r>
              <a:rPr lang="zh-CN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初赛评审  </a:t>
            </a:r>
            <a:r>
              <a:rPr lang="en-US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14/16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hairline-head"/>
          <p:cNvSpPr/>
          <p:nvPr/>
        </p:nvSpPr>
        <p:spPr>
          <a:xfrm>
            <a:off x="812880" y="11685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1"/>
                </a:moveTo>
                <a:lnTo>
                  <a:pt x="832" y="1"/>
                </a:lnTo>
              </a:path>
            </a:pathLst>
          </a:custGeom>
          <a:noFill/>
          <a:ln cap="rnd"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card-chart"/>
          <p:cNvSpPr/>
          <p:nvPr/>
        </p:nvSpPr>
        <p:spPr>
          <a:xfrm>
            <a:off x="812880" y="1320840"/>
            <a:ext cx="5079600" cy="340308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card-chart-title"/>
          <p:cNvSpPr/>
          <p:nvPr/>
        </p:nvSpPr>
        <p:spPr>
          <a:xfrm>
            <a:off x="965160" y="1447920"/>
            <a:ext cx="4774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d+2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平均 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ROI ·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口径 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A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（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engine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）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vs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口径 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B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（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proxy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）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9" name="roi-chart"/>
          <p:cNvPicPr/>
          <p:nvPr/>
        </p:nvPicPr>
        <p:blipFill>
          <a:blip r:embed="rId1"/>
          <a:srcRect l="0" t="-46" r="0" b="-46"/>
          <a:stretch/>
        </p:blipFill>
        <p:spPr>
          <a:xfrm>
            <a:off x="965160" y="1752480"/>
            <a:ext cx="4774680" cy="236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0" name="chart-caption"/>
          <p:cNvSpPr/>
          <p:nvPr/>
        </p:nvSpPr>
        <p:spPr>
          <a:xfrm>
            <a:off x="965160" y="4165560"/>
            <a:ext cx="47746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口径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A d+2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平均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-7.8%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（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n=11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）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口径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B d+2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平均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-47.5%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（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n=19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）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chart-note"/>
          <p:cNvSpPr/>
          <p:nvPr/>
        </p:nvSpPr>
        <p:spPr>
          <a:xfrm>
            <a:off x="965160" y="4368960"/>
            <a:ext cx="4774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来源</a:t>
            </a: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: data/backtest_tencent_straddle.json · </a:t>
            </a: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口径</a:t>
            </a: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: src/backtest_tencent_straddle.py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able-title"/>
          <p:cNvSpPr/>
          <p:nvPr/>
        </p:nvSpPr>
        <p:spPr>
          <a:xfrm>
            <a:off x="6095880" y="1371600"/>
            <a:ext cx="52830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PRD §9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验收指标（目标值）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63" name="metrics-table"/>
          <p:cNvGraphicFramePr/>
          <p:nvPr/>
        </p:nvGraphicFramePr>
        <p:xfrm>
          <a:off x="6095880" y="1625760"/>
          <a:ext cx="5283000" cy="1557360"/>
        </p:xfrm>
        <a:graphic>
          <a:graphicData uri="http://schemas.openxmlformats.org/drawingml/2006/table">
            <a:tbl>
              <a:tblPr/>
              <a:tblGrid>
                <a:gridCol w="2218680"/>
                <a:gridCol w="2113200"/>
                <a:gridCol w="950760"/>
              </a:tblGrid>
              <a:tr h="2354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验收指标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22D3EE"/>
                      </a:solidFill>
                      <a:prstDash val="soli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目标值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22D3EE"/>
                      </a:solidFill>
                      <a:prstDash val="soli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切片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22D3EE"/>
                      </a:solidFill>
                      <a:prstDash val="solid"/>
                    </a:lnB>
                    <a:solidFill>
                      <a:srgbClr val="10161F"/>
                    </a:solidFill>
                  </a:tcPr>
                </a:tc>
              </a:tr>
              <a:tr h="247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关键数字与事实溯源率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100%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P0a+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</a:tr>
              <a:tr h="247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Replay </a:t>
                      </a: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稳定性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连续 </a:t>
                      </a:r>
                      <a:r>
                        <a:rPr lang="en-US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10 </a:t>
                      </a:r>
                      <a:r>
                        <a:rPr lang="zh-CN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次一致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P0a+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</a:tr>
              <a:tr h="247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风控</a:t>
                      </a:r>
                      <a:r>
                        <a:rPr lang="en-US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/</a:t>
                      </a: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动作泄漏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0 </a:t>
                      </a:r>
                      <a:r>
                        <a:rPr lang="zh-CN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次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全部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</a:tr>
              <a:tr h="247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场景字段解析准确率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≥ 95%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P0a+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1F2937"/>
                      </a:solidFill>
                      <a:prstDash val="solid"/>
                    </a:lnB>
                    <a:noFill/>
                  </a:tcPr>
                </a:tc>
              </a:tr>
              <a:tr h="2473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100" b="1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能力声明真实性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1F2937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不超最高切片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1F2937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sz="1100" b="0" u="none" strike="noStrike">
                          <a:solidFill>
                            <a:srgbClr val="E6EDF3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全部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1F2937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64" name="caveats-card"/>
          <p:cNvSpPr/>
          <p:nvPr/>
        </p:nvSpPr>
        <p:spPr>
          <a:xfrm>
            <a:off x="6095880" y="3200400"/>
            <a:ext cx="5283000" cy="152352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caveats-title"/>
          <p:cNvSpPr/>
          <p:nvPr/>
        </p:nvSpPr>
        <p:spPr>
          <a:xfrm>
            <a:off x="6248520" y="3301920"/>
            <a:ext cx="497808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回测 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caveats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（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4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条）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caveats-items"/>
          <p:cNvSpPr/>
          <p:nvPr/>
        </p:nvSpPr>
        <p:spPr>
          <a:xfrm>
            <a:off x="6248520" y="3581280"/>
            <a:ext cx="497808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</a:pPr>
            <a:r>
              <a:rPr lang="en-US" sz="11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01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历史期权链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bid/ask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不可得，成本按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IV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定价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+ 5%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滑点近似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1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02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平仓按到期内在价值，忽略剩余时间价值（偏保守或偏乐观）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1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03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样本仅单标的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11~19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个财报期，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t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统计量仅供量级参考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1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04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当前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2026/Q2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为在途模拟订单，属于样本外前瞻验证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quote-panel"/>
          <p:cNvSpPr/>
          <p:nvPr/>
        </p:nvSpPr>
        <p:spPr>
          <a:xfrm>
            <a:off x="812880" y="4876920"/>
            <a:ext cx="10566000" cy="507600"/>
          </a:xfrm>
          <a:prstGeom prst="roundRect">
            <a:avLst>
              <a:gd name="adj" fmla="val 5000"/>
            </a:avLst>
          </a:prstGeom>
          <a:solidFill>
            <a:srgbClr val="22D3EE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quote-rail"/>
          <p:cNvSpPr/>
          <p:nvPr/>
        </p:nvSpPr>
        <p:spPr>
          <a:xfrm>
            <a:off x="812880" y="4876920"/>
            <a:ext cx="37800" cy="50760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quote-prompt"/>
          <p:cNvSpPr/>
          <p:nvPr/>
        </p:nvSpPr>
        <p:spPr>
          <a:xfrm>
            <a:off x="914400" y="4876920"/>
            <a:ext cx="30456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quote-text"/>
          <p:cNvSpPr/>
          <p:nvPr/>
        </p:nvSpPr>
        <p:spPr>
          <a:xfrm>
            <a:off x="1219320" y="4876920"/>
            <a:ext cx="1000728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14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证据的价值不在结论好坏，而在别人能否重新算出同一个数。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summary-panel"/>
          <p:cNvSpPr/>
          <p:nvPr/>
        </p:nvSpPr>
        <p:spPr>
          <a:xfrm>
            <a:off x="812880" y="5537160"/>
            <a:ext cx="10566000" cy="60912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summary-cap"/>
          <p:cNvSpPr/>
          <p:nvPr/>
        </p:nvSpPr>
        <p:spPr>
          <a:xfrm>
            <a:off x="990720" y="5537160"/>
            <a:ext cx="5583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9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结论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summary-body"/>
          <p:cNvSpPr/>
          <p:nvPr/>
        </p:nvSpPr>
        <p:spPr>
          <a:xfrm>
            <a:off x="1650960" y="5537160"/>
            <a:ext cx="957528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50000"/>
              </a:lnSpc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P0a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已跑通：两口径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d+2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一致为负，关键数字溯源率 </a:t>
            </a:r>
            <a:r>
              <a:rPr lang="en-US" sz="1100" b="0" u="none" strike="noStrike">
                <a:solidFill>
                  <a:srgbClr val="22D3EE"/>
                </a:solidFill>
                <a:effectLst/>
                <a:uFillTx/>
                <a:latin typeface="Arial"/>
                <a:ea typeface="Microsoft YaHei"/>
              </a:rPr>
              <a:t>100%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，审计链完整。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hairline-foot"/>
          <p:cNvSpPr/>
          <p:nvPr/>
        </p:nvSpPr>
        <p:spPr>
          <a:xfrm>
            <a:off x="812880" y="650232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1"/>
                </a:moveTo>
                <a:lnTo>
                  <a:pt x="832" y="1"/>
                </a:lnTo>
              </a:path>
            </a:pathLst>
          </a:custGeom>
          <a:noFill/>
          <a:ln cap="rnd"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footer-source"/>
          <p:cNvSpPr/>
          <p:nvPr/>
        </p:nvSpPr>
        <p:spPr>
          <a:xfrm>
            <a:off x="812880" y="6578640"/>
            <a:ext cx="66034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来源</a:t>
            </a: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: data/backtest_tencent_straddle.json · docs/PRD.md §9 · 2026-08-12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footer-page"/>
          <p:cNvSpPr/>
          <p:nvPr/>
        </p:nvSpPr>
        <p:spPr>
          <a:xfrm>
            <a:off x="10363320" y="6578640"/>
            <a:ext cx="10155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20000"/>
              </a:lnSpc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14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511" dur="indefinite" restart="never" nodeType="tmRoot">
          <p:childTnLst>
            <p:seq>
              <p:cTn id="512" dur="indefinite" nodeType="mainSeq">
                <p:childTnLst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17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20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23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26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7" fill="hold">
                      <p:stCondLst>
                        <p:cond delay="indefinite"/>
                      </p:stCondLst>
                      <p:childTnLst>
                        <p:par>
                          <p:cTn id="528" fill="hold">
                            <p:stCondLst>
                              <p:cond delay="0"/>
                            </p:stCondLst>
                            <p:childTnLst>
                              <p:par>
                                <p:cTn id="529" presetID="23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31" dur="500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32" dur="500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33" dur="500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34" dur="500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37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40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1" fill="hold">
                      <p:stCondLst>
                        <p:cond delay="indefinite"/>
                      </p:stCondLst>
                      <p:childTnLst>
                        <p:par>
                          <p:cTn id="542" fill="hold">
                            <p:stCondLst>
                              <p:cond delay="0"/>
                            </p:stCondLst>
                            <p:childTnLst>
                              <p:par>
                                <p:cTn id="543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545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6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548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51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tick"/>
          <p:cNvSpPr/>
          <p:nvPr/>
        </p:nvSpPr>
        <p:spPr>
          <a:xfrm>
            <a:off x="812880" y="355680"/>
            <a:ext cx="37800" cy="27900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eyebrow"/>
          <p:cNvSpPr/>
          <p:nvPr/>
        </p:nvSpPr>
        <p:spPr>
          <a:xfrm>
            <a:off x="990720" y="330120"/>
            <a:ext cx="50796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9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15 · TEAM &amp; TIMELINE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itle"/>
          <p:cNvSpPr/>
          <p:nvPr/>
        </p:nvSpPr>
        <p:spPr>
          <a:xfrm>
            <a:off x="990720" y="558720"/>
            <a:ext cx="1038816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3 </a:t>
            </a:r>
            <a:r>
              <a:rPr lang="zh-CN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人分工守住工程</a:t>
            </a:r>
            <a:r>
              <a:rPr lang="en-US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·</a:t>
            </a:r>
            <a:r>
              <a:rPr lang="zh-CN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策略</a:t>
            </a:r>
            <a:r>
              <a:rPr lang="en-US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·</a:t>
            </a:r>
            <a:r>
              <a:rPr lang="zh-CN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合规三线，按节点推进至杭州决赛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subtitle"/>
          <p:cNvSpPr/>
          <p:nvPr/>
        </p:nvSpPr>
        <p:spPr>
          <a:xfrm>
            <a:off x="990720" y="914400"/>
            <a:ext cx="103881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团队构成与 </a:t>
            </a:r>
            <a:r>
              <a:rPr lang="en-US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2026 </a:t>
            </a:r>
            <a:r>
              <a:rPr lang="zh-CN" sz="12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赛事时间线：分工、里程碑与交付口径（北京时间）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header-line"/>
          <p:cNvSpPr/>
          <p:nvPr/>
        </p:nvSpPr>
        <p:spPr>
          <a:xfrm>
            <a:off x="812880" y="116856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1"/>
                </a:moveTo>
                <a:lnTo>
                  <a:pt x="832" y="1"/>
                </a:lnTo>
              </a:path>
            </a:pathLst>
          </a:custGeom>
          <a:noFill/>
          <a:ln cap="rnd"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statusbar"/>
          <p:cNvSpPr/>
          <p:nvPr/>
        </p:nvSpPr>
        <p:spPr>
          <a:xfrm>
            <a:off x="8559720" y="279360"/>
            <a:ext cx="28191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GOAI · TERMINAL — </a:t>
            </a:r>
            <a:r>
              <a:rPr lang="zh-CN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初赛评审   </a:t>
            </a:r>
            <a:r>
              <a:rPr lang="en-US" sz="800" b="0" u="none" spc="201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15/16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axis"/>
          <p:cNvSpPr/>
          <p:nvPr/>
        </p:nvSpPr>
        <p:spPr>
          <a:xfrm>
            <a:off x="812880" y="2209680"/>
            <a:ext cx="10566000" cy="5040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50400"/>
              <a:gd name="textAreaBottom" fmla="*/ 50760 h 50400"/>
            </a:gdLst>
            <a:ahLst/>
            <a:cxnLst/>
            <a:rect l="textAreaLeft" t="textAreaTop" r="textAreaRight" b="textAreaBottom"/>
            <a:pathLst>
              <a:path w="832" h="4">
                <a:moveTo>
                  <a:pt x="0" y="2"/>
                </a:moveTo>
                <a:lnTo>
                  <a:pt x="832" y="2"/>
                </a:lnTo>
              </a:path>
            </a:pathLst>
          </a:custGeom>
          <a:noFill/>
          <a:ln cap="rnd"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5760" rIns="90000" bIns="5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year-label"/>
          <p:cNvSpPr/>
          <p:nvPr/>
        </p:nvSpPr>
        <p:spPr>
          <a:xfrm>
            <a:off x="812880" y="1676520"/>
            <a:ext cx="63468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en-US" sz="11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2026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n1-date"/>
          <p:cNvSpPr/>
          <p:nvPr/>
        </p:nvSpPr>
        <p:spPr>
          <a:xfrm>
            <a:off x="1625760" y="1676520"/>
            <a:ext cx="10155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08.16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n2-date"/>
          <p:cNvSpPr/>
          <p:nvPr/>
        </p:nvSpPr>
        <p:spPr>
          <a:xfrm>
            <a:off x="4267080" y="1676520"/>
            <a:ext cx="10155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08.24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n3-date"/>
          <p:cNvSpPr/>
          <p:nvPr/>
        </p:nvSpPr>
        <p:spPr>
          <a:xfrm>
            <a:off x="6908760" y="1676520"/>
            <a:ext cx="10155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09.10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n4-date"/>
          <p:cNvSpPr/>
          <p:nvPr/>
        </p:nvSpPr>
        <p:spPr>
          <a:xfrm>
            <a:off x="9550440" y="1676520"/>
            <a:ext cx="101556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Consolas"/>
                <a:ea typeface="Microsoft YaHei"/>
              </a:rPr>
              <a:t>09.22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n1-dot"/>
          <p:cNvSpPr/>
          <p:nvPr/>
        </p:nvSpPr>
        <p:spPr>
          <a:xfrm>
            <a:off x="2082960" y="2184480"/>
            <a:ext cx="101160" cy="101160"/>
          </a:xfrm>
          <a:prstGeom prst="ellipse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n2-dot"/>
          <p:cNvSpPr/>
          <p:nvPr/>
        </p:nvSpPr>
        <p:spPr>
          <a:xfrm>
            <a:off x="4724280" y="2184480"/>
            <a:ext cx="101160" cy="101160"/>
          </a:xfrm>
          <a:prstGeom prst="ellipse">
            <a:avLst/>
          </a:prstGeom>
          <a:solidFill>
            <a:srgbClr val="8B94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n3-dot"/>
          <p:cNvSpPr/>
          <p:nvPr/>
        </p:nvSpPr>
        <p:spPr>
          <a:xfrm>
            <a:off x="7365960" y="2184480"/>
            <a:ext cx="101160" cy="101160"/>
          </a:xfrm>
          <a:prstGeom prst="ellipse">
            <a:avLst/>
          </a:prstGeom>
          <a:solidFill>
            <a:srgbClr val="8B94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n4-dot"/>
          <p:cNvSpPr/>
          <p:nvPr/>
        </p:nvSpPr>
        <p:spPr>
          <a:xfrm>
            <a:off x="10007640" y="2184480"/>
            <a:ext cx="101160" cy="101160"/>
          </a:xfrm>
          <a:prstGeom prst="donut">
            <a:avLst>
              <a:gd name="adj" fmla="val 25000"/>
            </a:avLst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n1-text"/>
          <p:cNvSpPr/>
          <p:nvPr/>
        </p:nvSpPr>
        <p:spPr>
          <a:xfrm>
            <a:off x="990720" y="2387520"/>
            <a:ext cx="228564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35000"/>
              </a:lnSpc>
            </a:pP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初赛提交截止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35000"/>
              </a:lnSpc>
              <a:spcBef>
                <a:spcPts val="201"/>
              </a:spcBef>
            </a:pP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简介约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500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字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+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方案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PPT/PDF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n2-text"/>
          <p:cNvSpPr/>
          <p:nvPr/>
        </p:nvSpPr>
        <p:spPr>
          <a:xfrm>
            <a:off x="3632040" y="2387520"/>
            <a:ext cx="228564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35000"/>
              </a:lnSpc>
            </a:pP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复赛名单公布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35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Top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30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n3-text"/>
          <p:cNvSpPr/>
          <p:nvPr/>
        </p:nvSpPr>
        <p:spPr>
          <a:xfrm>
            <a:off x="6273720" y="2387520"/>
            <a:ext cx="228564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35000"/>
              </a:lnSpc>
            </a:pP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决赛名单公布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35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Top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15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n4-text"/>
          <p:cNvSpPr/>
          <p:nvPr/>
        </p:nvSpPr>
        <p:spPr>
          <a:xfrm>
            <a:off x="8915400" y="2387520"/>
            <a:ext cx="228564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35000"/>
              </a:lnSpc>
            </a:pP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杭州线下决赛答辩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35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9.23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 GOAI DAY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颁奖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card-a"/>
          <p:cNvSpPr/>
          <p:nvPr/>
        </p:nvSpPr>
        <p:spPr>
          <a:xfrm>
            <a:off x="812880" y="3048120"/>
            <a:ext cx="3377880" cy="167616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card-a-num"/>
          <p:cNvSpPr/>
          <p:nvPr/>
        </p:nvSpPr>
        <p:spPr>
          <a:xfrm>
            <a:off x="965160" y="3174840"/>
            <a:ext cx="5076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9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A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card-a-role"/>
          <p:cNvSpPr/>
          <p:nvPr/>
        </p:nvSpPr>
        <p:spPr>
          <a:xfrm>
            <a:off x="965160" y="3378240"/>
            <a:ext cx="3072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多 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Agent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工程与量化研究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card-a-duty"/>
          <p:cNvSpPr/>
          <p:nvPr/>
        </p:nvSpPr>
        <p:spPr>
          <a:xfrm>
            <a:off x="965160" y="3657600"/>
            <a:ext cx="307296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</a:pP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数据层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/ Agent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架构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/ Demo / PPT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card-a-line"/>
          <p:cNvSpPr/>
          <p:nvPr/>
        </p:nvSpPr>
        <p:spPr>
          <a:xfrm>
            <a:off x="965160" y="3975120"/>
            <a:ext cx="3072960" cy="12240"/>
          </a:xfrm>
          <a:custGeom>
            <a:avLst/>
            <a:gdLst>
              <a:gd name="textAreaLeft" fmla="*/ 0 w 3072960"/>
              <a:gd name="textAreaRight" fmla="*/ 3073320 w 307296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242" h="1">
                <a:moveTo>
                  <a:pt x="0" y="1"/>
                </a:moveTo>
                <a:lnTo>
                  <a:pt x="242" y="1"/>
                </a:lnTo>
              </a:path>
            </a:pathLst>
          </a:custGeom>
          <a:noFill/>
          <a:ln cap="rnd"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card-a-assets"/>
          <p:cNvSpPr/>
          <p:nvPr/>
        </p:nvSpPr>
        <p:spPr>
          <a:xfrm>
            <a:off x="965160" y="4076640"/>
            <a:ext cx="307296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沉淀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: futu-options-agent Skill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、自研定价引擎与回测流水线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card-b"/>
          <p:cNvSpPr/>
          <p:nvPr/>
        </p:nvSpPr>
        <p:spPr>
          <a:xfrm>
            <a:off x="4406760" y="3048120"/>
            <a:ext cx="3377880" cy="167616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card-b-num"/>
          <p:cNvSpPr/>
          <p:nvPr/>
        </p:nvSpPr>
        <p:spPr>
          <a:xfrm>
            <a:off x="4559400" y="3174840"/>
            <a:ext cx="5076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9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B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card-b-role"/>
          <p:cNvSpPr/>
          <p:nvPr/>
        </p:nvSpPr>
        <p:spPr>
          <a:xfrm>
            <a:off x="4559400" y="3378240"/>
            <a:ext cx="3072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港美股期权策略 </a:t>
            </a:r>
            <a:r>
              <a:rPr lang="en-US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· </a:t>
            </a: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方向发起人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card-b-duty"/>
          <p:cNvSpPr/>
          <p:nvPr/>
        </p:nvSpPr>
        <p:spPr>
          <a:xfrm>
            <a:off x="4559400" y="3657600"/>
            <a:ext cx="307296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</a:pP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策略规则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/ Greeks·IV /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场景与市场知识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card-b-line"/>
          <p:cNvSpPr/>
          <p:nvPr/>
        </p:nvSpPr>
        <p:spPr>
          <a:xfrm>
            <a:off x="4559400" y="3975120"/>
            <a:ext cx="3072960" cy="12240"/>
          </a:xfrm>
          <a:custGeom>
            <a:avLst/>
            <a:gdLst>
              <a:gd name="textAreaLeft" fmla="*/ 0 w 3072960"/>
              <a:gd name="textAreaRight" fmla="*/ 3073320 w 307296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242" h="1">
                <a:moveTo>
                  <a:pt x="0" y="1"/>
                </a:moveTo>
                <a:lnTo>
                  <a:pt x="242" y="1"/>
                </a:lnTo>
              </a:path>
            </a:pathLst>
          </a:custGeom>
          <a:noFill/>
          <a:ln cap="rnd"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card-b-assets"/>
          <p:cNvSpPr/>
          <p:nvPr/>
        </p:nvSpPr>
        <p:spPr>
          <a:xfrm>
            <a:off x="4559400" y="4076640"/>
            <a:ext cx="307296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沉淀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: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跨式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Hero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用例规则集、港美股差异清单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card-c"/>
          <p:cNvSpPr/>
          <p:nvPr/>
        </p:nvSpPr>
        <p:spPr>
          <a:xfrm>
            <a:off x="8001000" y="3048120"/>
            <a:ext cx="3377880" cy="167616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card-c-num"/>
          <p:cNvSpPr/>
          <p:nvPr/>
        </p:nvSpPr>
        <p:spPr>
          <a:xfrm>
            <a:off x="8153280" y="3174840"/>
            <a:ext cx="50760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en-US" sz="9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C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card-c-role"/>
          <p:cNvSpPr/>
          <p:nvPr/>
        </p:nvSpPr>
        <p:spPr>
          <a:xfrm>
            <a:off x="8153280" y="3378240"/>
            <a:ext cx="3072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13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网络安全与合规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card-c-duty"/>
          <p:cNvSpPr/>
          <p:nvPr/>
        </p:nvSpPr>
        <p:spPr>
          <a:xfrm>
            <a:off x="8153280" y="3657600"/>
            <a:ext cx="307296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50000"/>
              </a:lnSpc>
            </a:pP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合规审计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/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数据授权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/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防注入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·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密钥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·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审计链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card-c-line"/>
          <p:cNvSpPr/>
          <p:nvPr/>
        </p:nvSpPr>
        <p:spPr>
          <a:xfrm>
            <a:off x="8153280" y="3975120"/>
            <a:ext cx="3072960" cy="12240"/>
          </a:xfrm>
          <a:custGeom>
            <a:avLst/>
            <a:gdLst>
              <a:gd name="textAreaLeft" fmla="*/ 0 w 3072960"/>
              <a:gd name="textAreaRight" fmla="*/ 3073320 w 307296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242" h="1">
                <a:moveTo>
                  <a:pt x="0" y="1"/>
                </a:moveTo>
                <a:lnTo>
                  <a:pt x="242" y="1"/>
                </a:lnTo>
              </a:path>
            </a:pathLst>
          </a:custGeom>
          <a:noFill/>
          <a:ln cap="rnd"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card-c-assets"/>
          <p:cNvSpPr/>
          <p:nvPr/>
        </p:nvSpPr>
        <p:spPr>
          <a:xfrm>
            <a:off x="8153280" y="4076640"/>
            <a:ext cx="3072960" cy="55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40000"/>
              </a:lnSpc>
            </a:pP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沉淀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: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审计日志与脱敏规范、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SFC/HKEX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边界清单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quote-bg"/>
          <p:cNvSpPr/>
          <p:nvPr/>
        </p:nvSpPr>
        <p:spPr>
          <a:xfrm>
            <a:off x="812880" y="4876920"/>
            <a:ext cx="10566000" cy="507600"/>
          </a:xfrm>
          <a:prstGeom prst="roundRect">
            <a:avLst>
              <a:gd name="adj" fmla="val 5000"/>
            </a:avLst>
          </a:prstGeom>
          <a:solidFill>
            <a:srgbClr val="22D3EE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quote-bar"/>
          <p:cNvSpPr/>
          <p:nvPr/>
        </p:nvSpPr>
        <p:spPr>
          <a:xfrm>
            <a:off x="812880" y="4876920"/>
            <a:ext cx="37800" cy="507600"/>
          </a:xfrm>
          <a:prstGeom prst="rect">
            <a:avLst/>
          </a:prstGeom>
          <a:solidFill>
            <a:srgbClr val="22D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quote-caret"/>
          <p:cNvSpPr/>
          <p:nvPr/>
        </p:nvSpPr>
        <p:spPr>
          <a:xfrm>
            <a:off x="965160" y="4876920"/>
            <a:ext cx="20268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quote-text"/>
          <p:cNvSpPr/>
          <p:nvPr/>
        </p:nvSpPr>
        <p:spPr>
          <a:xfrm>
            <a:off x="1219320" y="4876920"/>
            <a:ext cx="1000728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14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三人三道闸门：</a:t>
            </a: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A </a:t>
            </a:r>
            <a:r>
              <a:rPr lang="zh-CN" sz="14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出引擎，</a:t>
            </a: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B </a:t>
            </a:r>
            <a:r>
              <a:rPr lang="zh-CN" sz="14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定策略，</a:t>
            </a:r>
            <a:r>
              <a:rPr lang="en-US" sz="14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C </a:t>
            </a:r>
            <a:r>
              <a:rPr lang="zh-CN" sz="14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守合规，每个数字可溯源。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summary-bg"/>
          <p:cNvSpPr/>
          <p:nvPr/>
        </p:nvSpPr>
        <p:spPr>
          <a:xfrm>
            <a:off x="812880" y="5537160"/>
            <a:ext cx="10566000" cy="609120"/>
          </a:xfrm>
          <a:prstGeom prst="roundRect">
            <a:avLst>
              <a:gd name="adj" fmla="val 5000"/>
            </a:avLst>
          </a:prstGeom>
          <a:solidFill>
            <a:srgbClr val="131A24"/>
          </a:solidFill>
          <a:ln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summary-cap"/>
          <p:cNvSpPr/>
          <p:nvPr/>
        </p:nvSpPr>
        <p:spPr>
          <a:xfrm>
            <a:off x="990720" y="5537160"/>
            <a:ext cx="63468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9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结论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summary-text"/>
          <p:cNvSpPr/>
          <p:nvPr/>
        </p:nvSpPr>
        <p:spPr>
          <a:xfrm>
            <a:off x="1650960" y="5537160"/>
            <a:ext cx="957528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50000"/>
              </a:lnSpc>
            </a:pP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3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人覆盖工程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/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策略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/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合规，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8.16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提交后按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8.24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复赛与 </a:t>
            </a:r>
            <a:r>
              <a:rPr lang="en-US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9.22 </a:t>
            </a:r>
            <a:r>
              <a:rPr lang="zh-CN" sz="1100" b="0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决赛推进。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footer-line"/>
          <p:cNvSpPr/>
          <p:nvPr/>
        </p:nvSpPr>
        <p:spPr>
          <a:xfrm>
            <a:off x="812880" y="6502320"/>
            <a:ext cx="10566000" cy="12240"/>
          </a:xfrm>
          <a:custGeom>
            <a:avLst/>
            <a:gdLst>
              <a:gd name="textAreaLeft" fmla="*/ 0 w 10566000"/>
              <a:gd name="textAreaRight" fmla="*/ 10566360 w 10566000"/>
              <a:gd name="textAreaTop" fmla="*/ 0 h 12240"/>
              <a:gd name="textAreaBottom" fmla="*/ 12600 h 12240"/>
            </a:gdLst>
            <a:ahLst/>
            <a:cxnLst/>
            <a:rect l="textAreaLeft" t="textAreaTop" r="textAreaRight" b="textAreaBottom"/>
            <a:pathLst>
              <a:path w="832" h="1">
                <a:moveTo>
                  <a:pt x="0" y="1"/>
                </a:moveTo>
                <a:lnTo>
                  <a:pt x="832" y="1"/>
                </a:lnTo>
              </a:path>
            </a:pathLst>
          </a:custGeom>
          <a:noFill/>
          <a:ln cap="rnd" w="12700">
            <a:solidFill>
              <a:srgbClr val="1F293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2400" rIns="90000" bIns="-324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footer-src"/>
          <p:cNvSpPr/>
          <p:nvPr/>
        </p:nvSpPr>
        <p:spPr>
          <a:xfrm>
            <a:off x="812880" y="6578640"/>
            <a:ext cx="88894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20000"/>
              </a:lnSpc>
            </a:pPr>
            <a:r>
              <a:rPr lang="zh-CN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来源</a:t>
            </a: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: PROJECT_STATE.md §1/§6 · facts.md §10 · 2026-08-12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footer-page"/>
          <p:cNvSpPr/>
          <p:nvPr/>
        </p:nvSpPr>
        <p:spPr>
          <a:xfrm>
            <a:off x="10744200" y="6578640"/>
            <a:ext cx="63468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>
              <a:lnSpc>
                <a:spcPct val="120000"/>
              </a:lnSpc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15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552" dur="indefinite" restart="never" nodeType="tmRoot">
          <p:childTnLst>
            <p:seq>
              <p:cTn id="553" dur="indefinite" nodeType="mainSeq">
                <p:childTnLst>
                  <p:par>
                    <p:cTn id="554" fill="hold">
                      <p:stCondLst>
                        <p:cond delay="0"/>
                      </p:stCondLst>
                      <p:childTnLst>
                        <p:par>
                          <p:cTn id="555" fill="hold">
                            <p:stCondLst>
                              <p:cond delay="0"/>
                            </p:stCondLst>
                            <p:childTnLst>
                              <p:par>
                                <p:cTn id="55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58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61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64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67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8" fill="hold">
                      <p:stCondLst>
                        <p:cond delay="indefinite"/>
                      </p:stCondLst>
                      <p:childTnLst>
                        <p:par>
                          <p:cTn id="569" fill="hold">
                            <p:stCondLst>
                              <p:cond delay="0"/>
                            </p:stCondLst>
                            <p:childTnLst>
                              <p:par>
                                <p:cTn id="570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572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3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575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6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578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9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581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2" fill="hold">
                      <p:stCondLst>
                        <p:cond delay="indefinite"/>
                      </p:stCondLst>
                      <p:childTnLst>
                        <p:par>
                          <p:cTn id="583" fill="hold">
                            <p:stCondLst>
                              <p:cond delay="0"/>
                            </p:stCondLst>
                            <p:childTnLst>
                              <p:par>
                                <p:cTn id="584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586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7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589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0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592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3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595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bracket-tl"/>
          <p:cNvSpPr/>
          <p:nvPr/>
        </p:nvSpPr>
        <p:spPr>
          <a:xfrm>
            <a:off x="558720" y="507960"/>
            <a:ext cx="151920" cy="151920"/>
          </a:xfrm>
          <a:custGeom>
            <a:avLst/>
            <a:gdLst>
              <a:gd name="textAreaLeft" fmla="*/ 0 w 151920"/>
              <a:gd name="textAreaRight" fmla="*/ 152280 w 151920"/>
              <a:gd name="textAreaTop" fmla="*/ 0 h 151920"/>
              <a:gd name="textAreaBottom" fmla="*/ 152280 h 151920"/>
            </a:gdLst>
            <a:ahLst/>
            <a:cxnLst/>
            <a:rect l="textAreaLeft" t="textAreaTop" r="textAreaRight" b="textAreaBottom"/>
            <a:pathLst>
              <a:path w="12" h="12">
                <a:moveTo>
                  <a:pt x="0" y="12"/>
                </a:moveTo>
                <a:lnTo>
                  <a:pt x="0" y="0"/>
                </a:lnTo>
                <a:lnTo>
                  <a:pt x="12" y="0"/>
                </a:lnTo>
              </a:path>
            </a:pathLst>
          </a:custGeom>
          <a:noFill/>
          <a:ln w="254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bracket-br"/>
          <p:cNvSpPr/>
          <p:nvPr/>
        </p:nvSpPr>
        <p:spPr>
          <a:xfrm>
            <a:off x="11226960" y="6299280"/>
            <a:ext cx="151920" cy="151920"/>
          </a:xfrm>
          <a:custGeom>
            <a:avLst/>
            <a:gdLst>
              <a:gd name="textAreaLeft" fmla="*/ 0 w 151920"/>
              <a:gd name="textAreaRight" fmla="*/ 152280 w 151920"/>
              <a:gd name="textAreaTop" fmla="*/ 0 h 151920"/>
              <a:gd name="textAreaBottom" fmla="*/ 152280 h 151920"/>
            </a:gdLst>
            <a:ahLst/>
            <a:cxnLst/>
            <a:rect l="textAreaLeft" t="textAreaTop" r="textAreaRight" b="textAreaBottom"/>
            <a:pathLst>
              <a:path w="12" h="12">
                <a:moveTo>
                  <a:pt x="12" y="0"/>
                </a:moveTo>
                <a:lnTo>
                  <a:pt x="12" y="12"/>
                </a:lnTo>
                <a:lnTo>
                  <a:pt x="0" y="12"/>
                </a:lnTo>
              </a:path>
            </a:pathLst>
          </a:custGeom>
          <a:noFill/>
          <a:ln w="25400">
            <a:solidFill>
              <a:srgbClr val="22D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eyebrow"/>
          <p:cNvSpPr/>
          <p:nvPr/>
        </p:nvSpPr>
        <p:spPr>
          <a:xfrm>
            <a:off x="812880" y="558720"/>
            <a:ext cx="10566000" cy="20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900" b="1" u="none" spc="300" strike="noStrike">
                <a:solidFill>
                  <a:srgbClr val="22D3EE"/>
                </a:solidFill>
                <a:effectLst/>
                <a:uFillTx/>
                <a:latin typeface="Consolas"/>
                <a:ea typeface="Microsoft YaHei"/>
              </a:rPr>
              <a:t>16 · CLOSING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quote-block"/>
          <p:cNvSpPr/>
          <p:nvPr/>
        </p:nvSpPr>
        <p:spPr>
          <a:xfrm>
            <a:off x="812880" y="914400"/>
            <a:ext cx="10566000" cy="81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>
              <a:lnSpc>
                <a:spcPct val="120000"/>
              </a:lnSpc>
            </a:pPr>
            <a:r>
              <a:rPr lang="en-US" sz="2600" b="1" u="none" strike="noStrike">
                <a:solidFill>
                  <a:srgbClr val="22D3EE"/>
                </a:solidFill>
                <a:effectLst/>
                <a:uFillTx/>
                <a:latin typeface="Consolas"/>
                <a:ea typeface="Consolas"/>
              </a:rPr>
              <a:t>NO_TRADE</a:t>
            </a:r>
            <a:r>
              <a:rPr lang="en-US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zh-CN" sz="26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是成功结果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20000"/>
              </a:lnSpc>
              <a:spcBef>
                <a:spcPts val="799"/>
              </a:spcBef>
            </a:pPr>
            <a:r>
              <a:rPr lang="zh-CN" sz="1200" b="1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决策支持，不做执行、不做荐股；不会为了展示下单而调低门槛。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29" name="kpi-table"/>
          <p:cNvGraphicFramePr/>
          <p:nvPr/>
        </p:nvGraphicFramePr>
        <p:xfrm>
          <a:off x="812880" y="2082960"/>
          <a:ext cx="10566000" cy="1134720"/>
        </p:xfrm>
        <a:graphic>
          <a:graphicData uri="http://schemas.openxmlformats.org/drawingml/2006/table">
            <a:tbl>
              <a:tblPr/>
              <a:tblGrid>
                <a:gridCol w="2641320"/>
                <a:gridCol w="2641320"/>
                <a:gridCol w="2641320"/>
                <a:gridCol w="2641320"/>
              </a:tblGrid>
              <a:tr h="191880">
                <a:tc gridSpan="4"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确定性数字 — 可复算 </a:t>
                      </a: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· </a:t>
                      </a:r>
                      <a:r>
                        <a:rPr lang="zh-CN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可溯源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53316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300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7</a:t>
                      </a:r>
                      <a:endParaRPr lang="en-US" sz="3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300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100%</a:t>
                      </a:r>
                      <a:endParaRPr lang="en-US" sz="3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300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0</a:t>
                      </a:r>
                      <a:endParaRPr lang="en-US" sz="3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3000" b="1" u="none" strike="noStrike">
                          <a:solidFill>
                            <a:srgbClr val="22D3EE"/>
                          </a:solidFill>
                          <a:effectLst/>
                          <a:uFillTx/>
                          <a:latin typeface="Consolas"/>
                          <a:ea typeface="Microsoft YaHei"/>
                        </a:rPr>
                        <a:t>90s</a:t>
                      </a:r>
                      <a:endParaRPr lang="en-US" sz="3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34128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Hero </a:t>
                      </a:r>
                      <a:r>
                        <a:rPr lang="zh-CN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审计链 </a:t>
                      </a: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SHA-256 </a:t>
                      </a:r>
                      <a:r>
                        <a:rPr lang="zh-CN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记录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关键数字与事实溯源率（目标）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风控 </a:t>
                      </a: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/ </a:t>
                      </a:r>
                      <a:r>
                        <a:rPr lang="zh-CN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动作泄漏（目标）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首次 </a:t>
                      </a:r>
                      <a:r>
                        <a:rPr lang="en-US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Replay </a:t>
                      </a:r>
                      <a:r>
                        <a:rPr lang="zh-CN" sz="1000" b="0" u="none" strike="noStrike">
                          <a:solidFill>
                            <a:srgbClr val="8B949E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价值时间中位数（目标）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30" name="completion-thanks"/>
          <p:cNvSpPr/>
          <p:nvPr/>
        </p:nvSpPr>
        <p:spPr>
          <a:xfrm>
            <a:off x="812880" y="3327480"/>
            <a:ext cx="10566000" cy="170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ct val="150000"/>
              </a:lnSpc>
            </a:pP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诚实完成度 — 对外只宣传最高已验证切片（当前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P0a Replay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）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50000"/>
              </a:lnSpc>
              <a:spcBef>
                <a:spcPts val="1001"/>
              </a:spcBef>
            </a:pPr>
            <a:r>
              <a:rPr lang="en-US" sz="1000" b="0" u="none" strike="noStrike">
                <a:solidFill>
                  <a:srgbClr val="34D399"/>
                </a:solidFill>
                <a:effectLst/>
                <a:uFillTx/>
                <a:latin typeface="Consolas"/>
                <a:ea typeface="Consolas"/>
              </a:rPr>
              <a:t>P0a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 · Replay Decision —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端到端已跑通（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2026-08-12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）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lang="en-US" sz="1000" b="0" u="none" strike="noStrike">
                <a:solidFill>
                  <a:srgbClr val="F59E0B"/>
                </a:solidFill>
                <a:effectLst/>
                <a:uFillTx/>
                <a:latin typeface="Consolas"/>
                <a:ea typeface="Consolas"/>
              </a:rPr>
              <a:t>P0b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 · Connected Read-only — OpenD health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已验证；完整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Live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决策链路未毕业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Consolas"/>
              </a:rPr>
              <a:t>P0c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 · Connected Simulation —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未毕业，不对外宣称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50000"/>
              </a:lnSpc>
              <a:spcBef>
                <a:spcPts val="1400"/>
              </a:spcBef>
            </a:pPr>
            <a:r>
              <a:rPr lang="zh-CN" sz="14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谢谢评审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50000"/>
              </a:lnSpc>
            </a:pP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GOAI Team · 3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人 — 多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Agent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工程与量化研究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/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港美股期权策略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/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网络安全与合规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· 2026-08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初赛评审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disclaimer-base"/>
          <p:cNvSpPr/>
          <p:nvPr/>
        </p:nvSpPr>
        <p:spPr>
          <a:xfrm>
            <a:off x="812880" y="5130720"/>
            <a:ext cx="10566000" cy="1066320"/>
          </a:xfrm>
          <a:prstGeom prst="roundRect">
            <a:avLst>
              <a:gd name="adj" fmla="val 5000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disclaimer-rail"/>
          <p:cNvSpPr/>
          <p:nvPr/>
        </p:nvSpPr>
        <p:spPr>
          <a:xfrm>
            <a:off x="812880" y="5130720"/>
            <a:ext cx="37800" cy="106632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disclaimer-label"/>
          <p:cNvSpPr/>
          <p:nvPr/>
        </p:nvSpPr>
        <p:spPr>
          <a:xfrm>
            <a:off x="1015920" y="5232240"/>
            <a:ext cx="380952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>
              <a:lnSpc>
                <a:spcPct val="120000"/>
              </a:lnSpc>
            </a:pPr>
            <a:r>
              <a:rPr lang="zh-CN" sz="900" b="1" u="none" spc="300" strike="noStrike">
                <a:solidFill>
                  <a:srgbClr val="F59E0B"/>
                </a:solidFill>
                <a:effectLst/>
                <a:uFillTx/>
                <a:latin typeface="Consolas"/>
                <a:ea typeface="Microsoft YaHei"/>
              </a:rPr>
              <a:t>风险提示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disclaimer-main"/>
          <p:cNvSpPr/>
          <p:nvPr/>
        </p:nvSpPr>
        <p:spPr>
          <a:xfrm>
            <a:off x="1015920" y="5460840"/>
            <a:ext cx="10159560" cy="65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30000"/>
              </a:lnSpc>
            </a:pPr>
            <a:r>
              <a:rPr lang="zh-CN" sz="1200" b="1" u="none" strike="noStrike">
                <a:solidFill>
                  <a:srgbClr val="E6EDF3"/>
                </a:solidFill>
                <a:effectLst/>
                <a:uFillTx/>
                <a:latin typeface="Arial"/>
                <a:ea typeface="Microsoft YaHei"/>
              </a:rPr>
              <a:t>本项目仅用于研究、教育与比赛演示用途，不构成投资建议，亦不构成任何收益承诺。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研究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/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教育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/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比赛演示用途，非投资建议，不构成收益承诺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决策支持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/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研究用途，非投资建议，不构成任何交易要约；比赛版本仅支持 </a:t>
            </a:r>
            <a:r>
              <a:rPr lang="en-US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Futu </a:t>
            </a:r>
            <a:r>
              <a:rPr lang="zh-CN" sz="1000" b="0" u="none" strike="noStrike">
                <a:solidFill>
                  <a:srgbClr val="8B949E"/>
                </a:solidFill>
                <a:effectLst/>
                <a:uFillTx/>
                <a:latin typeface="Arial"/>
                <a:ea typeface="Microsoft YaHei"/>
              </a:rPr>
              <a:t>模拟盘且必须由用户独立确认。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page-number"/>
          <p:cNvSpPr/>
          <p:nvPr/>
        </p:nvSpPr>
        <p:spPr>
          <a:xfrm>
            <a:off x="10744200" y="6527880"/>
            <a:ext cx="634680" cy="1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>
              <a:lnSpc>
                <a:spcPct val="120000"/>
              </a:lnSpc>
            </a:pPr>
            <a:r>
              <a:rPr lang="en-US" sz="900" b="0" u="none" strike="noStrike">
                <a:solidFill>
                  <a:srgbClr val="8B949E"/>
                </a:solidFill>
                <a:effectLst/>
                <a:uFillTx/>
                <a:latin typeface="Consolas"/>
                <a:ea typeface="Microsoft YaHei"/>
              </a:rPr>
              <a:t>16 / 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fade/>
  </p:transition>
  <p:timing>
    <p:tnLst>
      <p:par>
        <p:cTn id="596" dur="indefinite" restart="never" nodeType="tmRoot">
          <p:childTnLst>
            <p:seq>
              <p:cTn id="597" dur="indefinite" nodeType="mainSeq">
                <p:childTnLst>
                  <p:par>
                    <p:cTn id="598" fill="hold">
                      <p:stCondLst>
                        <p:cond delay="0"/>
                      </p:stCondLst>
                      <p:childTnLst>
                        <p:par>
                          <p:cTn id="599" fill="hold">
                            <p:stCondLst>
                              <p:cond delay="0"/>
                            </p:stCondLst>
                            <p:childTnLst>
                              <p:par>
                                <p:cTn id="60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02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05"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6" fill="hold">
                            <p:stCondLst>
                              <p:cond delay="500"/>
                            </p:stCondLst>
                            <p:childTnLst>
                              <p:par>
                                <p:cTn id="607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09"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1" presetID="10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13"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4" fill="hold">
                      <p:stCondLst>
                        <p:cond delay="indefinite"/>
                      </p:stCondLst>
                      <p:childTnLst>
                        <p:par>
                          <p:cTn id="615" fill="hold">
                            <p:stCondLst>
                              <p:cond delay="0"/>
                            </p:stCondLst>
                            <p:childTnLst>
                              <p:par>
                                <p:cTn id="616" presetID="22" presetClass="entr" fill="hold" nodeType="click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618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9" presetID="22" presetClass="entr" fill="hold" nodeType="withEffect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 additive="repl">
                                        <p:cTn id="621"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24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27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 pitchFamily="0" charset="1"/>
        <a:ea typeface="MiSans" pitchFamily="0" charset="1"/>
        <a:cs typeface="MiSans" pitchFamily="0" charset="1"/>
      </a:majorFont>
      <a:minorFont>
        <a:latin typeface="MiSans" pitchFamily="0" charset="1"/>
        <a:ea typeface="MiSans" pitchFamily="0" charset="1"/>
        <a:cs typeface="MiSans" pitchFamily="0" charset="1"/>
      </a:minorFont>
    </a:fontScheme>
    <a:fmtScheme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190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LibreOffice/26.2.4.2$Windows_X86_64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cp:revision>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  <property fmtid="{D5CDD505-2E9C-101B-9397-08002B2CF9AE}" pid="3" name="Slides">
    <vt:r8>16</vt:r8>
  </property>
</Properties>
</file>